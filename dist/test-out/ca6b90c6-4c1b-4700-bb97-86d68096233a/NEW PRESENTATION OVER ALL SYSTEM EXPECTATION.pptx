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9" r:id="rId4"/>
    <p:sldId id="260" r:id="rId5"/>
    <p:sldId id="261" r:id="rId6"/>
    <p:sldId id="294" r:id="rId7"/>
    <p:sldId id="262" r:id="rId8"/>
    <p:sldId id="263" r:id="rId9"/>
    <p:sldId id="264" r:id="rId10"/>
    <p:sldId id="265" r:id="rId11"/>
    <p:sldId id="266" r:id="rId12"/>
    <p:sldId id="267" r:id="rId13"/>
    <p:sldId id="269" r:id="rId14"/>
    <p:sldId id="270" r:id="rId15"/>
    <p:sldId id="296" r:id="rId16"/>
    <p:sldId id="271" r:id="rId17"/>
    <p:sldId id="272" r:id="rId18"/>
    <p:sldId id="273" r:id="rId19"/>
    <p:sldId id="274" r:id="rId20"/>
    <p:sldId id="275" r:id="rId21"/>
    <p:sldId id="276" r:id="rId22"/>
    <p:sldId id="277" r:id="rId23"/>
    <p:sldId id="278" r:id="rId24"/>
    <p:sldId id="282" r:id="rId25"/>
    <p:sldId id="281" r:id="rId26"/>
    <p:sldId id="283" r:id="rId27"/>
    <p:sldId id="284" r:id="rId28"/>
    <p:sldId id="285" r:id="rId29"/>
    <p:sldId id="286" r:id="rId30"/>
    <p:sldId id="287" r:id="rId31"/>
    <p:sldId id="288" r:id="rId32"/>
    <p:sldId id="289" r:id="rId33"/>
    <p:sldId id="290" r:id="rId34"/>
    <p:sldId id="291" r:id="rId35"/>
    <p:sldId id="292" r:id="rId36"/>
    <p:sldId id="293" r:id="rId37"/>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8" d="100"/>
          <a:sy n="78" d="100"/>
        </p:scale>
        <p:origin x="850" y="43"/>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AB91E5F-3C9A-4764-9502-B17CC621AE2C}" type="doc">
      <dgm:prSet loTypeId="urn:microsoft.com/office/officeart/2005/8/layout/vList6" loCatId="list" qsTypeId="urn:microsoft.com/office/officeart/2005/8/quickstyle/3d2" qsCatId="3D" csTypeId="urn:microsoft.com/office/officeart/2005/8/colors/accent1_2" csCatId="accent1" phldr="1"/>
      <dgm:spPr/>
      <dgm:t>
        <a:bodyPr/>
        <a:lstStyle/>
        <a:p>
          <a:endParaRPr lang="en-US"/>
        </a:p>
      </dgm:t>
    </dgm:pt>
    <dgm:pt modelId="{FEB3AF8C-F8CF-431C-A32F-8902D77DE293}" type="pres">
      <dgm:prSet presAssocID="{3AB91E5F-3C9A-4764-9502-B17CC621AE2C}" presName="Name0" presStyleCnt="0">
        <dgm:presLayoutVars>
          <dgm:dir/>
          <dgm:animLvl val="lvl"/>
          <dgm:resizeHandles/>
        </dgm:presLayoutVars>
      </dgm:prSet>
      <dgm:spPr/>
    </dgm:pt>
  </dgm:ptLst>
  <dgm:cxnLst>
    <dgm:cxn modelId="{9481AB38-C9AC-4C24-9CE4-57DAFEC688FE}" type="presOf" srcId="{3AB91E5F-3C9A-4764-9502-B17CC621AE2C}" destId="{FEB3AF8C-F8CF-431C-A32F-8902D77DE293}" srcOrd="0"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96733115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32534471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3/4/2026</a:t>
            </a:fld>
            <a:endParaRPr lang="en-US"/>
          </a:p>
        </p:txBody>
      </p:sp>
      <p:sp>
        <p:nvSpPr>
          <p:cNvPr id="1228574999"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91280026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26100691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5197859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91879989" name="Slide Image Placeholder 1"/>
          <p:cNvSpPr>
            <a:spLocks noGrp="1" noRot="1" noChangeAspect="1"/>
          </p:cNvSpPr>
          <p:nvPr>
            <p:ph type="sldImg"/>
          </p:nvPr>
        </p:nvSpPr>
        <p:spPr bwMode="auto">
          <a:xfrm>
            <a:off x="685800" y="1143000"/>
            <a:ext cx="5486400" cy="3086100"/>
          </a:xfrm>
        </p:spPr>
        <p:txBody>
          <a:bodyPr/>
          <a:lstStyle/>
          <a:p>
            <a:endParaRPr lang="en-US"/>
          </a:p>
        </p:txBody>
      </p:sp>
      <p:sp>
        <p:nvSpPr>
          <p:cNvPr id="415941343" name="Notes Placeholder 2"/>
          <p:cNvSpPr>
            <a:spLocks noGrp="1"/>
          </p:cNvSpPr>
          <p:nvPr>
            <p:ph type="body" idx="1"/>
          </p:nvPr>
        </p:nvSpPr>
        <p:spPr bwMode="auto"/>
        <p:txBody>
          <a:bodyPr/>
          <a:lstStyle/>
          <a:p>
            <a:pPr>
              <a:defRPr/>
            </a:pPr>
            <a:endParaRPr lang="en-US">
              <a:latin typeface="Arial"/>
              <a:cs typeface="Arial"/>
            </a:endParaRPr>
          </a:p>
        </p:txBody>
      </p:sp>
      <p:sp>
        <p:nvSpPr>
          <p:cNvPr id="1676204260"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1129485" name="Slide Image Placeholder 1"/>
          <p:cNvSpPr>
            <a:spLocks noGrp="1" noRot="1" noChangeAspect="1"/>
          </p:cNvSpPr>
          <p:nvPr>
            <p:ph type="sldImg"/>
          </p:nvPr>
        </p:nvSpPr>
        <p:spPr bwMode="auto"/>
        <p:txBody>
          <a:bodyPr/>
          <a:lstStyle/>
          <a:p>
            <a:endParaRPr lang="en-US"/>
          </a:p>
        </p:txBody>
      </p:sp>
      <p:sp>
        <p:nvSpPr>
          <p:cNvPr id="1264250049" name="Notes Placeholder 2"/>
          <p:cNvSpPr>
            <a:spLocks noGrp="1"/>
          </p:cNvSpPr>
          <p:nvPr>
            <p:ph type="body" idx="1"/>
          </p:nvPr>
        </p:nvSpPr>
        <p:spPr bwMode="auto"/>
        <p:txBody>
          <a:bodyPr/>
          <a:lstStyle/>
          <a:p>
            <a:pPr>
              <a:defRPr/>
            </a:pPr>
            <a:endParaRPr/>
          </a:p>
        </p:txBody>
      </p:sp>
      <p:sp>
        <p:nvSpPr>
          <p:cNvPr id="1813999823" name="Slide Number Placeholder 3"/>
          <p:cNvSpPr>
            <a:spLocks noGrp="1"/>
          </p:cNvSpPr>
          <p:nvPr>
            <p:ph type="sldNum" sz="quarter" idx="10"/>
          </p:nvPr>
        </p:nvSpPr>
        <p:spPr bwMode="auto"/>
        <p:txBody>
          <a:bodyPr/>
          <a:lstStyle/>
          <a:p>
            <a:pPr>
              <a:defRPr/>
            </a:pPr>
            <a:fld id="{064CD4FD-E0E2-75C6-948F-8016B59B2921}"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0705314" name="Slide Image Placeholder 1"/>
          <p:cNvSpPr>
            <a:spLocks noGrp="1" noRot="1" noChangeAspect="1"/>
          </p:cNvSpPr>
          <p:nvPr>
            <p:ph type="sldImg"/>
          </p:nvPr>
        </p:nvSpPr>
        <p:spPr bwMode="auto"/>
        <p:txBody>
          <a:bodyPr/>
          <a:lstStyle/>
          <a:p>
            <a:endParaRPr lang="en-US"/>
          </a:p>
        </p:txBody>
      </p:sp>
      <p:sp>
        <p:nvSpPr>
          <p:cNvPr id="466094502" name="Notes Placeholder 2"/>
          <p:cNvSpPr>
            <a:spLocks noGrp="1"/>
          </p:cNvSpPr>
          <p:nvPr>
            <p:ph type="body" idx="1"/>
          </p:nvPr>
        </p:nvSpPr>
        <p:spPr bwMode="auto"/>
        <p:txBody>
          <a:bodyPr/>
          <a:lstStyle/>
          <a:p>
            <a:pPr>
              <a:defRPr/>
            </a:pPr>
            <a:endParaRPr/>
          </a:p>
        </p:txBody>
      </p:sp>
      <p:sp>
        <p:nvSpPr>
          <p:cNvPr id="736531545" name="Slide Number Placeholder 3"/>
          <p:cNvSpPr>
            <a:spLocks noGrp="1"/>
          </p:cNvSpPr>
          <p:nvPr>
            <p:ph type="sldNum" sz="quarter" idx="10"/>
          </p:nvPr>
        </p:nvSpPr>
        <p:spPr bwMode="auto"/>
        <p:txBody>
          <a:bodyPr/>
          <a:lstStyle/>
          <a:p>
            <a:pPr>
              <a:defRPr/>
            </a:pPr>
            <a:fld id="{E413A2DB-8798-6113-9A6D-E8CEBBB18638}"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273249" name="Slide Image Placeholder 1"/>
          <p:cNvSpPr>
            <a:spLocks noGrp="1" noRot="1" noChangeAspect="1"/>
          </p:cNvSpPr>
          <p:nvPr>
            <p:ph type="sldImg"/>
          </p:nvPr>
        </p:nvSpPr>
        <p:spPr bwMode="auto"/>
        <p:txBody>
          <a:bodyPr/>
          <a:lstStyle/>
          <a:p>
            <a:endParaRPr lang="en-US"/>
          </a:p>
        </p:txBody>
      </p:sp>
      <p:sp>
        <p:nvSpPr>
          <p:cNvPr id="302320793" name="Notes Placeholder 2"/>
          <p:cNvSpPr>
            <a:spLocks noGrp="1"/>
          </p:cNvSpPr>
          <p:nvPr>
            <p:ph type="body" idx="1"/>
          </p:nvPr>
        </p:nvSpPr>
        <p:spPr bwMode="auto"/>
        <p:txBody>
          <a:bodyPr/>
          <a:lstStyle/>
          <a:p>
            <a:pPr>
              <a:defRPr/>
            </a:pPr>
            <a:endParaRPr/>
          </a:p>
        </p:txBody>
      </p:sp>
      <p:sp>
        <p:nvSpPr>
          <p:cNvPr id="465692775" name="Slide Number Placeholder 3"/>
          <p:cNvSpPr>
            <a:spLocks noGrp="1"/>
          </p:cNvSpPr>
          <p:nvPr>
            <p:ph type="sldNum" sz="quarter" idx="10"/>
          </p:nvPr>
        </p:nvSpPr>
        <p:spPr bwMode="auto"/>
        <p:txBody>
          <a:bodyPr/>
          <a:lstStyle/>
          <a:p>
            <a:pPr>
              <a:defRPr/>
            </a:pPr>
            <a:fld id="{A42CEED7-A2BB-4EE1-B398-0E5320BA6322}"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51403511" name="Slide Image Placeholder 1"/>
          <p:cNvSpPr>
            <a:spLocks noGrp="1" noRot="1" noChangeAspect="1"/>
          </p:cNvSpPr>
          <p:nvPr>
            <p:ph type="sldImg"/>
          </p:nvPr>
        </p:nvSpPr>
        <p:spPr bwMode="auto"/>
        <p:txBody>
          <a:bodyPr/>
          <a:lstStyle/>
          <a:p>
            <a:endParaRPr lang="en-US"/>
          </a:p>
        </p:txBody>
      </p:sp>
      <p:sp>
        <p:nvSpPr>
          <p:cNvPr id="607953005" name="Notes Placeholder 2"/>
          <p:cNvSpPr>
            <a:spLocks noGrp="1"/>
          </p:cNvSpPr>
          <p:nvPr>
            <p:ph type="body" idx="1"/>
          </p:nvPr>
        </p:nvSpPr>
        <p:spPr bwMode="auto"/>
        <p:txBody>
          <a:bodyPr/>
          <a:lstStyle/>
          <a:p>
            <a:pPr>
              <a:defRPr/>
            </a:pPr>
            <a:endParaRPr/>
          </a:p>
        </p:txBody>
      </p:sp>
      <p:sp>
        <p:nvSpPr>
          <p:cNvPr id="815315270" name="Slide Number Placeholder 3"/>
          <p:cNvSpPr>
            <a:spLocks noGrp="1"/>
          </p:cNvSpPr>
          <p:nvPr>
            <p:ph type="sldNum" sz="quarter" idx="10"/>
          </p:nvPr>
        </p:nvSpPr>
        <p:spPr bwMode="auto"/>
        <p:txBody>
          <a:bodyPr/>
          <a:lstStyle/>
          <a:p>
            <a:pPr>
              <a:defRPr/>
            </a:pPr>
            <a:fld id="{5412BA59-64F1-7A36-B9D5-2AA60E10DEA6}"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55276860" name="Slide Image Placeholder 1"/>
          <p:cNvSpPr>
            <a:spLocks noGrp="1" noRot="1" noChangeAspect="1"/>
          </p:cNvSpPr>
          <p:nvPr>
            <p:ph type="sldImg"/>
          </p:nvPr>
        </p:nvSpPr>
        <p:spPr bwMode="auto"/>
        <p:txBody>
          <a:bodyPr/>
          <a:lstStyle/>
          <a:p>
            <a:endParaRPr lang="en-US"/>
          </a:p>
        </p:txBody>
      </p:sp>
      <p:sp>
        <p:nvSpPr>
          <p:cNvPr id="1676770928" name="Notes Placeholder 2"/>
          <p:cNvSpPr>
            <a:spLocks noGrp="1"/>
          </p:cNvSpPr>
          <p:nvPr>
            <p:ph type="body" idx="1"/>
          </p:nvPr>
        </p:nvSpPr>
        <p:spPr bwMode="auto"/>
        <p:txBody>
          <a:bodyPr/>
          <a:lstStyle/>
          <a:p>
            <a:pPr>
              <a:defRPr/>
            </a:pPr>
            <a:endParaRPr/>
          </a:p>
        </p:txBody>
      </p:sp>
      <p:sp>
        <p:nvSpPr>
          <p:cNvPr id="1790193510" name="Slide Number Placeholder 3"/>
          <p:cNvSpPr>
            <a:spLocks noGrp="1"/>
          </p:cNvSpPr>
          <p:nvPr>
            <p:ph type="sldNum" sz="quarter" idx="10"/>
          </p:nvPr>
        </p:nvSpPr>
        <p:spPr bwMode="auto"/>
        <p:txBody>
          <a:bodyPr/>
          <a:lstStyle/>
          <a:p>
            <a:pPr>
              <a:defRPr/>
            </a:pPr>
            <a:fld id="{5EAA1CBD-F278-C0FB-3D08-CAD3E88ABC9C}" type="slidenum">
              <a:rPr/>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52029503" name="Slide Image Placeholder 1"/>
          <p:cNvSpPr>
            <a:spLocks noGrp="1" noRot="1" noChangeAspect="1"/>
          </p:cNvSpPr>
          <p:nvPr>
            <p:ph type="sldImg"/>
          </p:nvPr>
        </p:nvSpPr>
        <p:spPr bwMode="auto"/>
        <p:txBody>
          <a:bodyPr/>
          <a:lstStyle/>
          <a:p>
            <a:endParaRPr lang="en-US"/>
          </a:p>
        </p:txBody>
      </p:sp>
      <p:sp>
        <p:nvSpPr>
          <p:cNvPr id="124909751" name="Notes Placeholder 2"/>
          <p:cNvSpPr>
            <a:spLocks noGrp="1"/>
          </p:cNvSpPr>
          <p:nvPr>
            <p:ph type="body" idx="1"/>
          </p:nvPr>
        </p:nvSpPr>
        <p:spPr bwMode="auto"/>
        <p:txBody>
          <a:bodyPr/>
          <a:lstStyle/>
          <a:p>
            <a:pPr>
              <a:defRPr/>
            </a:pPr>
            <a:endParaRPr/>
          </a:p>
        </p:txBody>
      </p:sp>
      <p:sp>
        <p:nvSpPr>
          <p:cNvPr id="1930255281" name="Slide Number Placeholder 3"/>
          <p:cNvSpPr>
            <a:spLocks noGrp="1"/>
          </p:cNvSpPr>
          <p:nvPr>
            <p:ph type="sldNum" sz="quarter" idx="10"/>
          </p:nvPr>
        </p:nvSpPr>
        <p:spPr bwMode="auto"/>
        <p:txBody>
          <a:bodyPr/>
          <a:lstStyle/>
          <a:p>
            <a:pPr>
              <a:defRPr/>
            </a:pPr>
            <a:fld id="{22D5BEDC-59FC-C3C4-A1CA-8D8DC7B2C111}" type="slidenum">
              <a:rPr/>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14070530" name="Slide Image Placeholder 1"/>
          <p:cNvSpPr>
            <a:spLocks noGrp="1" noRot="1" noChangeAspect="1"/>
          </p:cNvSpPr>
          <p:nvPr>
            <p:ph type="sldImg"/>
          </p:nvPr>
        </p:nvSpPr>
        <p:spPr bwMode="auto"/>
        <p:txBody>
          <a:bodyPr/>
          <a:lstStyle/>
          <a:p>
            <a:endParaRPr lang="en-US"/>
          </a:p>
        </p:txBody>
      </p:sp>
      <p:sp>
        <p:nvSpPr>
          <p:cNvPr id="67695459" name="Notes Placeholder 2"/>
          <p:cNvSpPr>
            <a:spLocks noGrp="1"/>
          </p:cNvSpPr>
          <p:nvPr>
            <p:ph type="body" idx="1"/>
          </p:nvPr>
        </p:nvSpPr>
        <p:spPr bwMode="auto"/>
        <p:txBody>
          <a:bodyPr/>
          <a:lstStyle/>
          <a:p>
            <a:pPr>
              <a:defRPr/>
            </a:pPr>
            <a:endParaRPr/>
          </a:p>
        </p:txBody>
      </p:sp>
      <p:sp>
        <p:nvSpPr>
          <p:cNvPr id="1845743739" name="Slide Number Placeholder 3"/>
          <p:cNvSpPr>
            <a:spLocks noGrp="1"/>
          </p:cNvSpPr>
          <p:nvPr>
            <p:ph type="sldNum" sz="quarter" idx="10"/>
          </p:nvPr>
        </p:nvSpPr>
        <p:spPr bwMode="auto"/>
        <p:txBody>
          <a:bodyPr/>
          <a:lstStyle/>
          <a:p>
            <a:pPr>
              <a:defRPr/>
            </a:pPr>
            <a:fld id="{3442F33E-3BAD-FE40-700C-239B30EBC92E}" type="slidenum">
              <a:rPr/>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77007571" name="Slide Image Placeholder 1"/>
          <p:cNvSpPr>
            <a:spLocks noGrp="1" noRot="1" noChangeAspect="1"/>
          </p:cNvSpPr>
          <p:nvPr>
            <p:ph type="sldImg"/>
          </p:nvPr>
        </p:nvSpPr>
        <p:spPr bwMode="auto"/>
        <p:txBody>
          <a:bodyPr/>
          <a:lstStyle/>
          <a:p>
            <a:endParaRPr lang="en-US"/>
          </a:p>
        </p:txBody>
      </p:sp>
      <p:sp>
        <p:nvSpPr>
          <p:cNvPr id="1275978454" name="Notes Placeholder 2"/>
          <p:cNvSpPr>
            <a:spLocks noGrp="1"/>
          </p:cNvSpPr>
          <p:nvPr>
            <p:ph type="body" idx="1"/>
          </p:nvPr>
        </p:nvSpPr>
        <p:spPr bwMode="auto"/>
        <p:txBody>
          <a:bodyPr/>
          <a:lstStyle/>
          <a:p>
            <a:pPr>
              <a:defRPr/>
            </a:pPr>
            <a:endParaRPr/>
          </a:p>
        </p:txBody>
      </p:sp>
      <p:sp>
        <p:nvSpPr>
          <p:cNvPr id="1714912312" name="Slide Number Placeholder 3"/>
          <p:cNvSpPr>
            <a:spLocks noGrp="1"/>
          </p:cNvSpPr>
          <p:nvPr>
            <p:ph type="sldNum" sz="quarter" idx="10"/>
          </p:nvPr>
        </p:nvSpPr>
        <p:spPr bwMode="auto"/>
        <p:txBody>
          <a:bodyPr/>
          <a:lstStyle/>
          <a:p>
            <a:pPr>
              <a:defRPr/>
            </a:pPr>
            <a:fld id="{8728D9ED-90A2-D84E-B945-0F2A83E6E764}" type="slidenum">
              <a:rPr/>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43549121" name="Slide Image Placeholder 1"/>
          <p:cNvSpPr>
            <a:spLocks noGrp="1" noRot="1" noChangeAspect="1"/>
          </p:cNvSpPr>
          <p:nvPr>
            <p:ph type="sldImg"/>
          </p:nvPr>
        </p:nvSpPr>
        <p:spPr bwMode="auto"/>
        <p:txBody>
          <a:bodyPr/>
          <a:lstStyle/>
          <a:p>
            <a:endParaRPr lang="en-US"/>
          </a:p>
        </p:txBody>
      </p:sp>
      <p:sp>
        <p:nvSpPr>
          <p:cNvPr id="1426242539" name="Notes Placeholder 2"/>
          <p:cNvSpPr>
            <a:spLocks noGrp="1"/>
          </p:cNvSpPr>
          <p:nvPr>
            <p:ph type="body" idx="1"/>
          </p:nvPr>
        </p:nvSpPr>
        <p:spPr bwMode="auto"/>
        <p:txBody>
          <a:bodyPr/>
          <a:lstStyle/>
          <a:p>
            <a:pPr>
              <a:defRPr/>
            </a:pPr>
            <a:endParaRPr/>
          </a:p>
        </p:txBody>
      </p:sp>
      <p:sp>
        <p:nvSpPr>
          <p:cNvPr id="424117009" name="Slide Number Placeholder 3"/>
          <p:cNvSpPr>
            <a:spLocks noGrp="1"/>
          </p:cNvSpPr>
          <p:nvPr>
            <p:ph type="sldNum" sz="quarter" idx="10"/>
          </p:nvPr>
        </p:nvSpPr>
        <p:spPr bwMode="auto"/>
        <p:txBody>
          <a:bodyPr/>
          <a:lstStyle/>
          <a:p>
            <a:pPr>
              <a:defRPr/>
            </a:pPr>
            <a:fld id="{E27D806C-C491-E479-0888-838347F176A1}" type="slidenum">
              <a:rPr/>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81390542" name="Slide Image Placeholder 1"/>
          <p:cNvSpPr>
            <a:spLocks noGrp="1" noRot="1" noChangeAspect="1"/>
          </p:cNvSpPr>
          <p:nvPr>
            <p:ph type="sldImg"/>
          </p:nvPr>
        </p:nvSpPr>
        <p:spPr bwMode="auto"/>
        <p:txBody>
          <a:bodyPr/>
          <a:lstStyle/>
          <a:p>
            <a:endParaRPr lang="en-US"/>
          </a:p>
        </p:txBody>
      </p:sp>
      <p:sp>
        <p:nvSpPr>
          <p:cNvPr id="2113320895" name="Notes Placeholder 2"/>
          <p:cNvSpPr>
            <a:spLocks noGrp="1"/>
          </p:cNvSpPr>
          <p:nvPr>
            <p:ph type="body" idx="1"/>
          </p:nvPr>
        </p:nvSpPr>
        <p:spPr bwMode="auto"/>
        <p:txBody>
          <a:bodyPr/>
          <a:lstStyle/>
          <a:p>
            <a:pPr>
              <a:defRPr/>
            </a:pPr>
            <a:endParaRPr/>
          </a:p>
        </p:txBody>
      </p:sp>
      <p:sp>
        <p:nvSpPr>
          <p:cNvPr id="1003360904" name="Slide Number Placeholder 3"/>
          <p:cNvSpPr>
            <a:spLocks noGrp="1"/>
          </p:cNvSpPr>
          <p:nvPr>
            <p:ph type="sldNum" sz="quarter" idx="10"/>
          </p:nvPr>
        </p:nvSpPr>
        <p:spPr bwMode="auto"/>
        <p:txBody>
          <a:bodyPr/>
          <a:lstStyle/>
          <a:p>
            <a:pPr>
              <a:defRPr/>
            </a:pPr>
            <a:fld id="{5726B366-45EB-D957-93CB-23529BC8A237}" type="slidenum">
              <a:rPr/>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68221841" name="Slide Image Placeholder 1"/>
          <p:cNvSpPr>
            <a:spLocks noGrp="1" noRot="1" noChangeAspect="1"/>
          </p:cNvSpPr>
          <p:nvPr>
            <p:ph type="sldImg"/>
          </p:nvPr>
        </p:nvSpPr>
        <p:spPr bwMode="auto"/>
        <p:txBody>
          <a:bodyPr/>
          <a:lstStyle/>
          <a:p>
            <a:endParaRPr lang="en-US"/>
          </a:p>
        </p:txBody>
      </p:sp>
      <p:sp>
        <p:nvSpPr>
          <p:cNvPr id="1978537788" name="Notes Placeholder 2"/>
          <p:cNvSpPr>
            <a:spLocks noGrp="1"/>
          </p:cNvSpPr>
          <p:nvPr>
            <p:ph type="body" idx="1"/>
          </p:nvPr>
        </p:nvSpPr>
        <p:spPr bwMode="auto"/>
        <p:txBody>
          <a:bodyPr/>
          <a:lstStyle/>
          <a:p>
            <a:pPr>
              <a:defRPr/>
            </a:pPr>
            <a:endParaRPr/>
          </a:p>
        </p:txBody>
      </p:sp>
      <p:sp>
        <p:nvSpPr>
          <p:cNvPr id="978392763" name="Slide Number Placeholder 3"/>
          <p:cNvSpPr>
            <a:spLocks noGrp="1"/>
          </p:cNvSpPr>
          <p:nvPr>
            <p:ph type="sldNum" sz="quarter" idx="10"/>
          </p:nvPr>
        </p:nvSpPr>
        <p:spPr bwMode="auto"/>
        <p:txBody>
          <a:bodyPr/>
          <a:lstStyle/>
          <a:p>
            <a:pPr>
              <a:defRPr/>
            </a:pPr>
            <a:fld id="{BAB90AAE-B2A7-4967-5083-1CE4BB8828D3}" type="slidenum">
              <a:rPr/>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8995101" name="Slide Image Placeholder 1"/>
          <p:cNvSpPr>
            <a:spLocks noGrp="1" noRot="1" noChangeAspect="1"/>
          </p:cNvSpPr>
          <p:nvPr>
            <p:ph type="sldImg"/>
          </p:nvPr>
        </p:nvSpPr>
        <p:spPr bwMode="auto"/>
        <p:txBody>
          <a:bodyPr/>
          <a:lstStyle/>
          <a:p>
            <a:endParaRPr lang="en-US"/>
          </a:p>
        </p:txBody>
      </p:sp>
      <p:sp>
        <p:nvSpPr>
          <p:cNvPr id="1314694490" name="Notes Placeholder 2"/>
          <p:cNvSpPr>
            <a:spLocks noGrp="1"/>
          </p:cNvSpPr>
          <p:nvPr>
            <p:ph type="body" idx="1"/>
          </p:nvPr>
        </p:nvSpPr>
        <p:spPr bwMode="auto"/>
        <p:txBody>
          <a:bodyPr/>
          <a:lstStyle/>
          <a:p>
            <a:pPr>
              <a:defRPr/>
            </a:pPr>
            <a:endParaRPr/>
          </a:p>
        </p:txBody>
      </p:sp>
      <p:sp>
        <p:nvSpPr>
          <p:cNvPr id="1335747769" name="Slide Number Placeholder 3"/>
          <p:cNvSpPr>
            <a:spLocks noGrp="1"/>
          </p:cNvSpPr>
          <p:nvPr>
            <p:ph type="sldNum" sz="quarter" idx="10"/>
          </p:nvPr>
        </p:nvSpPr>
        <p:spPr bwMode="auto"/>
        <p:txBody>
          <a:bodyPr/>
          <a:lstStyle/>
          <a:p>
            <a:pPr>
              <a:defRPr/>
            </a:pPr>
            <a:fld id="{D4F31E4F-9DB1-7E43-AC44-006A318365A3}" type="slidenum">
              <a:rPr/>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69698522" name="Slide Image Placeholder 1"/>
          <p:cNvSpPr>
            <a:spLocks noGrp="1" noRot="1" noChangeAspect="1"/>
          </p:cNvSpPr>
          <p:nvPr>
            <p:ph type="sldImg"/>
          </p:nvPr>
        </p:nvSpPr>
        <p:spPr bwMode="auto"/>
        <p:txBody>
          <a:bodyPr/>
          <a:lstStyle/>
          <a:p>
            <a:endParaRPr lang="en-US"/>
          </a:p>
        </p:txBody>
      </p:sp>
      <p:sp>
        <p:nvSpPr>
          <p:cNvPr id="1959805132" name="Notes Placeholder 2"/>
          <p:cNvSpPr>
            <a:spLocks noGrp="1"/>
          </p:cNvSpPr>
          <p:nvPr>
            <p:ph type="body" idx="1"/>
          </p:nvPr>
        </p:nvSpPr>
        <p:spPr bwMode="auto"/>
        <p:txBody>
          <a:bodyPr/>
          <a:lstStyle/>
          <a:p>
            <a:pPr>
              <a:defRPr/>
            </a:pPr>
            <a:endParaRPr/>
          </a:p>
        </p:txBody>
      </p:sp>
      <p:sp>
        <p:nvSpPr>
          <p:cNvPr id="542494537" name="Slide Number Placeholder 3"/>
          <p:cNvSpPr>
            <a:spLocks noGrp="1"/>
          </p:cNvSpPr>
          <p:nvPr>
            <p:ph type="sldNum" sz="quarter" idx="10"/>
          </p:nvPr>
        </p:nvSpPr>
        <p:spPr bwMode="auto"/>
        <p:txBody>
          <a:bodyPr/>
          <a:lstStyle/>
          <a:p>
            <a:pPr>
              <a:defRPr/>
            </a:pPr>
            <a:fld id="{173596A4-1F88-5429-70FB-BA0C078E25DB}" type="slidenum">
              <a:rPr/>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62754041" name="Slide Image Placeholder 1"/>
          <p:cNvSpPr>
            <a:spLocks noGrp="1" noRot="1" noChangeAspect="1"/>
          </p:cNvSpPr>
          <p:nvPr>
            <p:ph type="sldImg"/>
          </p:nvPr>
        </p:nvSpPr>
        <p:spPr bwMode="auto"/>
        <p:txBody>
          <a:bodyPr/>
          <a:lstStyle/>
          <a:p>
            <a:endParaRPr lang="en-US"/>
          </a:p>
        </p:txBody>
      </p:sp>
      <p:sp>
        <p:nvSpPr>
          <p:cNvPr id="1201913073" name="Notes Placeholder 2"/>
          <p:cNvSpPr>
            <a:spLocks noGrp="1"/>
          </p:cNvSpPr>
          <p:nvPr>
            <p:ph type="body" idx="1"/>
          </p:nvPr>
        </p:nvSpPr>
        <p:spPr bwMode="auto"/>
        <p:txBody>
          <a:bodyPr/>
          <a:lstStyle/>
          <a:p>
            <a:pPr>
              <a:defRPr/>
            </a:pPr>
            <a:endParaRPr/>
          </a:p>
        </p:txBody>
      </p:sp>
      <p:sp>
        <p:nvSpPr>
          <p:cNvPr id="1447197320" name="Slide Number Placeholder 3"/>
          <p:cNvSpPr>
            <a:spLocks noGrp="1"/>
          </p:cNvSpPr>
          <p:nvPr>
            <p:ph type="sldNum" sz="quarter" idx="10"/>
          </p:nvPr>
        </p:nvSpPr>
        <p:spPr bwMode="auto"/>
        <p:txBody>
          <a:bodyPr/>
          <a:lstStyle/>
          <a:p>
            <a:pPr>
              <a:defRPr/>
            </a:pPr>
            <a:fld id="{D96213AF-3529-A362-AA26-546BEA9A6EE2}" type="slidenum">
              <a:rPr/>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94410350" name="Slide Image Placeholder 1"/>
          <p:cNvSpPr>
            <a:spLocks noGrp="1" noRot="1" noChangeAspect="1"/>
          </p:cNvSpPr>
          <p:nvPr>
            <p:ph type="sldImg"/>
          </p:nvPr>
        </p:nvSpPr>
        <p:spPr bwMode="auto"/>
        <p:txBody>
          <a:bodyPr/>
          <a:lstStyle/>
          <a:p>
            <a:endParaRPr lang="en-US"/>
          </a:p>
        </p:txBody>
      </p:sp>
      <p:sp>
        <p:nvSpPr>
          <p:cNvPr id="220049090" name="Notes Placeholder 2"/>
          <p:cNvSpPr>
            <a:spLocks noGrp="1"/>
          </p:cNvSpPr>
          <p:nvPr>
            <p:ph type="body" idx="1"/>
          </p:nvPr>
        </p:nvSpPr>
        <p:spPr bwMode="auto"/>
        <p:txBody>
          <a:bodyPr/>
          <a:lstStyle/>
          <a:p>
            <a:pPr>
              <a:defRPr/>
            </a:pPr>
            <a:endParaRPr/>
          </a:p>
        </p:txBody>
      </p:sp>
      <p:sp>
        <p:nvSpPr>
          <p:cNvPr id="2147439363" name="Slide Number Placeholder 3"/>
          <p:cNvSpPr>
            <a:spLocks noGrp="1"/>
          </p:cNvSpPr>
          <p:nvPr>
            <p:ph type="sldNum" sz="quarter" idx="10"/>
          </p:nvPr>
        </p:nvSpPr>
        <p:spPr bwMode="auto"/>
        <p:txBody>
          <a:bodyPr/>
          <a:lstStyle/>
          <a:p>
            <a:pPr>
              <a:defRPr/>
            </a:pPr>
            <a:fld id="{3B357675-2DC4-40AF-8549-737C10B35689}" type="slidenum">
              <a:rPr/>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6048813" name="Slide Image Placeholder 1"/>
          <p:cNvSpPr>
            <a:spLocks noGrp="1" noRot="1" noChangeAspect="1"/>
          </p:cNvSpPr>
          <p:nvPr>
            <p:ph type="sldImg"/>
          </p:nvPr>
        </p:nvSpPr>
        <p:spPr bwMode="auto"/>
        <p:txBody>
          <a:bodyPr/>
          <a:lstStyle/>
          <a:p>
            <a:endParaRPr lang="en-US"/>
          </a:p>
        </p:txBody>
      </p:sp>
      <p:sp>
        <p:nvSpPr>
          <p:cNvPr id="1944129479" name="Notes Placeholder 2"/>
          <p:cNvSpPr>
            <a:spLocks noGrp="1"/>
          </p:cNvSpPr>
          <p:nvPr>
            <p:ph type="body" idx="1"/>
          </p:nvPr>
        </p:nvSpPr>
        <p:spPr bwMode="auto"/>
        <p:txBody>
          <a:bodyPr/>
          <a:lstStyle/>
          <a:p>
            <a:pPr>
              <a:defRPr/>
            </a:pPr>
            <a:endParaRPr/>
          </a:p>
        </p:txBody>
      </p:sp>
      <p:sp>
        <p:nvSpPr>
          <p:cNvPr id="761323014" name="Slide Number Placeholder 3"/>
          <p:cNvSpPr>
            <a:spLocks noGrp="1"/>
          </p:cNvSpPr>
          <p:nvPr>
            <p:ph type="sldNum" sz="quarter" idx="10"/>
          </p:nvPr>
        </p:nvSpPr>
        <p:spPr bwMode="auto"/>
        <p:txBody>
          <a:bodyPr/>
          <a:lstStyle/>
          <a:p>
            <a:pPr>
              <a:defRPr/>
            </a:pPr>
            <a:fld id="{264C4762-9102-A13B-59CA-417B57AC1309}" type="slidenum">
              <a:rPr/>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42289336" name="Slide Image Placeholder 1"/>
          <p:cNvSpPr>
            <a:spLocks noGrp="1" noRot="1" noChangeAspect="1"/>
          </p:cNvSpPr>
          <p:nvPr>
            <p:ph type="sldImg"/>
          </p:nvPr>
        </p:nvSpPr>
        <p:spPr bwMode="auto"/>
        <p:txBody>
          <a:bodyPr/>
          <a:lstStyle/>
          <a:p>
            <a:endParaRPr lang="en-US"/>
          </a:p>
        </p:txBody>
      </p:sp>
      <p:sp>
        <p:nvSpPr>
          <p:cNvPr id="1116784326" name="Notes Placeholder 2"/>
          <p:cNvSpPr>
            <a:spLocks noGrp="1"/>
          </p:cNvSpPr>
          <p:nvPr>
            <p:ph type="body" idx="1"/>
          </p:nvPr>
        </p:nvSpPr>
        <p:spPr bwMode="auto"/>
        <p:txBody>
          <a:bodyPr/>
          <a:lstStyle/>
          <a:p>
            <a:pPr>
              <a:defRPr/>
            </a:pPr>
            <a:endParaRPr/>
          </a:p>
        </p:txBody>
      </p:sp>
      <p:sp>
        <p:nvSpPr>
          <p:cNvPr id="1156111083" name="Slide Number Placeholder 3"/>
          <p:cNvSpPr>
            <a:spLocks noGrp="1"/>
          </p:cNvSpPr>
          <p:nvPr>
            <p:ph type="sldNum" sz="quarter" idx="10"/>
          </p:nvPr>
        </p:nvSpPr>
        <p:spPr bwMode="auto"/>
        <p:txBody>
          <a:bodyPr/>
          <a:lstStyle/>
          <a:p>
            <a:pPr>
              <a:defRPr/>
            </a:pPr>
            <a:fld id="{3D447594-8FAC-0122-B435-51CD36D929AB}" type="slidenum">
              <a:rPr/>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92049338" name="Slide Image Placeholder 1"/>
          <p:cNvSpPr>
            <a:spLocks noGrp="1" noRot="1" noChangeAspect="1"/>
          </p:cNvSpPr>
          <p:nvPr>
            <p:ph type="sldImg"/>
          </p:nvPr>
        </p:nvSpPr>
        <p:spPr bwMode="auto"/>
        <p:txBody>
          <a:bodyPr/>
          <a:lstStyle/>
          <a:p>
            <a:endParaRPr lang="en-US"/>
          </a:p>
        </p:txBody>
      </p:sp>
      <p:sp>
        <p:nvSpPr>
          <p:cNvPr id="587576171" name="Notes Placeholder 2"/>
          <p:cNvSpPr>
            <a:spLocks noGrp="1"/>
          </p:cNvSpPr>
          <p:nvPr>
            <p:ph type="body" idx="1"/>
          </p:nvPr>
        </p:nvSpPr>
        <p:spPr bwMode="auto"/>
        <p:txBody>
          <a:bodyPr/>
          <a:lstStyle/>
          <a:p>
            <a:pPr>
              <a:defRPr/>
            </a:pPr>
            <a:endParaRPr/>
          </a:p>
        </p:txBody>
      </p:sp>
      <p:sp>
        <p:nvSpPr>
          <p:cNvPr id="333499516" name="Slide Number Placeholder 3"/>
          <p:cNvSpPr>
            <a:spLocks noGrp="1"/>
          </p:cNvSpPr>
          <p:nvPr>
            <p:ph type="sldNum" sz="quarter" idx="10"/>
          </p:nvPr>
        </p:nvSpPr>
        <p:spPr bwMode="auto"/>
        <p:txBody>
          <a:bodyPr/>
          <a:lstStyle/>
          <a:p>
            <a:pPr>
              <a:defRPr/>
            </a:pPr>
            <a:fld id="{BFBD74F0-5557-3822-14B1-3BB9F8CD21AE}" type="slidenum">
              <a:rPr/>
              <a:t>21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482074321" name="Slide Image Placeholder 1"/>
          <p:cNvSpPr>
            <a:spLocks noGrp="1" noRot="1" noChangeAspect="1"/>
          </p:cNvSpPr>
          <p:nvPr>
            <p:ph type="sldImg"/>
          </p:nvPr>
        </p:nvSpPr>
        <p:spPr bwMode="auto"/>
        <p:txBody>
          <a:bodyPr/>
          <a:lstStyle/>
          <a:p>
            <a:endParaRPr lang="en-US"/>
          </a:p>
        </p:txBody>
      </p:sp>
      <p:sp>
        <p:nvSpPr>
          <p:cNvPr id="1799754170" name="Notes Placeholder 2"/>
          <p:cNvSpPr>
            <a:spLocks noGrp="1"/>
          </p:cNvSpPr>
          <p:nvPr>
            <p:ph type="body" idx="1"/>
          </p:nvPr>
        </p:nvSpPr>
        <p:spPr bwMode="auto"/>
        <p:txBody>
          <a:bodyPr/>
          <a:lstStyle/>
          <a:p>
            <a:pPr>
              <a:defRPr/>
            </a:pPr>
            <a:endParaRPr/>
          </a:p>
        </p:txBody>
      </p:sp>
      <p:sp>
        <p:nvSpPr>
          <p:cNvPr id="1299082667" name="Slide Number Placeholder 3"/>
          <p:cNvSpPr>
            <a:spLocks noGrp="1"/>
          </p:cNvSpPr>
          <p:nvPr>
            <p:ph type="sldNum" sz="quarter" idx="10"/>
          </p:nvPr>
        </p:nvSpPr>
        <p:spPr bwMode="auto"/>
        <p:txBody>
          <a:bodyPr/>
          <a:lstStyle/>
          <a:p>
            <a:pPr>
              <a:defRPr/>
            </a:pPr>
            <a:fld id="{8105C288-BF2A-5213-931F-22A182B86209}" type="slidenum">
              <a:rPr/>
              <a:t>22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97300664" name="Slide Image Placeholder 1"/>
          <p:cNvSpPr>
            <a:spLocks noGrp="1" noRot="1" noChangeAspect="1"/>
          </p:cNvSpPr>
          <p:nvPr>
            <p:ph type="sldImg"/>
          </p:nvPr>
        </p:nvSpPr>
        <p:spPr bwMode="auto"/>
        <p:txBody>
          <a:bodyPr/>
          <a:lstStyle/>
          <a:p>
            <a:endParaRPr lang="en-US"/>
          </a:p>
        </p:txBody>
      </p:sp>
      <p:sp>
        <p:nvSpPr>
          <p:cNvPr id="1757133960" name="Notes Placeholder 2"/>
          <p:cNvSpPr>
            <a:spLocks noGrp="1"/>
          </p:cNvSpPr>
          <p:nvPr>
            <p:ph type="body" idx="1"/>
          </p:nvPr>
        </p:nvSpPr>
        <p:spPr bwMode="auto"/>
        <p:txBody>
          <a:bodyPr/>
          <a:lstStyle/>
          <a:p>
            <a:pPr>
              <a:defRPr/>
            </a:pPr>
            <a:endParaRPr/>
          </a:p>
        </p:txBody>
      </p:sp>
      <p:sp>
        <p:nvSpPr>
          <p:cNvPr id="1991719684" name="Slide Number Placeholder 3"/>
          <p:cNvSpPr>
            <a:spLocks noGrp="1"/>
          </p:cNvSpPr>
          <p:nvPr>
            <p:ph type="sldNum" sz="quarter" idx="10"/>
          </p:nvPr>
        </p:nvSpPr>
        <p:spPr bwMode="auto"/>
        <p:txBody>
          <a:bodyPr/>
          <a:lstStyle/>
          <a:p>
            <a:pPr>
              <a:defRPr/>
            </a:pPr>
            <a:fld id="{2C55C93C-8FCA-E6C4-1C29-BC1FE19C664A}" type="slidenum">
              <a:rPr/>
              <a:t>23</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4672809" name="Slide Image Placeholder 1"/>
          <p:cNvSpPr>
            <a:spLocks noGrp="1" noRot="1" noChangeAspect="1"/>
          </p:cNvSpPr>
          <p:nvPr>
            <p:ph type="sldImg"/>
          </p:nvPr>
        </p:nvSpPr>
        <p:spPr bwMode="auto"/>
        <p:txBody>
          <a:bodyPr/>
          <a:lstStyle/>
          <a:p>
            <a:endParaRPr lang="en-US"/>
          </a:p>
        </p:txBody>
      </p:sp>
      <p:sp>
        <p:nvSpPr>
          <p:cNvPr id="1565766627" name="Notes Placeholder 2"/>
          <p:cNvSpPr>
            <a:spLocks noGrp="1"/>
          </p:cNvSpPr>
          <p:nvPr>
            <p:ph type="body" idx="1"/>
          </p:nvPr>
        </p:nvSpPr>
        <p:spPr bwMode="auto"/>
        <p:txBody>
          <a:bodyPr/>
          <a:lstStyle/>
          <a:p>
            <a:pPr>
              <a:defRPr/>
            </a:pPr>
            <a:endParaRPr/>
          </a:p>
        </p:txBody>
      </p:sp>
      <p:sp>
        <p:nvSpPr>
          <p:cNvPr id="1878906721" name="Slide Number Placeholder 3"/>
          <p:cNvSpPr>
            <a:spLocks noGrp="1"/>
          </p:cNvSpPr>
          <p:nvPr>
            <p:ph type="sldNum" sz="quarter" idx="10"/>
          </p:nvPr>
        </p:nvSpPr>
        <p:spPr bwMode="auto"/>
        <p:txBody>
          <a:bodyPr/>
          <a:lstStyle/>
          <a:p>
            <a:pPr>
              <a:defRPr/>
            </a:pPr>
            <a:fld id="{D51F5F6B-869F-5ED2-089D-14783BE89615}" type="slidenum">
              <a:rPr/>
              <a:t>24</a:t>
            </a:fld>
            <a:endParaRPr/>
          </a:p>
        </p:txBody>
      </p:sp>
    </p:spTree>
    <p:extLst>
      <p:ext uri="{BB962C8B-B14F-4D97-AF65-F5344CB8AC3E}">
        <p14:creationId xmlns:p14="http://schemas.microsoft.com/office/powerpoint/2010/main" val="4218421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78347802" name="Slide Image Placeholder 1"/>
          <p:cNvSpPr>
            <a:spLocks noGrp="1" noRot="1" noChangeAspect="1"/>
          </p:cNvSpPr>
          <p:nvPr>
            <p:ph type="sldImg"/>
          </p:nvPr>
        </p:nvSpPr>
        <p:spPr bwMode="auto"/>
        <p:txBody>
          <a:bodyPr/>
          <a:lstStyle/>
          <a:p>
            <a:endParaRPr lang="en-US"/>
          </a:p>
        </p:txBody>
      </p:sp>
      <p:sp>
        <p:nvSpPr>
          <p:cNvPr id="285227798" name="Notes Placeholder 2"/>
          <p:cNvSpPr>
            <a:spLocks noGrp="1"/>
          </p:cNvSpPr>
          <p:nvPr>
            <p:ph type="body" idx="1"/>
          </p:nvPr>
        </p:nvSpPr>
        <p:spPr bwMode="auto"/>
        <p:txBody>
          <a:bodyPr/>
          <a:lstStyle/>
          <a:p>
            <a:pPr>
              <a:defRPr/>
            </a:pPr>
            <a:endParaRPr/>
          </a:p>
        </p:txBody>
      </p:sp>
      <p:sp>
        <p:nvSpPr>
          <p:cNvPr id="540318072" name="Slide Number Placeholder 3"/>
          <p:cNvSpPr>
            <a:spLocks noGrp="1"/>
          </p:cNvSpPr>
          <p:nvPr>
            <p:ph type="sldNum" sz="quarter" idx="10"/>
          </p:nvPr>
        </p:nvSpPr>
        <p:spPr bwMode="auto"/>
        <p:txBody>
          <a:bodyPr/>
          <a:lstStyle/>
          <a:p>
            <a:pPr>
              <a:defRPr/>
            </a:pPr>
            <a:fld id="{4AAA849F-FEB7-D4C2-E0F7-677254AA494C}" type="slidenum">
              <a:rPr/>
              <a:t>25</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53251191" name="Slide Image Placeholder 1"/>
          <p:cNvSpPr>
            <a:spLocks noGrp="1" noRot="1" noChangeAspect="1"/>
          </p:cNvSpPr>
          <p:nvPr>
            <p:ph type="sldImg"/>
          </p:nvPr>
        </p:nvSpPr>
        <p:spPr bwMode="auto"/>
        <p:txBody>
          <a:bodyPr/>
          <a:lstStyle/>
          <a:p>
            <a:endParaRPr lang="en-US"/>
          </a:p>
        </p:txBody>
      </p:sp>
      <p:sp>
        <p:nvSpPr>
          <p:cNvPr id="353208636" name="Notes Placeholder 2"/>
          <p:cNvSpPr>
            <a:spLocks noGrp="1"/>
          </p:cNvSpPr>
          <p:nvPr>
            <p:ph type="body" idx="1"/>
          </p:nvPr>
        </p:nvSpPr>
        <p:spPr bwMode="auto"/>
        <p:txBody>
          <a:bodyPr/>
          <a:lstStyle/>
          <a:p>
            <a:pPr>
              <a:defRPr/>
            </a:pPr>
            <a:endParaRPr/>
          </a:p>
        </p:txBody>
      </p:sp>
      <p:sp>
        <p:nvSpPr>
          <p:cNvPr id="366775234" name="Slide Number Placeholder 3"/>
          <p:cNvSpPr>
            <a:spLocks noGrp="1"/>
          </p:cNvSpPr>
          <p:nvPr>
            <p:ph type="sldNum" sz="quarter" idx="10"/>
          </p:nvPr>
        </p:nvSpPr>
        <p:spPr bwMode="auto"/>
        <p:txBody>
          <a:bodyPr/>
          <a:lstStyle/>
          <a:p>
            <a:pPr>
              <a:defRPr/>
            </a:pPr>
            <a:fld id="{8569F5BF-8E48-1F68-B5F5-18D0C061FA6C}" type="slidenum">
              <a:rPr/>
              <a:t>26</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7562659" name="Slide Image Placeholder 1"/>
          <p:cNvSpPr>
            <a:spLocks noGrp="1" noRot="1" noChangeAspect="1"/>
          </p:cNvSpPr>
          <p:nvPr>
            <p:ph type="sldImg"/>
          </p:nvPr>
        </p:nvSpPr>
        <p:spPr bwMode="auto"/>
        <p:txBody>
          <a:bodyPr/>
          <a:lstStyle/>
          <a:p>
            <a:endParaRPr lang="en-US"/>
          </a:p>
        </p:txBody>
      </p:sp>
      <p:sp>
        <p:nvSpPr>
          <p:cNvPr id="1467426401" name="Notes Placeholder 2"/>
          <p:cNvSpPr>
            <a:spLocks noGrp="1"/>
          </p:cNvSpPr>
          <p:nvPr>
            <p:ph type="body" idx="1"/>
          </p:nvPr>
        </p:nvSpPr>
        <p:spPr bwMode="auto"/>
        <p:txBody>
          <a:bodyPr/>
          <a:lstStyle/>
          <a:p>
            <a:pPr>
              <a:defRPr/>
            </a:pPr>
            <a:endParaRPr/>
          </a:p>
        </p:txBody>
      </p:sp>
      <p:sp>
        <p:nvSpPr>
          <p:cNvPr id="743973877" name="Slide Number Placeholder 3"/>
          <p:cNvSpPr>
            <a:spLocks noGrp="1"/>
          </p:cNvSpPr>
          <p:nvPr>
            <p:ph type="sldNum" sz="quarter" idx="10"/>
          </p:nvPr>
        </p:nvSpPr>
        <p:spPr bwMode="auto"/>
        <p:txBody>
          <a:bodyPr/>
          <a:lstStyle/>
          <a:p>
            <a:pPr>
              <a:defRPr/>
            </a:pPr>
            <a:fld id="{AAA4CD70-F0FB-6883-1389-A2E5DDEDFAA5}" type="slidenum">
              <a:rPr/>
              <a:t>27</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22628069" name="Slide Image Placeholder 1"/>
          <p:cNvSpPr>
            <a:spLocks noGrp="1" noRot="1" noChangeAspect="1"/>
          </p:cNvSpPr>
          <p:nvPr>
            <p:ph type="sldImg"/>
          </p:nvPr>
        </p:nvSpPr>
        <p:spPr bwMode="auto"/>
        <p:txBody>
          <a:bodyPr/>
          <a:lstStyle/>
          <a:p>
            <a:endParaRPr lang="en-US"/>
          </a:p>
        </p:txBody>
      </p:sp>
      <p:sp>
        <p:nvSpPr>
          <p:cNvPr id="104465503" name="Notes Placeholder 2"/>
          <p:cNvSpPr>
            <a:spLocks noGrp="1"/>
          </p:cNvSpPr>
          <p:nvPr>
            <p:ph type="body" idx="1"/>
          </p:nvPr>
        </p:nvSpPr>
        <p:spPr bwMode="auto"/>
        <p:txBody>
          <a:bodyPr/>
          <a:lstStyle/>
          <a:p>
            <a:pPr>
              <a:defRPr/>
            </a:pPr>
            <a:endParaRPr/>
          </a:p>
        </p:txBody>
      </p:sp>
      <p:sp>
        <p:nvSpPr>
          <p:cNvPr id="1224060390" name="Slide Number Placeholder 3"/>
          <p:cNvSpPr>
            <a:spLocks noGrp="1"/>
          </p:cNvSpPr>
          <p:nvPr>
            <p:ph type="sldNum" sz="quarter" idx="10"/>
          </p:nvPr>
        </p:nvSpPr>
        <p:spPr bwMode="auto"/>
        <p:txBody>
          <a:bodyPr/>
          <a:lstStyle/>
          <a:p>
            <a:pPr>
              <a:defRPr/>
            </a:pPr>
            <a:fld id="{82E5C226-F47D-768D-9D13-0BFD4B85F6E8}" type="slidenum">
              <a:rPr/>
              <a:t>28</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4813935" name="Slide Image Placeholder 1"/>
          <p:cNvSpPr>
            <a:spLocks noGrp="1" noRot="1" noChangeAspect="1"/>
          </p:cNvSpPr>
          <p:nvPr>
            <p:ph type="sldImg"/>
          </p:nvPr>
        </p:nvSpPr>
        <p:spPr bwMode="auto"/>
        <p:txBody>
          <a:bodyPr/>
          <a:lstStyle/>
          <a:p>
            <a:endParaRPr lang="en-US"/>
          </a:p>
        </p:txBody>
      </p:sp>
      <p:sp>
        <p:nvSpPr>
          <p:cNvPr id="740939694" name="Notes Placeholder 2"/>
          <p:cNvSpPr>
            <a:spLocks noGrp="1"/>
          </p:cNvSpPr>
          <p:nvPr>
            <p:ph type="body" idx="1"/>
          </p:nvPr>
        </p:nvSpPr>
        <p:spPr bwMode="auto"/>
        <p:txBody>
          <a:bodyPr/>
          <a:lstStyle/>
          <a:p>
            <a:pPr>
              <a:defRPr/>
            </a:pPr>
            <a:endParaRPr/>
          </a:p>
        </p:txBody>
      </p:sp>
      <p:sp>
        <p:nvSpPr>
          <p:cNvPr id="1365510313" name="Slide Number Placeholder 3"/>
          <p:cNvSpPr>
            <a:spLocks noGrp="1"/>
          </p:cNvSpPr>
          <p:nvPr>
            <p:ph type="sldNum" sz="quarter" idx="10"/>
          </p:nvPr>
        </p:nvSpPr>
        <p:spPr bwMode="auto"/>
        <p:txBody>
          <a:bodyPr/>
          <a:lstStyle/>
          <a:p>
            <a:pPr>
              <a:defRPr/>
            </a:pPr>
            <a:fld id="{999E9CBF-AEA3-69B8-0858-6D831ABDD9AB}" type="slidenum">
              <a:rPr/>
              <a:t>29</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6694005" name="Slide Image Placeholder 1"/>
          <p:cNvSpPr>
            <a:spLocks noGrp="1" noRot="1" noChangeAspect="1"/>
          </p:cNvSpPr>
          <p:nvPr>
            <p:ph type="sldImg"/>
          </p:nvPr>
        </p:nvSpPr>
        <p:spPr bwMode="auto"/>
        <p:txBody>
          <a:bodyPr/>
          <a:lstStyle/>
          <a:p>
            <a:endParaRPr lang="en-US"/>
          </a:p>
        </p:txBody>
      </p:sp>
      <p:sp>
        <p:nvSpPr>
          <p:cNvPr id="326232698" name="Notes Placeholder 2"/>
          <p:cNvSpPr>
            <a:spLocks noGrp="1"/>
          </p:cNvSpPr>
          <p:nvPr>
            <p:ph type="body" idx="1"/>
          </p:nvPr>
        </p:nvSpPr>
        <p:spPr bwMode="auto"/>
        <p:txBody>
          <a:bodyPr/>
          <a:lstStyle/>
          <a:p>
            <a:pPr>
              <a:defRPr/>
            </a:pPr>
            <a:endParaRPr/>
          </a:p>
        </p:txBody>
      </p:sp>
      <p:sp>
        <p:nvSpPr>
          <p:cNvPr id="1826125257" name="Slide Number Placeholder 3"/>
          <p:cNvSpPr>
            <a:spLocks noGrp="1"/>
          </p:cNvSpPr>
          <p:nvPr>
            <p:ph type="sldNum" sz="quarter" idx="10"/>
          </p:nvPr>
        </p:nvSpPr>
        <p:spPr bwMode="auto"/>
        <p:txBody>
          <a:bodyPr/>
          <a:lstStyle/>
          <a:p>
            <a:pPr>
              <a:defRPr/>
            </a:pPr>
            <a:fld id="{AB53CDC2-DCC1-A7AF-D176-7BD4E0FFB631}" type="slidenum">
              <a:rPr/>
              <a:t>30</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54109178" name="Slide Image Placeholder 1"/>
          <p:cNvSpPr>
            <a:spLocks noGrp="1" noRot="1" noChangeAspect="1"/>
          </p:cNvSpPr>
          <p:nvPr>
            <p:ph type="sldImg"/>
          </p:nvPr>
        </p:nvSpPr>
        <p:spPr bwMode="auto"/>
        <p:txBody>
          <a:bodyPr/>
          <a:lstStyle/>
          <a:p>
            <a:endParaRPr lang="en-US"/>
          </a:p>
        </p:txBody>
      </p:sp>
      <p:sp>
        <p:nvSpPr>
          <p:cNvPr id="1184835565" name="Notes Placeholder 2"/>
          <p:cNvSpPr>
            <a:spLocks noGrp="1"/>
          </p:cNvSpPr>
          <p:nvPr>
            <p:ph type="body" idx="1"/>
          </p:nvPr>
        </p:nvSpPr>
        <p:spPr bwMode="auto"/>
        <p:txBody>
          <a:bodyPr/>
          <a:lstStyle/>
          <a:p>
            <a:pPr>
              <a:defRPr/>
            </a:pPr>
            <a:endParaRPr/>
          </a:p>
        </p:txBody>
      </p:sp>
      <p:sp>
        <p:nvSpPr>
          <p:cNvPr id="2131226467" name="Slide Number Placeholder 3"/>
          <p:cNvSpPr>
            <a:spLocks noGrp="1"/>
          </p:cNvSpPr>
          <p:nvPr>
            <p:ph type="sldNum" sz="quarter" idx="10"/>
          </p:nvPr>
        </p:nvSpPr>
        <p:spPr bwMode="auto"/>
        <p:txBody>
          <a:bodyPr/>
          <a:lstStyle/>
          <a:p>
            <a:pPr>
              <a:defRPr/>
            </a:pPr>
            <a:fld id="{25A3361C-2B65-F7B2-B346-B39115C26036}" type="slidenum">
              <a:rPr/>
              <a:t>31</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33333649" name="Slide Image Placeholder 1"/>
          <p:cNvSpPr>
            <a:spLocks noGrp="1" noRot="1" noChangeAspect="1"/>
          </p:cNvSpPr>
          <p:nvPr>
            <p:ph type="sldImg"/>
          </p:nvPr>
        </p:nvSpPr>
        <p:spPr bwMode="auto"/>
        <p:txBody>
          <a:bodyPr/>
          <a:lstStyle/>
          <a:p>
            <a:endParaRPr lang="en-US"/>
          </a:p>
        </p:txBody>
      </p:sp>
      <p:sp>
        <p:nvSpPr>
          <p:cNvPr id="858192780" name="Notes Placeholder 2"/>
          <p:cNvSpPr>
            <a:spLocks noGrp="1"/>
          </p:cNvSpPr>
          <p:nvPr>
            <p:ph type="body" idx="1"/>
          </p:nvPr>
        </p:nvSpPr>
        <p:spPr bwMode="auto"/>
        <p:txBody>
          <a:bodyPr/>
          <a:lstStyle/>
          <a:p>
            <a:pPr>
              <a:defRPr/>
            </a:pPr>
            <a:endParaRPr/>
          </a:p>
        </p:txBody>
      </p:sp>
      <p:sp>
        <p:nvSpPr>
          <p:cNvPr id="1275046534" name="Slide Number Placeholder 3"/>
          <p:cNvSpPr>
            <a:spLocks noGrp="1"/>
          </p:cNvSpPr>
          <p:nvPr>
            <p:ph type="sldNum" sz="quarter" idx="10"/>
          </p:nvPr>
        </p:nvSpPr>
        <p:spPr bwMode="auto"/>
        <p:txBody>
          <a:bodyPr/>
          <a:lstStyle/>
          <a:p>
            <a:pPr>
              <a:defRPr/>
            </a:pPr>
            <a:fld id="{B69577D2-C532-D194-E2B0-4541F013A54C}" type="slidenum">
              <a:rPr/>
              <a:t>32</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56071894" name="Slide Image Placeholder 1"/>
          <p:cNvSpPr>
            <a:spLocks noGrp="1" noRot="1" noChangeAspect="1"/>
          </p:cNvSpPr>
          <p:nvPr>
            <p:ph type="sldImg"/>
          </p:nvPr>
        </p:nvSpPr>
        <p:spPr bwMode="auto"/>
        <p:txBody>
          <a:bodyPr/>
          <a:lstStyle/>
          <a:p>
            <a:endParaRPr lang="en-US"/>
          </a:p>
        </p:txBody>
      </p:sp>
      <p:sp>
        <p:nvSpPr>
          <p:cNvPr id="1149941395" name="Notes Placeholder 2"/>
          <p:cNvSpPr>
            <a:spLocks noGrp="1"/>
          </p:cNvSpPr>
          <p:nvPr>
            <p:ph type="body" idx="1"/>
          </p:nvPr>
        </p:nvSpPr>
        <p:spPr bwMode="auto"/>
        <p:txBody>
          <a:bodyPr/>
          <a:lstStyle/>
          <a:p>
            <a:pPr>
              <a:defRPr/>
            </a:pPr>
            <a:endParaRPr/>
          </a:p>
        </p:txBody>
      </p:sp>
      <p:sp>
        <p:nvSpPr>
          <p:cNvPr id="159363814" name="Slide Number Placeholder 3"/>
          <p:cNvSpPr>
            <a:spLocks noGrp="1"/>
          </p:cNvSpPr>
          <p:nvPr>
            <p:ph type="sldNum" sz="quarter" idx="10"/>
          </p:nvPr>
        </p:nvSpPr>
        <p:spPr bwMode="auto"/>
        <p:txBody>
          <a:bodyPr/>
          <a:lstStyle/>
          <a:p>
            <a:pPr>
              <a:defRPr/>
            </a:pPr>
            <a:fld id="{D26464A1-31BC-5C57-25BD-E2EAE2F00D63}" type="slidenum">
              <a:rPr/>
              <a:t>33</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21558489" name="Slide Image Placeholder 1"/>
          <p:cNvSpPr>
            <a:spLocks noGrp="1" noRot="1" noChangeAspect="1"/>
          </p:cNvSpPr>
          <p:nvPr>
            <p:ph type="sldImg"/>
          </p:nvPr>
        </p:nvSpPr>
        <p:spPr bwMode="auto"/>
        <p:txBody>
          <a:bodyPr/>
          <a:lstStyle/>
          <a:p>
            <a:endParaRPr lang="en-US"/>
          </a:p>
        </p:txBody>
      </p:sp>
      <p:sp>
        <p:nvSpPr>
          <p:cNvPr id="1014381547" name="Notes Placeholder 2"/>
          <p:cNvSpPr>
            <a:spLocks noGrp="1"/>
          </p:cNvSpPr>
          <p:nvPr>
            <p:ph type="body" idx="1"/>
          </p:nvPr>
        </p:nvSpPr>
        <p:spPr bwMode="auto"/>
        <p:txBody>
          <a:bodyPr/>
          <a:lstStyle/>
          <a:p>
            <a:pPr>
              <a:defRPr/>
            </a:pPr>
            <a:endParaRPr/>
          </a:p>
        </p:txBody>
      </p:sp>
      <p:sp>
        <p:nvSpPr>
          <p:cNvPr id="136712394" name="Slide Number Placeholder 3"/>
          <p:cNvSpPr>
            <a:spLocks noGrp="1"/>
          </p:cNvSpPr>
          <p:nvPr>
            <p:ph type="sldNum" sz="quarter" idx="10"/>
          </p:nvPr>
        </p:nvSpPr>
        <p:spPr bwMode="auto"/>
        <p:txBody>
          <a:bodyPr/>
          <a:lstStyle/>
          <a:p>
            <a:pPr>
              <a:defRPr/>
            </a:pPr>
            <a:fld id="{8E109065-2FE0-AE57-BA3F-8752373B1138}" type="slidenum">
              <a:rPr/>
              <a:t>34</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7761033" name="Slide Image Placeholder 1"/>
          <p:cNvSpPr>
            <a:spLocks noGrp="1" noRot="1" noChangeAspect="1"/>
          </p:cNvSpPr>
          <p:nvPr>
            <p:ph type="sldImg"/>
          </p:nvPr>
        </p:nvSpPr>
        <p:spPr bwMode="auto"/>
        <p:txBody>
          <a:bodyPr/>
          <a:lstStyle/>
          <a:p>
            <a:endParaRPr lang="en-US"/>
          </a:p>
        </p:txBody>
      </p:sp>
      <p:sp>
        <p:nvSpPr>
          <p:cNvPr id="586905990" name="Notes Placeholder 2"/>
          <p:cNvSpPr>
            <a:spLocks noGrp="1"/>
          </p:cNvSpPr>
          <p:nvPr>
            <p:ph type="body" idx="1"/>
          </p:nvPr>
        </p:nvSpPr>
        <p:spPr bwMode="auto"/>
        <p:txBody>
          <a:bodyPr/>
          <a:lstStyle/>
          <a:p>
            <a:pPr>
              <a:defRPr/>
            </a:pPr>
            <a:endParaRPr/>
          </a:p>
        </p:txBody>
      </p:sp>
      <p:sp>
        <p:nvSpPr>
          <p:cNvPr id="1453844538" name="Slide Number Placeholder 3"/>
          <p:cNvSpPr>
            <a:spLocks noGrp="1"/>
          </p:cNvSpPr>
          <p:nvPr>
            <p:ph type="sldNum" sz="quarter" idx="10"/>
          </p:nvPr>
        </p:nvSpPr>
        <p:spPr bwMode="auto"/>
        <p:txBody>
          <a:bodyPr/>
          <a:lstStyle/>
          <a:p>
            <a:pPr>
              <a:defRPr/>
            </a:pPr>
            <a:fld id="{10923CF1-C3E0-7B2A-2D57-82A121C0AF41}" type="slidenum">
              <a:rPr/>
              <a:t>35</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txBody>
          <a:bodyPr/>
          <a:lstStyle/>
          <a:p>
            <a:endParaRPr lang="en-US"/>
          </a:p>
        </p:txBody>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5C9CB38-B575-2266-5C71-92A5C1B3E998}" type="slidenum">
              <a:rPr/>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1850538262" name="Title 1"/>
          <p:cNvSpPr>
            <a:spLocks noGrp="1"/>
          </p:cNvSpPr>
          <p:nvPr>
            <p:ph type="ctrTitle"/>
          </p:nvPr>
        </p:nvSpPr>
        <p:spPr bwMode="auto">
          <a:xfrm>
            <a:off x="914400" y="2130427"/>
            <a:ext cx="10363199" cy="1470025"/>
          </a:xfrm>
        </p:spPr>
        <p:txBody>
          <a:bodyPr/>
          <a:lstStyle/>
          <a:p>
            <a:pPr>
              <a:defRPr/>
            </a:pPr>
            <a:r>
              <a:t>Click to edit Master title style</a:t>
            </a:r>
          </a:p>
        </p:txBody>
      </p:sp>
      <p:sp>
        <p:nvSpPr>
          <p:cNvPr id="1986792174" name="Subtitle 2"/>
          <p:cNvSpPr>
            <a:spLocks noGrp="1"/>
          </p:cNvSpPr>
          <p:nvPr>
            <p:ph type="subTitle" idx="1"/>
          </p:nvPr>
        </p:nvSpPr>
        <p:spPr bwMode="auto">
          <a:xfrm>
            <a:off x="1828800" y="3886200"/>
            <a:ext cx="8534399" cy="1752599"/>
          </a:xfrm>
        </p:spPr>
        <p:txBody>
          <a:bodyPr/>
          <a:lstStyle>
            <a:lvl1pPr marL="0" indent="0" algn="ctr">
              <a:buNone/>
              <a:defRPr>
                <a:solidFill>
                  <a:schemeClr val="tx1">
                    <a:lumMod val="85000"/>
                    <a:lumOff val="1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t>Click to edit Master subtitle style</a:t>
            </a:r>
          </a:p>
        </p:txBody>
      </p:sp>
      <p:sp>
        <p:nvSpPr>
          <p:cNvPr id="1265071355" name="Date Placeholder 3"/>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558278298" name="Footer Placeholder 4"/>
          <p:cNvSpPr>
            <a:spLocks noGrp="1"/>
          </p:cNvSpPr>
          <p:nvPr>
            <p:ph type="ftr" sz="quarter" idx="11"/>
          </p:nvPr>
        </p:nvSpPr>
        <p:spPr bwMode="auto"/>
        <p:txBody>
          <a:bodyPr/>
          <a:lstStyle/>
          <a:p>
            <a:pPr>
              <a:defRPr/>
            </a:pPr>
            <a:endParaRPr/>
          </a:p>
        </p:txBody>
      </p:sp>
      <p:sp>
        <p:nvSpPr>
          <p:cNvPr id="906769135"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354183033" name="Title 1"/>
          <p:cNvSpPr>
            <a:spLocks noGrp="1"/>
          </p:cNvSpPr>
          <p:nvPr>
            <p:ph type="title"/>
          </p:nvPr>
        </p:nvSpPr>
        <p:spPr bwMode="auto"/>
        <p:txBody>
          <a:bodyPr/>
          <a:lstStyle/>
          <a:p>
            <a:pPr>
              <a:defRPr/>
            </a:pPr>
            <a:r>
              <a:t>Click to edit Master title style</a:t>
            </a:r>
          </a:p>
        </p:txBody>
      </p:sp>
      <p:sp>
        <p:nvSpPr>
          <p:cNvPr id="1046099020" name="Content Placeholder 2"/>
          <p:cNvSpPr>
            <a:spLocks noGrp="1"/>
          </p:cNvSpPr>
          <p:nvPr>
            <p:ph idx="1"/>
          </p:nvPr>
        </p:nvSpPr>
        <p:spPr bwMode="auto"/>
        <p:txBody>
          <a:body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069615639" name="Date Placeholder 3"/>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1489270255" name="Footer Placeholder 4"/>
          <p:cNvSpPr>
            <a:spLocks noGrp="1"/>
          </p:cNvSpPr>
          <p:nvPr>
            <p:ph type="ftr" sz="quarter" idx="11"/>
          </p:nvPr>
        </p:nvSpPr>
        <p:spPr bwMode="auto"/>
        <p:txBody>
          <a:bodyPr/>
          <a:lstStyle/>
          <a:p>
            <a:pPr>
              <a:defRPr/>
            </a:pPr>
            <a:endParaRPr/>
          </a:p>
        </p:txBody>
      </p:sp>
      <p:sp>
        <p:nvSpPr>
          <p:cNvPr id="409617833"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149138993" name="Title 1"/>
          <p:cNvSpPr>
            <a:spLocks noGrp="1"/>
          </p:cNvSpPr>
          <p:nvPr>
            <p:ph type="title"/>
          </p:nvPr>
        </p:nvSpPr>
        <p:spPr bwMode="auto">
          <a:xfrm>
            <a:off x="963083" y="4406901"/>
            <a:ext cx="10363199" cy="1362074"/>
          </a:xfrm>
        </p:spPr>
        <p:txBody>
          <a:bodyPr anchor="t"/>
          <a:lstStyle>
            <a:lvl1pPr algn="l">
              <a:defRPr sz="4000" b="1" cap="all"/>
            </a:lvl1pPr>
          </a:lstStyle>
          <a:p>
            <a:pPr>
              <a:defRPr/>
            </a:pPr>
            <a:r>
              <a:t>Click to edit Master title style</a:t>
            </a:r>
          </a:p>
        </p:txBody>
      </p:sp>
      <p:sp>
        <p:nvSpPr>
          <p:cNvPr id="241895064" name="Text Placeholder 2"/>
          <p:cNvSpPr>
            <a:spLocks noGrp="1"/>
          </p:cNvSpPr>
          <p:nvPr>
            <p:ph type="body" idx="1"/>
          </p:nvPr>
        </p:nvSpPr>
        <p:spPr bwMode="auto">
          <a:xfrm>
            <a:off x="963083" y="2906713"/>
            <a:ext cx="10363199" cy="150018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t>Click to edit Master text styles</a:t>
            </a:r>
          </a:p>
        </p:txBody>
      </p:sp>
      <p:sp>
        <p:nvSpPr>
          <p:cNvPr id="254643300" name="Date Placeholder 3"/>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1709402858" name="Footer Placeholder 4"/>
          <p:cNvSpPr>
            <a:spLocks noGrp="1"/>
          </p:cNvSpPr>
          <p:nvPr>
            <p:ph type="ftr" sz="quarter" idx="11"/>
          </p:nvPr>
        </p:nvSpPr>
        <p:spPr bwMode="auto"/>
        <p:txBody>
          <a:bodyPr/>
          <a:lstStyle/>
          <a:p>
            <a:pPr>
              <a:defRPr/>
            </a:pPr>
            <a:endParaRPr/>
          </a:p>
        </p:txBody>
      </p:sp>
      <p:sp>
        <p:nvSpPr>
          <p:cNvPr id="1793983617"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1529347572" name="Title 1"/>
          <p:cNvSpPr>
            <a:spLocks noGrp="1"/>
          </p:cNvSpPr>
          <p:nvPr>
            <p:ph type="title"/>
          </p:nvPr>
        </p:nvSpPr>
        <p:spPr bwMode="auto"/>
        <p:txBody>
          <a:bodyPr/>
          <a:lstStyle/>
          <a:p>
            <a:pPr>
              <a:defRPr/>
            </a:pPr>
            <a:r>
              <a:t>Click to edit Master title style</a:t>
            </a:r>
          </a:p>
        </p:txBody>
      </p:sp>
      <p:sp>
        <p:nvSpPr>
          <p:cNvPr id="829909763" name="Content Placeholder 2"/>
          <p:cNvSpPr>
            <a:spLocks noGrp="1"/>
          </p:cNvSpPr>
          <p:nvPr>
            <p:ph sz="half" idx="1"/>
          </p:nvPr>
        </p:nvSpPr>
        <p:spPr bwMode="auto">
          <a:xfrm>
            <a:off x="609599" y="1600201"/>
            <a:ext cx="5384799"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705570049" name="Content Placeholder 3"/>
          <p:cNvSpPr>
            <a:spLocks noGrp="1"/>
          </p:cNvSpPr>
          <p:nvPr>
            <p:ph sz="half" idx="2"/>
          </p:nvPr>
        </p:nvSpPr>
        <p:spPr bwMode="auto">
          <a:xfrm>
            <a:off x="6197599" y="1600201"/>
            <a:ext cx="5384799"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773334581" name="Date Placeholder 4"/>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731919586" name="Footer Placeholder 5"/>
          <p:cNvSpPr>
            <a:spLocks noGrp="1"/>
          </p:cNvSpPr>
          <p:nvPr>
            <p:ph type="ftr" sz="quarter" idx="11"/>
          </p:nvPr>
        </p:nvSpPr>
        <p:spPr bwMode="auto"/>
        <p:txBody>
          <a:bodyPr/>
          <a:lstStyle/>
          <a:p>
            <a:pPr>
              <a:defRPr/>
            </a:pPr>
            <a:endParaRPr/>
          </a:p>
        </p:txBody>
      </p:sp>
      <p:sp>
        <p:nvSpPr>
          <p:cNvPr id="802560331" name="Slide Number Placeholder 6"/>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410455677" name="Title 1"/>
          <p:cNvSpPr>
            <a:spLocks noGrp="1"/>
          </p:cNvSpPr>
          <p:nvPr>
            <p:ph type="title"/>
          </p:nvPr>
        </p:nvSpPr>
        <p:spPr bwMode="auto"/>
        <p:txBody>
          <a:bodyPr/>
          <a:lstStyle>
            <a:lvl1pPr>
              <a:defRPr/>
            </a:lvl1pPr>
          </a:lstStyle>
          <a:p>
            <a:pPr>
              <a:defRPr/>
            </a:pPr>
            <a:r>
              <a:t>Click to edit Master title style</a:t>
            </a:r>
          </a:p>
        </p:txBody>
      </p:sp>
      <p:sp>
        <p:nvSpPr>
          <p:cNvPr id="1847397690" name="Text Placeholder 2"/>
          <p:cNvSpPr>
            <a:spLocks noGrp="1"/>
          </p:cNvSpPr>
          <p:nvPr>
            <p:ph type="body" idx="1"/>
          </p:nvPr>
        </p:nvSpPr>
        <p:spPr bwMode="auto">
          <a:xfrm>
            <a:off x="609599"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t>Click to edit Master text styles</a:t>
            </a:r>
          </a:p>
        </p:txBody>
      </p:sp>
      <p:sp>
        <p:nvSpPr>
          <p:cNvPr id="1773875849" name="Content Placeholder 3"/>
          <p:cNvSpPr>
            <a:spLocks noGrp="1"/>
          </p:cNvSpPr>
          <p:nvPr>
            <p:ph sz="half" idx="2"/>
          </p:nvPr>
        </p:nvSpPr>
        <p:spPr bwMode="auto">
          <a:xfrm>
            <a:off x="609599" y="2174874"/>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435787328" name="Text Placeholder 4"/>
          <p:cNvSpPr>
            <a:spLocks noGrp="1"/>
          </p:cNvSpPr>
          <p:nvPr>
            <p:ph type="body" sz="quarter" idx="3"/>
          </p:nvPr>
        </p:nvSpPr>
        <p:spPr bwMode="auto">
          <a:xfrm>
            <a:off x="6193373"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t>Click to edit Master text styles</a:t>
            </a:r>
          </a:p>
        </p:txBody>
      </p:sp>
      <p:sp>
        <p:nvSpPr>
          <p:cNvPr id="723144718" name="Content Placeholder 5"/>
          <p:cNvSpPr>
            <a:spLocks noGrp="1"/>
          </p:cNvSpPr>
          <p:nvPr>
            <p:ph sz="quarter" idx="4"/>
          </p:nvPr>
        </p:nvSpPr>
        <p:spPr bwMode="auto">
          <a:xfrm>
            <a:off x="6193373" y="2174874"/>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799999440" name="Date Placeholder 6"/>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139608272" name="Footer Placeholder 7"/>
          <p:cNvSpPr>
            <a:spLocks noGrp="1"/>
          </p:cNvSpPr>
          <p:nvPr>
            <p:ph type="ftr" sz="quarter" idx="11"/>
          </p:nvPr>
        </p:nvSpPr>
        <p:spPr bwMode="auto"/>
        <p:txBody>
          <a:bodyPr/>
          <a:lstStyle/>
          <a:p>
            <a:pPr>
              <a:defRPr/>
            </a:pPr>
            <a:endParaRPr/>
          </a:p>
        </p:txBody>
      </p:sp>
      <p:sp>
        <p:nvSpPr>
          <p:cNvPr id="1029481426" name="Slide Number Placeholder 8"/>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51285038" name="Title 1"/>
          <p:cNvSpPr>
            <a:spLocks noGrp="1"/>
          </p:cNvSpPr>
          <p:nvPr>
            <p:ph type="title"/>
          </p:nvPr>
        </p:nvSpPr>
        <p:spPr bwMode="auto"/>
        <p:txBody>
          <a:bodyPr/>
          <a:lstStyle/>
          <a:p>
            <a:pPr>
              <a:defRPr/>
            </a:pPr>
            <a:r>
              <a:t>Click to edit Master title style</a:t>
            </a:r>
          </a:p>
        </p:txBody>
      </p:sp>
      <p:sp>
        <p:nvSpPr>
          <p:cNvPr id="1609427632" name="Date Placeholder 2"/>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309156804" name="Footer Placeholder 3"/>
          <p:cNvSpPr>
            <a:spLocks noGrp="1"/>
          </p:cNvSpPr>
          <p:nvPr>
            <p:ph type="ftr" sz="quarter" idx="11"/>
          </p:nvPr>
        </p:nvSpPr>
        <p:spPr bwMode="auto"/>
        <p:txBody>
          <a:bodyPr/>
          <a:lstStyle/>
          <a:p>
            <a:pPr>
              <a:defRPr/>
            </a:pPr>
            <a:endParaRPr/>
          </a:p>
        </p:txBody>
      </p:sp>
      <p:sp>
        <p:nvSpPr>
          <p:cNvPr id="66094649" name="Slide Number Placeholder 4"/>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1654406577" name="Date Placeholder 1"/>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345055184" name="Footer Placeholder 2"/>
          <p:cNvSpPr>
            <a:spLocks noGrp="1"/>
          </p:cNvSpPr>
          <p:nvPr>
            <p:ph type="ftr" sz="quarter" idx="11"/>
          </p:nvPr>
        </p:nvSpPr>
        <p:spPr bwMode="auto"/>
        <p:txBody>
          <a:bodyPr/>
          <a:lstStyle/>
          <a:p>
            <a:pPr>
              <a:defRPr/>
            </a:pPr>
            <a:endParaRPr/>
          </a:p>
        </p:txBody>
      </p:sp>
      <p:sp>
        <p:nvSpPr>
          <p:cNvPr id="1488824393" name="Slide Number Placeholder 3"/>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85873724" name="Title 1"/>
          <p:cNvSpPr>
            <a:spLocks noGrp="1"/>
          </p:cNvSpPr>
          <p:nvPr>
            <p:ph type="title"/>
          </p:nvPr>
        </p:nvSpPr>
        <p:spPr bwMode="auto">
          <a:xfrm>
            <a:off x="609606" y="273049"/>
            <a:ext cx="4011084" cy="1162050"/>
          </a:xfrm>
        </p:spPr>
        <p:txBody>
          <a:bodyPr anchor="b"/>
          <a:lstStyle>
            <a:lvl1pPr algn="l">
              <a:defRPr sz="2000" b="1"/>
            </a:lvl1pPr>
          </a:lstStyle>
          <a:p>
            <a:pPr>
              <a:defRPr/>
            </a:pPr>
            <a:r>
              <a:t>Click to edit Master title style</a:t>
            </a:r>
          </a:p>
        </p:txBody>
      </p:sp>
      <p:sp>
        <p:nvSpPr>
          <p:cNvPr id="207289647" name="Content Placeholder 2"/>
          <p:cNvSpPr>
            <a:spLocks noGrp="1"/>
          </p:cNvSpPr>
          <p:nvPr>
            <p:ph idx="1"/>
          </p:nvPr>
        </p:nvSpPr>
        <p:spPr bwMode="auto">
          <a:xfrm>
            <a:off x="4766732" y="273053"/>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312301910" name="Text Placeholder 3"/>
          <p:cNvSpPr>
            <a:spLocks noGrp="1"/>
          </p:cNvSpPr>
          <p:nvPr>
            <p:ph type="body" sz="half" idx="2"/>
          </p:nvPr>
        </p:nvSpPr>
        <p:spPr bwMode="auto">
          <a:xfrm>
            <a:off x="609606" y="1435103"/>
            <a:ext cx="4011084" cy="46910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t>Click to edit Master text styles</a:t>
            </a:r>
          </a:p>
        </p:txBody>
      </p:sp>
      <p:sp>
        <p:nvSpPr>
          <p:cNvPr id="1894457776" name="Date Placeholder 4"/>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1439475455" name="Footer Placeholder 5"/>
          <p:cNvSpPr>
            <a:spLocks noGrp="1"/>
          </p:cNvSpPr>
          <p:nvPr>
            <p:ph type="ftr" sz="quarter" idx="11"/>
          </p:nvPr>
        </p:nvSpPr>
        <p:spPr bwMode="auto"/>
        <p:txBody>
          <a:bodyPr/>
          <a:lstStyle/>
          <a:p>
            <a:pPr>
              <a:defRPr/>
            </a:pPr>
            <a:endParaRPr/>
          </a:p>
        </p:txBody>
      </p:sp>
      <p:sp>
        <p:nvSpPr>
          <p:cNvPr id="1435549821" name="Slide Number Placeholder 6"/>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294390690" name="Title 1"/>
          <p:cNvSpPr>
            <a:spLocks noGrp="1"/>
          </p:cNvSpPr>
          <p:nvPr>
            <p:ph type="title"/>
          </p:nvPr>
        </p:nvSpPr>
        <p:spPr bwMode="auto">
          <a:xfrm>
            <a:off x="2389717" y="4800601"/>
            <a:ext cx="7315200" cy="566738"/>
          </a:xfrm>
        </p:spPr>
        <p:txBody>
          <a:bodyPr anchor="b"/>
          <a:lstStyle>
            <a:lvl1pPr algn="l">
              <a:defRPr sz="2000" b="1"/>
            </a:lvl1pPr>
          </a:lstStyle>
          <a:p>
            <a:pPr>
              <a:defRPr/>
            </a:pPr>
            <a:r>
              <a:t>Click to edit Master title style</a:t>
            </a:r>
          </a:p>
        </p:txBody>
      </p:sp>
      <p:sp>
        <p:nvSpPr>
          <p:cNvPr id="885493223" name="Picture Placeholder 2"/>
          <p:cNvSpPr>
            <a:spLocks noGrp="1"/>
          </p:cNvSpPr>
          <p:nvPr>
            <p:ph type="pic" idx="1"/>
          </p:nvPr>
        </p:nvSpPr>
        <p:spPr bwMode="auto">
          <a:xfrm>
            <a:off x="2389717" y="612774"/>
            <a:ext cx="7315200" cy="41147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a:p>
        </p:txBody>
      </p:sp>
      <p:sp>
        <p:nvSpPr>
          <p:cNvPr id="1663171436" name="Text Placeholder 3"/>
          <p:cNvSpPr>
            <a:spLocks noGrp="1"/>
          </p:cNvSpPr>
          <p:nvPr>
            <p:ph type="body" sz="half" idx="2"/>
          </p:nvPr>
        </p:nvSpPr>
        <p:spPr bwMode="auto">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t>Click to edit Master text styles</a:t>
            </a:r>
          </a:p>
        </p:txBody>
      </p:sp>
      <p:sp>
        <p:nvSpPr>
          <p:cNvPr id="919578540" name="Date Placeholder 4"/>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1257933101" name="Footer Placeholder 5"/>
          <p:cNvSpPr>
            <a:spLocks noGrp="1"/>
          </p:cNvSpPr>
          <p:nvPr>
            <p:ph type="ftr" sz="quarter" idx="11"/>
          </p:nvPr>
        </p:nvSpPr>
        <p:spPr bwMode="auto"/>
        <p:txBody>
          <a:bodyPr/>
          <a:lstStyle/>
          <a:p>
            <a:pPr>
              <a:defRPr/>
            </a:pPr>
            <a:endParaRPr/>
          </a:p>
        </p:txBody>
      </p:sp>
      <p:sp>
        <p:nvSpPr>
          <p:cNvPr id="1083899680" name="Slide Number Placeholder 6"/>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584015209" name="Title 1"/>
          <p:cNvSpPr>
            <a:spLocks noGrp="1"/>
          </p:cNvSpPr>
          <p:nvPr>
            <p:ph type="title"/>
          </p:nvPr>
        </p:nvSpPr>
        <p:spPr bwMode="auto"/>
        <p:txBody>
          <a:bodyPr/>
          <a:lstStyle/>
          <a:p>
            <a:pPr>
              <a:defRPr/>
            </a:pPr>
            <a:r>
              <a:t>Click to edit Master title style</a:t>
            </a:r>
          </a:p>
        </p:txBody>
      </p:sp>
      <p:sp>
        <p:nvSpPr>
          <p:cNvPr id="488677227" name="Vertical Text Placeholder 2"/>
          <p:cNvSpPr>
            <a:spLocks noGrp="1"/>
          </p:cNvSpPr>
          <p:nvPr>
            <p:ph type="body" orient="vert" idx="1"/>
          </p:nvPr>
        </p:nvSpPr>
        <p:spPr bwMode="auto"/>
        <p:txBody>
          <a:bodyPr vert="eaVert"/>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951921625" name="Date Placeholder 3"/>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1224325143" name="Footer Placeholder 4"/>
          <p:cNvSpPr>
            <a:spLocks noGrp="1"/>
          </p:cNvSpPr>
          <p:nvPr>
            <p:ph type="ftr" sz="quarter" idx="11"/>
          </p:nvPr>
        </p:nvSpPr>
        <p:spPr bwMode="auto"/>
        <p:txBody>
          <a:bodyPr/>
          <a:lstStyle/>
          <a:p>
            <a:pPr>
              <a:defRPr/>
            </a:pPr>
            <a:endParaRPr/>
          </a:p>
        </p:txBody>
      </p:sp>
      <p:sp>
        <p:nvSpPr>
          <p:cNvPr id="1600939088"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115973006" name="Vertical Title 1"/>
          <p:cNvSpPr>
            <a:spLocks noGrp="1"/>
          </p:cNvSpPr>
          <p:nvPr>
            <p:ph type="title" orient="vert"/>
          </p:nvPr>
        </p:nvSpPr>
        <p:spPr bwMode="auto">
          <a:xfrm>
            <a:off x="8839199" y="274639"/>
            <a:ext cx="2743200" cy="5851525"/>
          </a:xfrm>
        </p:spPr>
        <p:txBody>
          <a:bodyPr vert="eaVert"/>
          <a:lstStyle>
            <a:lvl1pPr algn="l">
              <a:defRPr/>
            </a:lvl1pPr>
          </a:lstStyle>
          <a:p>
            <a:pPr>
              <a:defRPr/>
            </a:pPr>
            <a:r>
              <a:t>Click to edit Master title style</a:t>
            </a:r>
          </a:p>
        </p:txBody>
      </p:sp>
      <p:sp>
        <p:nvSpPr>
          <p:cNvPr id="1530933515" name="Vertical Text Placeholder 2"/>
          <p:cNvSpPr>
            <a:spLocks noGrp="1"/>
          </p:cNvSpPr>
          <p:nvPr>
            <p:ph type="body" orient="vert" idx="1"/>
          </p:nvPr>
        </p:nvSpPr>
        <p:spPr bwMode="auto">
          <a:xfrm>
            <a:off x="609599" y="274639"/>
            <a:ext cx="8026399" cy="5851525"/>
          </a:xfrm>
        </p:spPr>
        <p:txBody>
          <a:bodyPr vert="eaVert"/>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283090488" name="Date Placeholder 3"/>
          <p:cNvSpPr>
            <a:spLocks noGrp="1"/>
          </p:cNvSpPr>
          <p:nvPr>
            <p:ph type="dt" sz="half" idx="10"/>
          </p:nvPr>
        </p:nvSpPr>
        <p:spPr bwMode="auto"/>
        <p:txBody>
          <a:bodyPr/>
          <a:lstStyle/>
          <a:p>
            <a:pPr>
              <a:defRPr/>
            </a:pPr>
            <a:fld id="{D328A2AD-CA6C-4CEE-80DD-5B3591997DB0}" type="datetimeFigureOut">
              <a:rPr lang="en-US"/>
              <a:t>3/4/2026</a:t>
            </a:fld>
            <a:endParaRPr/>
          </a:p>
        </p:txBody>
      </p:sp>
      <p:sp>
        <p:nvSpPr>
          <p:cNvPr id="760705991" name="Footer Placeholder 4"/>
          <p:cNvSpPr>
            <a:spLocks noGrp="1"/>
          </p:cNvSpPr>
          <p:nvPr>
            <p:ph type="ftr" sz="quarter" idx="11"/>
          </p:nvPr>
        </p:nvSpPr>
        <p:spPr bwMode="auto"/>
        <p:txBody>
          <a:bodyPr/>
          <a:lstStyle/>
          <a:p>
            <a:pPr>
              <a:defRPr/>
            </a:pPr>
            <a:endParaRPr/>
          </a:p>
        </p:txBody>
      </p:sp>
      <p:sp>
        <p:nvSpPr>
          <p:cNvPr id="182807592" name="Slide Number Placeholder 5"/>
          <p:cNvSpPr>
            <a:spLocks noGrp="1"/>
          </p:cNvSpPr>
          <p:nvPr>
            <p:ph type="sldNum" sz="quarter" idx="12"/>
          </p:nvPr>
        </p:nvSpPr>
        <p:spPr bwMode="auto"/>
        <p:txBody>
          <a:bodyPr/>
          <a:lstStyle/>
          <a:p>
            <a:pPr>
              <a:defRPr/>
            </a:pPr>
            <a:fld id="{9F5014F7-E485-415F-A69C-6237A648DEF6}"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785380448" name="Shape 1058"/>
          <p:cNvSpPr>
            <a:spLocks noGrp="1" noChangeArrowheads="1"/>
          </p:cNvSpPr>
          <p:nvPr userDrawn="1"/>
        </p:nvSpPr>
        <p:spPr bwMode="auto">
          <a:xfrm>
            <a:off x="0" y="2"/>
            <a:ext cx="12191999" cy="6838950"/>
          </a:xfrm>
          <a:custGeom>
            <a:avLst/>
            <a:gdLst/>
            <a:ahLst/>
            <a:cxnLst/>
            <a:rect l="l" t="t" r="r" b="b"/>
            <a:pathLst>
              <a:path w="43200" h="43200" stroke="0" extrusionOk="0">
                <a:moveTo>
                  <a:pt x="0" y="30392"/>
                </a:moveTo>
                <a:lnTo>
                  <a:pt x="0" y="30392"/>
                </a:lnTo>
                <a:cubicBezTo>
                  <a:pt x="0" y="30392"/>
                  <a:pt x="30246" y="52055"/>
                  <a:pt x="43200" y="35131"/>
                </a:cubicBezTo>
                <a:lnTo>
                  <a:pt x="43200" y="0"/>
                </a:lnTo>
                <a:lnTo>
                  <a:pt x="0" y="0"/>
                </a:lnTo>
                <a:lnTo>
                  <a:pt x="0" y="30392"/>
                </a:lnTo>
                <a:close/>
              </a:path>
            </a:pathLst>
          </a:custGeom>
          <a:solidFill>
            <a:schemeClr val="accent1"/>
          </a:solidFill>
          <a:ln w="9524">
            <a:solidFill>
              <a:srgbClr val="000000"/>
            </a:solidFill>
            <a:round/>
            <a:headEnd/>
            <a:tailEnd/>
          </a:ln>
        </p:spPr>
        <p:txBody>
          <a:bodyPr/>
          <a:lstStyle/>
          <a:p>
            <a:endParaRPr lang="en-US"/>
          </a:p>
        </p:txBody>
      </p:sp>
      <p:sp>
        <p:nvSpPr>
          <p:cNvPr id="762809828" name="Shape 1059"/>
          <p:cNvSpPr>
            <a:spLocks noGrp="1" noChangeArrowheads="1"/>
          </p:cNvSpPr>
          <p:nvPr userDrawn="1"/>
        </p:nvSpPr>
        <p:spPr bwMode="auto">
          <a:xfrm>
            <a:off x="0" y="2"/>
            <a:ext cx="12191999" cy="6838950"/>
          </a:xfrm>
          <a:custGeom>
            <a:avLst/>
            <a:gdLst/>
            <a:ahLst/>
            <a:cxnLst/>
            <a:rect l="l" t="t" r="r" b="b"/>
            <a:pathLst>
              <a:path w="43200" h="43200" fill="none" extrusionOk="0">
                <a:moveTo>
                  <a:pt x="-22" y="30392"/>
                </a:moveTo>
                <a:lnTo>
                  <a:pt x="-22" y="30392"/>
                </a:lnTo>
                <a:cubicBezTo>
                  <a:pt x="-22" y="30392"/>
                  <a:pt x="30330" y="52055"/>
                  <a:pt x="43245" y="35131"/>
                </a:cubicBezTo>
              </a:path>
            </a:pathLst>
          </a:custGeom>
          <a:solidFill>
            <a:srgbClr val="FFFFFF"/>
          </a:solidFill>
          <a:ln w="7560">
            <a:solidFill>
              <a:srgbClr val="FFFFFF"/>
            </a:solidFill>
            <a:round/>
            <a:headEnd/>
            <a:tailEnd/>
          </a:ln>
        </p:spPr>
        <p:txBody>
          <a:bodyPr/>
          <a:lstStyle/>
          <a:p>
            <a:endParaRPr lang="en-US"/>
          </a:p>
        </p:txBody>
      </p:sp>
      <p:sp>
        <p:nvSpPr>
          <p:cNvPr id="664379625" name="Shape 1060"/>
          <p:cNvSpPr>
            <a:spLocks noGrp="1" noChangeArrowheads="1"/>
          </p:cNvSpPr>
          <p:nvPr userDrawn="1"/>
        </p:nvSpPr>
        <p:spPr bwMode="auto">
          <a:xfrm>
            <a:off x="0" y="2"/>
            <a:ext cx="12191999" cy="6838950"/>
          </a:xfrm>
          <a:custGeom>
            <a:avLst/>
            <a:gdLst/>
            <a:ahLst/>
            <a:cxnLst/>
            <a:rect l="l" t="t" r="r" b="b"/>
            <a:pathLst>
              <a:path w="43200" h="43200" fill="none" extrusionOk="0">
                <a:moveTo>
                  <a:pt x="-22" y="29977"/>
                </a:moveTo>
                <a:lnTo>
                  <a:pt x="-22" y="29977"/>
                </a:lnTo>
                <a:cubicBezTo>
                  <a:pt x="-22" y="29977"/>
                  <a:pt x="29238" y="51595"/>
                  <a:pt x="43239" y="32973"/>
                </a:cubicBezTo>
              </a:path>
            </a:pathLst>
          </a:custGeom>
          <a:solidFill>
            <a:srgbClr val="FFFFFF"/>
          </a:solidFill>
          <a:ln w="6930">
            <a:solidFill>
              <a:srgbClr val="FFFFFF">
                <a:alpha val="0"/>
              </a:srgbClr>
            </a:solidFill>
            <a:round/>
            <a:headEnd/>
            <a:tailEnd/>
          </a:ln>
        </p:spPr>
        <p:txBody>
          <a:bodyPr/>
          <a:lstStyle/>
          <a:p>
            <a:endParaRPr lang="en-US"/>
          </a:p>
        </p:txBody>
      </p:sp>
      <p:sp>
        <p:nvSpPr>
          <p:cNvPr id="2821661" name="Shape 1061"/>
          <p:cNvSpPr>
            <a:spLocks noGrp="1" noChangeArrowheads="1"/>
          </p:cNvSpPr>
          <p:nvPr userDrawn="1"/>
        </p:nvSpPr>
        <p:spPr bwMode="auto">
          <a:xfrm>
            <a:off x="0" y="2"/>
            <a:ext cx="12191999" cy="6838950"/>
          </a:xfrm>
          <a:custGeom>
            <a:avLst/>
            <a:gdLst/>
            <a:ahLst/>
            <a:cxnLst/>
            <a:rect l="l" t="t" r="r" b="b"/>
            <a:pathLst>
              <a:path w="43200" h="43200" fill="none" extrusionOk="0">
                <a:moveTo>
                  <a:pt x="-22" y="29562"/>
                </a:moveTo>
                <a:lnTo>
                  <a:pt x="-22" y="29562"/>
                </a:lnTo>
                <a:cubicBezTo>
                  <a:pt x="-22" y="29562"/>
                  <a:pt x="28147" y="51135"/>
                  <a:pt x="43233" y="30816"/>
                </a:cubicBezTo>
              </a:path>
            </a:pathLst>
          </a:custGeom>
          <a:solidFill>
            <a:srgbClr val="FFFFFF"/>
          </a:solidFill>
          <a:ln w="6300">
            <a:solidFill>
              <a:srgbClr val="FFFFFF">
                <a:alpha val="77254"/>
              </a:srgbClr>
            </a:solidFill>
            <a:round/>
            <a:headEnd/>
            <a:tailEnd/>
          </a:ln>
        </p:spPr>
        <p:txBody>
          <a:bodyPr/>
          <a:lstStyle/>
          <a:p>
            <a:endParaRPr lang="en-US"/>
          </a:p>
        </p:txBody>
      </p:sp>
      <p:sp>
        <p:nvSpPr>
          <p:cNvPr id="876848649" name="Shape 1062"/>
          <p:cNvSpPr>
            <a:spLocks noGrp="1" noChangeArrowheads="1"/>
          </p:cNvSpPr>
          <p:nvPr userDrawn="1"/>
        </p:nvSpPr>
        <p:spPr bwMode="auto">
          <a:xfrm>
            <a:off x="0" y="2"/>
            <a:ext cx="12191999" cy="6838950"/>
          </a:xfrm>
          <a:custGeom>
            <a:avLst/>
            <a:gdLst/>
            <a:ahLst/>
            <a:cxnLst/>
            <a:rect l="l" t="t" r="r" b="b"/>
            <a:pathLst>
              <a:path w="43200" h="43200" fill="none" extrusionOk="0">
                <a:moveTo>
                  <a:pt x="-22" y="29147"/>
                </a:moveTo>
                <a:lnTo>
                  <a:pt x="-22" y="29147"/>
                </a:lnTo>
                <a:cubicBezTo>
                  <a:pt x="-22" y="29147"/>
                  <a:pt x="27056" y="50675"/>
                  <a:pt x="43228" y="28658"/>
                </a:cubicBezTo>
              </a:path>
            </a:pathLst>
          </a:custGeom>
          <a:solidFill>
            <a:srgbClr val="FFFFFF"/>
          </a:solidFill>
          <a:ln w="5670">
            <a:solidFill>
              <a:srgbClr val="FFFFFF">
                <a:alpha val="65882"/>
              </a:srgbClr>
            </a:solidFill>
            <a:round/>
            <a:headEnd/>
            <a:tailEnd/>
          </a:ln>
        </p:spPr>
        <p:txBody>
          <a:bodyPr/>
          <a:lstStyle/>
          <a:p>
            <a:endParaRPr lang="en-US"/>
          </a:p>
        </p:txBody>
      </p:sp>
      <p:sp>
        <p:nvSpPr>
          <p:cNvPr id="155517834" name="Shape 1063"/>
          <p:cNvSpPr>
            <a:spLocks noGrp="1" noChangeArrowheads="1"/>
          </p:cNvSpPr>
          <p:nvPr userDrawn="1"/>
        </p:nvSpPr>
        <p:spPr bwMode="auto">
          <a:xfrm>
            <a:off x="0" y="2"/>
            <a:ext cx="12191999" cy="6838950"/>
          </a:xfrm>
          <a:custGeom>
            <a:avLst/>
            <a:gdLst/>
            <a:ahLst/>
            <a:cxnLst/>
            <a:rect l="l" t="t" r="r" b="b"/>
            <a:pathLst>
              <a:path w="43200" h="43200" fill="none" extrusionOk="0">
                <a:moveTo>
                  <a:pt x="-22" y="28733"/>
                </a:moveTo>
                <a:lnTo>
                  <a:pt x="-22" y="28733"/>
                </a:lnTo>
                <a:cubicBezTo>
                  <a:pt x="-22" y="28733"/>
                  <a:pt x="25965" y="50214"/>
                  <a:pt x="43222" y="26500"/>
                </a:cubicBezTo>
              </a:path>
            </a:pathLst>
          </a:custGeom>
          <a:solidFill>
            <a:srgbClr val="FFFFFF"/>
          </a:solidFill>
          <a:ln w="5040">
            <a:solidFill>
              <a:srgbClr val="FFFFFF">
                <a:alpha val="54900"/>
              </a:srgbClr>
            </a:solidFill>
            <a:round/>
            <a:headEnd/>
            <a:tailEnd/>
          </a:ln>
        </p:spPr>
        <p:txBody>
          <a:bodyPr/>
          <a:lstStyle/>
          <a:p>
            <a:endParaRPr lang="en-US"/>
          </a:p>
        </p:txBody>
      </p:sp>
      <p:sp>
        <p:nvSpPr>
          <p:cNvPr id="1307955050" name="Shape 1064"/>
          <p:cNvSpPr>
            <a:spLocks noGrp="1" noChangeArrowheads="1"/>
          </p:cNvSpPr>
          <p:nvPr userDrawn="1"/>
        </p:nvSpPr>
        <p:spPr bwMode="auto">
          <a:xfrm>
            <a:off x="0" y="2"/>
            <a:ext cx="12191999" cy="6838950"/>
          </a:xfrm>
          <a:custGeom>
            <a:avLst/>
            <a:gdLst/>
            <a:ahLst/>
            <a:cxnLst/>
            <a:rect l="l" t="t" r="r" b="b"/>
            <a:pathLst>
              <a:path w="43200" h="43200" fill="none" extrusionOk="0">
                <a:moveTo>
                  <a:pt x="-22" y="28319"/>
                </a:moveTo>
                <a:lnTo>
                  <a:pt x="-22" y="28319"/>
                </a:lnTo>
                <a:cubicBezTo>
                  <a:pt x="-22" y="28319"/>
                  <a:pt x="24873" y="49754"/>
                  <a:pt x="43216" y="24342"/>
                </a:cubicBezTo>
              </a:path>
            </a:pathLst>
          </a:custGeom>
          <a:solidFill>
            <a:srgbClr val="FFFFFF"/>
          </a:solidFill>
          <a:ln w="4410">
            <a:solidFill>
              <a:srgbClr val="FFFFFF">
                <a:alpha val="43529"/>
              </a:srgbClr>
            </a:solidFill>
            <a:round/>
            <a:headEnd/>
            <a:tailEnd/>
          </a:ln>
        </p:spPr>
        <p:txBody>
          <a:bodyPr/>
          <a:lstStyle/>
          <a:p>
            <a:endParaRPr lang="en-US"/>
          </a:p>
        </p:txBody>
      </p:sp>
      <p:sp>
        <p:nvSpPr>
          <p:cNvPr id="3428146" name="Shape 1065"/>
          <p:cNvSpPr>
            <a:spLocks noGrp="1" noChangeArrowheads="1"/>
          </p:cNvSpPr>
          <p:nvPr userDrawn="1"/>
        </p:nvSpPr>
        <p:spPr bwMode="auto">
          <a:xfrm>
            <a:off x="0" y="2"/>
            <a:ext cx="12191999" cy="6838950"/>
          </a:xfrm>
          <a:custGeom>
            <a:avLst/>
            <a:gdLst/>
            <a:ahLst/>
            <a:cxnLst/>
            <a:rect l="l" t="t" r="r" b="b"/>
            <a:pathLst>
              <a:path w="43200" h="43200" fill="none" extrusionOk="0">
                <a:moveTo>
                  <a:pt x="-22" y="27904"/>
                </a:moveTo>
                <a:lnTo>
                  <a:pt x="-22" y="27904"/>
                </a:lnTo>
                <a:cubicBezTo>
                  <a:pt x="-22" y="27904"/>
                  <a:pt x="23782" y="49294"/>
                  <a:pt x="43211" y="22185"/>
                </a:cubicBezTo>
              </a:path>
            </a:pathLst>
          </a:custGeom>
          <a:solidFill>
            <a:srgbClr val="FFFFFF"/>
          </a:solidFill>
          <a:ln w="3780">
            <a:solidFill>
              <a:srgbClr val="FFFFFF">
                <a:alpha val="32156"/>
              </a:srgbClr>
            </a:solidFill>
            <a:round/>
            <a:headEnd/>
            <a:tailEnd/>
          </a:ln>
        </p:spPr>
        <p:txBody>
          <a:bodyPr/>
          <a:lstStyle/>
          <a:p>
            <a:endParaRPr lang="en-US"/>
          </a:p>
        </p:txBody>
      </p:sp>
      <p:sp>
        <p:nvSpPr>
          <p:cNvPr id="1360652725" name="Shape 1066"/>
          <p:cNvSpPr>
            <a:spLocks noGrp="1" noChangeArrowheads="1"/>
          </p:cNvSpPr>
          <p:nvPr userDrawn="1"/>
        </p:nvSpPr>
        <p:spPr bwMode="auto">
          <a:xfrm>
            <a:off x="0" y="2"/>
            <a:ext cx="12191999" cy="6838950"/>
          </a:xfrm>
          <a:custGeom>
            <a:avLst/>
            <a:gdLst/>
            <a:ahLst/>
            <a:cxnLst/>
            <a:rect l="l" t="t" r="r" b="b"/>
            <a:pathLst>
              <a:path w="43200" h="43200" fill="none" extrusionOk="0">
                <a:moveTo>
                  <a:pt x="-22" y="27489"/>
                </a:moveTo>
                <a:lnTo>
                  <a:pt x="-22" y="27489"/>
                </a:lnTo>
                <a:cubicBezTo>
                  <a:pt x="-22" y="27489"/>
                  <a:pt x="22691" y="48834"/>
                  <a:pt x="43205" y="20027"/>
                </a:cubicBezTo>
              </a:path>
            </a:pathLst>
          </a:custGeom>
          <a:solidFill>
            <a:srgbClr val="FFFFFF"/>
          </a:solidFill>
          <a:ln w="3150">
            <a:solidFill>
              <a:srgbClr val="FFFFFF">
                <a:alpha val="21176"/>
              </a:srgbClr>
            </a:solidFill>
            <a:round/>
            <a:headEnd/>
            <a:tailEnd/>
          </a:ln>
        </p:spPr>
        <p:txBody>
          <a:bodyPr/>
          <a:lstStyle/>
          <a:p>
            <a:endParaRPr lang="en-US"/>
          </a:p>
        </p:txBody>
      </p:sp>
      <p:sp>
        <p:nvSpPr>
          <p:cNvPr id="1953631267" name="Shape 1067"/>
          <p:cNvSpPr>
            <a:spLocks noGrp="1" noChangeArrowheads="1"/>
          </p:cNvSpPr>
          <p:nvPr userDrawn="1"/>
        </p:nvSpPr>
        <p:spPr bwMode="auto">
          <a:xfrm>
            <a:off x="0" y="2"/>
            <a:ext cx="12191999" cy="6838950"/>
          </a:xfrm>
          <a:custGeom>
            <a:avLst/>
            <a:gdLst/>
            <a:ahLst/>
            <a:cxnLst/>
            <a:rect l="l" t="t" r="r" b="b"/>
            <a:pathLst>
              <a:path w="43200" h="43200" fill="none" extrusionOk="0">
                <a:moveTo>
                  <a:pt x="-22" y="27075"/>
                </a:moveTo>
                <a:lnTo>
                  <a:pt x="-22" y="27075"/>
                </a:lnTo>
                <a:cubicBezTo>
                  <a:pt x="-22" y="27075"/>
                  <a:pt x="21600" y="48374"/>
                  <a:pt x="43200" y="17869"/>
                </a:cubicBezTo>
              </a:path>
            </a:pathLst>
          </a:custGeom>
          <a:solidFill>
            <a:srgbClr val="FFFFFF"/>
          </a:solidFill>
          <a:ln w="2520">
            <a:solidFill>
              <a:srgbClr val="FFFFFF">
                <a:alpha val="9803"/>
              </a:srgbClr>
            </a:solidFill>
            <a:round/>
            <a:headEnd/>
            <a:tailEnd/>
          </a:ln>
        </p:spPr>
        <p:txBody>
          <a:bodyPr/>
          <a:lstStyle/>
          <a:p>
            <a:endParaRPr lang="en-US"/>
          </a:p>
        </p:txBody>
      </p:sp>
      <p:sp>
        <p:nvSpPr>
          <p:cNvPr id="1153621472" name="Text Placeholder 2"/>
          <p:cNvSpPr>
            <a:spLocks noGrp="1"/>
          </p:cNvSpPr>
          <p:nvPr>
            <p:ph type="body" idx="1"/>
          </p:nvPr>
        </p:nvSpPr>
        <p:spPr bwMode="auto">
          <a:xfrm>
            <a:off x="609599" y="1600201"/>
            <a:ext cx="10972800" cy="4525962"/>
          </a:xfrm>
          <a:prstGeom prst="rect">
            <a:avLst/>
          </a:prstGeom>
        </p:spPr>
        <p:txBody>
          <a:bodyPr vert="horz" lIns="91440" tIns="45720" rIns="91440" bIns="45720" rtlCol="0">
            <a:normAutofit/>
          </a:bodyPr>
          <a:lstStyle/>
          <a:p>
            <a:pPr lvl="0">
              <a:defRPr/>
            </a:pPr>
            <a:r>
              <a:t>Click to edit Master text styles</a:t>
            </a:r>
          </a:p>
          <a:p>
            <a:pPr lvl="1">
              <a:defRPr/>
            </a:pPr>
            <a:r>
              <a:t>Second level</a:t>
            </a:r>
          </a:p>
          <a:p>
            <a:pPr lvl="2">
              <a:defRPr/>
            </a:pPr>
            <a:r>
              <a:t>Third level</a:t>
            </a:r>
          </a:p>
          <a:p>
            <a:pPr lvl="3">
              <a:defRPr/>
            </a:pPr>
            <a:r>
              <a:t>Fourth level</a:t>
            </a:r>
          </a:p>
          <a:p>
            <a:pPr lvl="4">
              <a:defRPr/>
            </a:pPr>
            <a:r>
              <a:t>Fifth level</a:t>
            </a:r>
          </a:p>
        </p:txBody>
      </p:sp>
      <p:sp>
        <p:nvSpPr>
          <p:cNvPr id="1658419997" name="Date Placeholder 3"/>
          <p:cNvSpPr>
            <a:spLocks noGrp="1"/>
          </p:cNvSpPr>
          <p:nvPr>
            <p:ph type="dt" sz="half" idx="2"/>
          </p:nvPr>
        </p:nvSpPr>
        <p:spPr bwMode="auto">
          <a:xfrm>
            <a:off x="609599" y="6356351"/>
            <a:ext cx="2844799"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D328A2AD-CA6C-4CEE-80DD-5B3591997DB0}" type="datetimeFigureOut">
              <a:rPr lang="en-US"/>
              <a:t>3/4/2026</a:t>
            </a:fld>
            <a:endParaRPr/>
          </a:p>
        </p:txBody>
      </p:sp>
      <p:sp>
        <p:nvSpPr>
          <p:cNvPr id="353174726" name="Footer Placeholder 4"/>
          <p:cNvSpPr>
            <a:spLocks noGrp="1"/>
          </p:cNvSpPr>
          <p:nvPr>
            <p:ph type="ftr" sz="quarter" idx="3"/>
          </p:nvPr>
        </p:nvSpPr>
        <p:spPr bwMode="auto">
          <a:xfrm>
            <a:off x="4165599" y="6356351"/>
            <a:ext cx="38607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a:p>
        </p:txBody>
      </p:sp>
      <p:sp>
        <p:nvSpPr>
          <p:cNvPr id="1391091640" name="Slide Number Placeholder 5"/>
          <p:cNvSpPr>
            <a:spLocks noGrp="1"/>
          </p:cNvSpPr>
          <p:nvPr>
            <p:ph type="sldNum" sz="quarter" idx="4"/>
          </p:nvPr>
        </p:nvSpPr>
        <p:spPr bwMode="auto">
          <a:xfrm>
            <a:off x="8737599" y="6356351"/>
            <a:ext cx="2844799"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F5014F7-E485-415F-A69C-6237A648DEF6}" type="slidenum">
              <a:rPr/>
              <a:t>‹#›</a:t>
            </a:fld>
            <a:endParaRPr/>
          </a:p>
        </p:txBody>
      </p:sp>
      <p:sp>
        <p:nvSpPr>
          <p:cNvPr id="1820258578" name="Title 1"/>
          <p:cNvSpPr>
            <a:spLocks noGrp="1"/>
          </p:cNvSpPr>
          <p:nvPr>
            <p:ph type="title"/>
          </p:nvPr>
        </p:nvSpPr>
        <p:spPr bwMode="auto">
          <a:xfrm>
            <a:off x="609599" y="274638"/>
            <a:ext cx="10972800" cy="1143000"/>
          </a:xfrm>
          <a:prstGeom prst="rect">
            <a:avLst/>
          </a:prstGeom>
        </p:spPr>
        <p:txBody>
          <a:bodyPr vert="horz" lIns="91440" tIns="45720" rIns="91440" bIns="45720" rtlCol="0" anchor="ctr">
            <a:normAutofit/>
          </a:bodyPr>
          <a:lstStyle/>
          <a:p>
            <a:pPr>
              <a:defRPr/>
            </a:pPr>
            <a:r>
              <a:t>Click to edit Master title style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a:spcBef>
          <a:spcPts val="0"/>
        </a:spcBef>
        <a:buNone/>
        <a:defRPr sz="4400" b="1">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599"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02720336" name="Title 1"/>
          <p:cNvSpPr>
            <a:spLocks noGrp="1"/>
          </p:cNvSpPr>
          <p:nvPr>
            <p:ph type="ctrTitle"/>
          </p:nvPr>
        </p:nvSpPr>
        <p:spPr bwMode="auto"/>
        <p:txBody>
          <a:bodyPr>
            <a:normAutofit/>
          </a:bodyPr>
          <a:lstStyle/>
          <a:p>
            <a:pPr>
              <a:defRPr/>
            </a:pPr>
            <a:r>
              <a:rPr lang="en-US" sz="3200" b="1" dirty="0">
                <a:solidFill>
                  <a:schemeClr val="bg1"/>
                </a:solidFill>
                <a:latin typeface="Calibri"/>
                <a:ea typeface="Calibri"/>
                <a:cs typeface="Calibri"/>
              </a:rPr>
              <a:t>KUZA CAPITAL FINANCE</a:t>
            </a:r>
            <a:endParaRPr sz="3200" dirty="0">
              <a:latin typeface="Calibri"/>
              <a:cs typeface="Calibri"/>
            </a:endParaRPr>
          </a:p>
        </p:txBody>
      </p:sp>
      <p:sp>
        <p:nvSpPr>
          <p:cNvPr id="270354677" name="Subtitle 2"/>
          <p:cNvSpPr>
            <a:spLocks noGrp="1"/>
          </p:cNvSpPr>
          <p:nvPr>
            <p:ph type="subTitle" idx="1"/>
          </p:nvPr>
        </p:nvSpPr>
        <p:spPr bwMode="auto"/>
        <p:txBody>
          <a:bodyPr>
            <a:normAutofit/>
          </a:bodyPr>
          <a:lstStyle/>
          <a:p>
            <a:pPr>
              <a:defRPr/>
            </a:pPr>
            <a:r>
              <a:rPr lang="en-US" sz="2200" b="1" dirty="0">
                <a:solidFill>
                  <a:schemeClr val="bg1"/>
                </a:solidFill>
                <a:latin typeface="Calibri"/>
                <a:ea typeface="Calibri"/>
                <a:cs typeface="Calibri"/>
              </a:rPr>
              <a:t>ALL IN ONE NEW SYSTEM </a:t>
            </a:r>
            <a:endParaRPr sz="2200" b="1" dirty="0">
              <a:solidFill>
                <a:schemeClr val="bg1"/>
              </a:solidFill>
              <a:latin typeface="Calibri"/>
              <a:cs typeface="Calibri"/>
            </a:endParaRPr>
          </a:p>
          <a:p>
            <a:pPr>
              <a:defRPr/>
            </a:pPr>
            <a:r>
              <a:rPr lang="en-US" sz="2200" b="1" dirty="0">
                <a:solidFill>
                  <a:schemeClr val="bg1"/>
                </a:solidFill>
                <a:latin typeface="Calibri"/>
                <a:ea typeface="Calibri"/>
                <a:cs typeface="Calibri"/>
              </a:rPr>
              <a:t>PROCESS FLOWS</a:t>
            </a:r>
          </a:p>
          <a:p>
            <a:pPr>
              <a:defRPr/>
            </a:pPr>
            <a:r>
              <a:rPr lang="en-US" sz="2200" b="1" dirty="0">
                <a:solidFill>
                  <a:schemeClr val="bg1"/>
                </a:solidFill>
                <a:latin typeface="Calibri"/>
                <a:ea typeface="Calibri"/>
                <a:cs typeface="Calibri"/>
              </a:rPr>
              <a:t>Date: March 02, 2026</a:t>
            </a:r>
            <a:endParaRPr lang="en-US" sz="2200" b="1" dirty="0">
              <a:latin typeface="Calibri"/>
              <a:cs typeface="Calibri"/>
            </a:endParaRPr>
          </a:p>
          <a:p>
            <a:pPr>
              <a:defRPr/>
            </a:pPr>
            <a:endParaRPr sz="2200" dirty="0">
              <a:latin typeface="Calibri"/>
              <a:cs typeface="Calibri"/>
            </a:endParaRPr>
          </a:p>
        </p:txBody>
      </p:sp>
      <p:pic>
        <p:nvPicPr>
          <p:cNvPr id="1078790368" name="Google Shape;62;p13" title="Kuza_logo-removebg-preview.png"/>
          <p:cNvPicPr/>
          <p:nvPr/>
        </p:nvPicPr>
        <p:blipFill rotWithShape="1">
          <a:blip r:embed="rId3"/>
          <a:stretch/>
        </p:blipFill>
        <p:spPr bwMode="auto">
          <a:xfrm>
            <a:off x="387307" y="6206612"/>
            <a:ext cx="966200" cy="41479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4234121"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dirty="0">
                <a:solidFill>
                  <a:schemeClr val="bg1"/>
                </a:solidFill>
                <a:latin typeface="Calibri"/>
                <a:ea typeface="Calibri"/>
                <a:cs typeface="Calibri"/>
              </a:rPr>
              <a:t>KUZA BIASHARA </a:t>
            </a:r>
            <a:r>
              <a:rPr sz="2200" dirty="0">
                <a:solidFill>
                  <a:schemeClr val="bg1"/>
                </a:solidFill>
                <a:latin typeface="Calibri"/>
                <a:ea typeface="Calibri"/>
                <a:cs typeface="Calibri"/>
              </a:rPr>
              <a:t>PRODUCTS</a:t>
            </a:r>
            <a:endParaRPr sz="2200" dirty="0">
              <a:latin typeface="Calibri"/>
              <a:cs typeface="Calibri"/>
            </a:endParaRPr>
          </a:p>
        </p:txBody>
      </p:sp>
      <p:sp>
        <p:nvSpPr>
          <p:cNvPr id="176951055" name="Content Placeholder 2"/>
          <p:cNvSpPr>
            <a:spLocks noGrp="1"/>
          </p:cNvSpPr>
          <p:nvPr>
            <p:ph idx="1"/>
          </p:nvPr>
        </p:nvSpPr>
        <p:spPr bwMode="auto"/>
        <p:txBody>
          <a:bodyPr>
            <a:normAutofit/>
          </a:bodyPr>
          <a:lstStyle/>
          <a:p>
            <a:pPr>
              <a:buFont typeface="Wingdings"/>
              <a:buChar char="Ø"/>
              <a:defRPr/>
            </a:pPr>
            <a:r>
              <a:rPr sz="2200" b="1" dirty="0">
                <a:solidFill>
                  <a:schemeClr val="bg1"/>
                </a:solidFill>
                <a:latin typeface="Calibri"/>
                <a:ea typeface="Calibri"/>
                <a:cs typeface="Calibri"/>
              </a:rPr>
              <a:t>KUZA BODA</a:t>
            </a:r>
          </a:p>
          <a:p>
            <a:pPr>
              <a:buFont typeface="Wingdings"/>
              <a:buChar char="Ø"/>
              <a:defRPr/>
            </a:pPr>
            <a:r>
              <a:rPr lang="en-US" sz="2200" b="1" i="0" u="none" strike="noStrike" cap="none" spc="0" dirty="0">
                <a:solidFill>
                  <a:schemeClr val="bg1"/>
                </a:solidFill>
                <a:latin typeface="Calibri"/>
                <a:ea typeface="Calibri"/>
                <a:cs typeface="Calibri"/>
              </a:rPr>
              <a:t>KUZA SOKONI</a:t>
            </a:r>
            <a:endParaRPr sz="2200" b="1" dirty="0">
              <a:solidFill>
                <a:schemeClr val="bg1"/>
              </a:solidFill>
              <a:latin typeface="Calibri"/>
              <a:cs typeface="Calibri"/>
            </a:endParaRPr>
          </a:p>
          <a:p>
            <a:pPr>
              <a:buFont typeface="Wingdings"/>
              <a:buChar char="Ø"/>
              <a:defRPr/>
            </a:pPr>
            <a:r>
              <a:rPr sz="2200" b="1" dirty="0">
                <a:solidFill>
                  <a:schemeClr val="bg1"/>
                </a:solidFill>
                <a:latin typeface="Calibri"/>
                <a:ea typeface="Calibri"/>
                <a:cs typeface="Calibri"/>
              </a:rPr>
              <a:t>KUZA WAFANYAKAZI (SPECIAL GROUP)</a:t>
            </a:r>
            <a:endParaRPr sz="2200" b="1" dirty="0">
              <a:solidFill>
                <a:schemeClr val="bg1"/>
              </a:solidFill>
              <a:latin typeface="Calibri"/>
              <a:cs typeface="Calibri"/>
            </a:endParaRPr>
          </a:p>
          <a:p>
            <a:pPr>
              <a:buFont typeface="Wingdings"/>
              <a:buChar char="Ø"/>
              <a:defRPr/>
            </a:pPr>
            <a:r>
              <a:rPr sz="2200" b="1" dirty="0">
                <a:solidFill>
                  <a:schemeClr val="bg1"/>
                </a:solidFill>
                <a:latin typeface="Calibri"/>
                <a:ea typeface="Calibri"/>
                <a:cs typeface="Calibri"/>
              </a:rPr>
              <a:t>KUZA SIMU</a:t>
            </a:r>
          </a:p>
          <a:p>
            <a:pPr>
              <a:buFont typeface="Wingdings"/>
              <a:buChar char="Ø"/>
              <a:defRPr/>
            </a:pPr>
            <a:r>
              <a:rPr sz="2200" b="1" dirty="0">
                <a:solidFill>
                  <a:schemeClr val="bg1"/>
                </a:solidFill>
                <a:latin typeface="Calibri"/>
                <a:ea typeface="Calibri"/>
                <a:cs typeface="Calibri"/>
              </a:rPr>
              <a:t>OTHERS....</a:t>
            </a:r>
            <a:endParaRPr sz="2200" dirty="0">
              <a:latin typeface="Calibri"/>
              <a:cs typeface="Calibri"/>
            </a:endParaRPr>
          </a:p>
        </p:txBody>
      </p:sp>
      <p:pic>
        <p:nvPicPr>
          <p:cNvPr id="906454390"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75169153" name="Title 1"/>
          <p:cNvSpPr>
            <a:spLocks noGrp="1"/>
          </p:cNvSpPr>
          <p:nvPr>
            <p:ph type="title"/>
          </p:nvPr>
        </p:nvSpPr>
        <p:spPr bwMode="auto"/>
        <p:txBody>
          <a:bodyPr>
            <a:normAutofit/>
          </a:bodyPr>
          <a:lstStyle/>
          <a:p>
            <a:pPr algn="ctr">
              <a:lnSpc>
                <a:spcPct val="100000"/>
              </a:lnSpc>
              <a:spcBef>
                <a:spcPts val="0"/>
              </a:spcBef>
              <a:spcAft>
                <a:spcPts val="0"/>
              </a:spcAft>
              <a:defRPr/>
            </a:pPr>
            <a:r>
              <a:rPr lang="en-US" sz="2200" b="1" i="0" u="none" strike="noStrike" cap="none" spc="0" dirty="0">
                <a:solidFill>
                  <a:schemeClr val="bg1"/>
                </a:solidFill>
                <a:latin typeface="Calibri"/>
                <a:ea typeface="Calibri"/>
                <a:cs typeface="Calibri"/>
              </a:rPr>
              <a:t>OVERVIEW OF KUZA BODA SYSTEM</a:t>
            </a:r>
            <a:endParaRPr sz="2200" b="1" dirty="0">
              <a:latin typeface="Calibri"/>
              <a:cs typeface="Calibri"/>
            </a:endParaRPr>
          </a:p>
        </p:txBody>
      </p:sp>
      <p:sp>
        <p:nvSpPr>
          <p:cNvPr id="1578415307" name="Content Placeholder 2"/>
          <p:cNvSpPr>
            <a:spLocks noGrp="1"/>
          </p:cNvSpPr>
          <p:nvPr>
            <p:ph idx="1"/>
          </p:nvPr>
        </p:nvSpPr>
        <p:spPr bwMode="auto">
          <a:xfrm>
            <a:off x="609599" y="1036075"/>
            <a:ext cx="10972800" cy="4525962"/>
          </a:xfrm>
        </p:spPr>
        <p:txBody>
          <a:bodyPr vertOverflow="overflow" horzOverflow="overflow" vert="horz" wrap="square" lIns="91440" tIns="45720" rIns="91440" bIns="45720" numCol="1" spcCol="0" rtlCol="0" fromWordArt="0" anchor="t" anchorCtr="0" forceAA="0" compatLnSpc="0">
            <a:normAutofit fontScale="87500" lnSpcReduction="14000"/>
          </a:bodyPr>
          <a:lstStyle/>
          <a:p>
            <a:pPr marL="0" marR="0" indent="0" algn="l">
              <a:lnSpc>
                <a:spcPct val="100000"/>
              </a:lnSpc>
              <a:spcBef>
                <a:spcPts val="0"/>
              </a:spcBef>
              <a:spcAft>
                <a:spcPts val="0"/>
              </a:spcAft>
              <a:buNone/>
              <a:defRPr/>
            </a:pPr>
            <a:endParaRPr lang="en-US" sz="2200" b="0" i="0" u="none" strike="noStrike" cap="none" spc="0" dirty="0">
              <a:solidFill>
                <a:schemeClr val="bg1"/>
              </a:solidFill>
              <a:latin typeface="Calibri"/>
              <a:cs typeface="Calibri"/>
            </a:endParaRPr>
          </a:p>
          <a:p>
            <a:pPr>
              <a:buFont typeface="Arial" panose="020B0604020202020204" pitchFamily="34" charset="0"/>
              <a:buChar char="•"/>
              <a:defRPr/>
            </a:pPr>
            <a:r>
              <a:rPr lang="en-US" sz="2200" b="1" dirty="0">
                <a:solidFill>
                  <a:schemeClr val="bg1"/>
                </a:solidFill>
                <a:latin typeface="Calibri"/>
                <a:ea typeface="Calibri"/>
                <a:cs typeface="Calibri"/>
              </a:rPr>
              <a:t>Product Description: </a:t>
            </a:r>
            <a:r>
              <a:rPr lang="en-US" sz="2200" dirty="0">
                <a:solidFill>
                  <a:schemeClr val="bg1"/>
                </a:solidFill>
                <a:latin typeface="Calibri"/>
                <a:ea typeface="Calibri"/>
                <a:cs typeface="Calibri"/>
              </a:rPr>
              <a:t>KuzaBoda provides assets financing for motorcycle (boda boda) riders, focusing on tires/stock via 30-day loans; targets youth and undeserved communities.</a:t>
            </a:r>
          </a:p>
          <a:p>
            <a:pPr marL="0" marR="0" indent="0" algn="l">
              <a:lnSpc>
                <a:spcPct val="100000"/>
              </a:lnSpc>
              <a:spcBef>
                <a:spcPts val="0"/>
              </a:spcBef>
              <a:spcAft>
                <a:spcPts val="0"/>
              </a:spcAft>
              <a:buNone/>
              <a:defRPr/>
            </a:pPr>
            <a:endParaRPr sz="2200" b="0"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Stakeholders: </a:t>
            </a:r>
            <a:r>
              <a:rPr lang="en-US" sz="2200" b="0" i="0" u="none" strike="noStrike" cap="none" spc="0" dirty="0">
                <a:solidFill>
                  <a:schemeClr val="bg1"/>
                </a:solidFill>
                <a:latin typeface="Calibri"/>
                <a:ea typeface="Calibri"/>
                <a:cs typeface="Calibri"/>
              </a:rPr>
              <a:t>Boda Riders, One Stop Sales Point Leaders, District/Ward Leaders, Field Operations, Finance Team, Tech Team, Directors, Store Keepers.</a:t>
            </a:r>
            <a:endParaRPr sz="2200" b="0" i="0" u="none" strike="noStrike" cap="none" spc="0" dirty="0">
              <a:solidFill>
                <a:schemeClr val="bg1"/>
              </a:solidFill>
              <a:latin typeface="Calibri"/>
              <a:cs typeface="Calibri"/>
            </a:endParaRPr>
          </a:p>
        </p:txBody>
      </p:sp>
      <p:pic>
        <p:nvPicPr>
          <p:cNvPr id="1697549048"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
        <p:nvSpPr>
          <p:cNvPr id="2" name="Title 1">
            <a:extLst>
              <a:ext uri="{FF2B5EF4-FFF2-40B4-BE49-F238E27FC236}">
                <a16:creationId xmlns:a16="http://schemas.microsoft.com/office/drawing/2014/main" id="{F64FFFCB-1ABF-7BD4-B77E-3050207AACB0}"/>
              </a:ext>
            </a:extLst>
          </p:cNvPr>
          <p:cNvSpPr txBox="1">
            <a:spLocks/>
          </p:cNvSpPr>
          <p:nvPr/>
        </p:nvSpPr>
        <p:spPr bwMode="auto">
          <a:xfrm>
            <a:off x="914311" y="3443659"/>
            <a:ext cx="5309508" cy="1311379"/>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342900" lvl="0" indent="-342900">
              <a:buFont typeface="Wingdings" panose="05000000000000000000" pitchFamily="2" charset="2"/>
              <a:buChar char="v"/>
            </a:pPr>
            <a:r>
              <a:rPr lang="en-US" sz="2000" dirty="0">
                <a:solidFill>
                  <a:schemeClr val="bg1"/>
                </a:solidFill>
                <a:latin typeface="Calibri"/>
                <a:ea typeface="Calibri"/>
                <a:cs typeface="Calibri"/>
              </a:rPr>
              <a:t>Semi-manual processes with USSD, physical verifications, forms; prone to delays, errors.</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itle 1">
            <a:extLst>
              <a:ext uri="{FF2B5EF4-FFF2-40B4-BE49-F238E27FC236}">
                <a16:creationId xmlns:a16="http://schemas.microsoft.com/office/drawing/2014/main" id="{91703E1B-5960-4E77-2340-BCDA5BE94F41}"/>
              </a:ext>
            </a:extLst>
          </p:cNvPr>
          <p:cNvSpPr txBox="1">
            <a:spLocks/>
          </p:cNvSpPr>
          <p:nvPr/>
        </p:nvSpPr>
        <p:spPr bwMode="auto">
          <a:xfrm>
            <a:off x="6381134" y="3443660"/>
            <a:ext cx="5132439" cy="1311379"/>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algn="just"/>
            <a:r>
              <a:rPr lang="en-US" sz="1800" b="0" dirty="0">
                <a:solidFill>
                  <a:schemeClr val="bg1"/>
                </a:solidFill>
                <a:latin typeface="Calibri"/>
                <a:ea typeface="Calibri"/>
                <a:cs typeface="Calibri"/>
              </a:rPr>
              <a:t> </a:t>
            </a:r>
          </a:p>
          <a:p>
            <a:pPr marL="285750" indent="-285750" algn="just">
              <a:buFont typeface="Wingdings" panose="05000000000000000000" pitchFamily="2" charset="2"/>
              <a:buChar char="ü"/>
            </a:pPr>
            <a:r>
              <a:rPr lang="en-US" sz="1800" dirty="0">
                <a:solidFill>
                  <a:schemeClr val="bg1"/>
                </a:solidFill>
                <a:latin typeface="Calibri"/>
                <a:ea typeface="Calibri"/>
                <a:cs typeface="Calibri"/>
              </a:rPr>
              <a:t>Automated system with USSD/App/Web access, integrations (MNOs, ERP), role-based controls; improves efficiency, compliance.</a:t>
            </a:r>
            <a:endParaRPr lang="en-US" sz="1800" dirty="0">
              <a:solidFill>
                <a:schemeClr val="bg1"/>
              </a:solidFill>
              <a:latin typeface="Calibri"/>
              <a:cs typeface="Calibri"/>
            </a:endParaRPr>
          </a:p>
          <a:p>
            <a:pPr marL="285750" lvl="0" indent="-285750" algn="just">
              <a:buFont typeface="Wingdings" panose="05000000000000000000" pitchFamily="2" charset="2"/>
              <a:buChar char="ü"/>
            </a:pP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2F44A667-BCE5-FDFD-95BD-65588DC7BA75}"/>
              </a:ext>
            </a:extLst>
          </p:cNvPr>
          <p:cNvSpPr txBox="1">
            <a:spLocks/>
          </p:cNvSpPr>
          <p:nvPr/>
        </p:nvSpPr>
        <p:spPr bwMode="auto">
          <a:xfrm>
            <a:off x="2841481" y="2869210"/>
            <a:ext cx="1474838" cy="52209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AS IS </a:t>
            </a:r>
          </a:p>
        </p:txBody>
      </p:sp>
      <p:sp>
        <p:nvSpPr>
          <p:cNvPr id="5" name="Title 1">
            <a:extLst>
              <a:ext uri="{FF2B5EF4-FFF2-40B4-BE49-F238E27FC236}">
                <a16:creationId xmlns:a16="http://schemas.microsoft.com/office/drawing/2014/main" id="{2B96D045-4A9E-A8E5-7791-E01E8C4B3A87}"/>
              </a:ext>
            </a:extLst>
          </p:cNvPr>
          <p:cNvSpPr txBox="1">
            <a:spLocks/>
          </p:cNvSpPr>
          <p:nvPr/>
        </p:nvSpPr>
        <p:spPr bwMode="auto">
          <a:xfrm>
            <a:off x="7924821" y="2869210"/>
            <a:ext cx="1474838" cy="52209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TO BE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96463006" name="Title 1"/>
          <p:cNvSpPr>
            <a:spLocks noGrp="1"/>
          </p:cNvSpPr>
          <p:nvPr>
            <p:ph type="title"/>
          </p:nvPr>
        </p:nvSpPr>
        <p:spPr bwMode="auto"/>
        <p:txBody>
          <a:bodyPr>
            <a:normAutofit/>
          </a:bodyPr>
          <a:lstStyle/>
          <a:p>
            <a:pPr>
              <a:defRPr/>
            </a:pPr>
            <a:r>
              <a:rPr lang="en-US" sz="2200" b="1" i="0" u="none" strike="noStrike" cap="none" spc="0" dirty="0">
                <a:solidFill>
                  <a:schemeClr val="bg1"/>
                </a:solidFill>
                <a:latin typeface="Calibri"/>
                <a:ea typeface="Calibri"/>
                <a:cs typeface="Calibri"/>
              </a:rPr>
              <a:t>KUZA BODA ( AS IS VS TO BE)</a:t>
            </a:r>
            <a:endParaRPr sz="2200" dirty="0">
              <a:latin typeface="Calibri"/>
              <a:cs typeface="Calibri"/>
            </a:endParaRPr>
          </a:p>
        </p:txBody>
      </p:sp>
      <p:graphicFrame>
        <p:nvGraphicFramePr>
          <p:cNvPr id="1450756646" name="Content Placeholder 1675796645"/>
          <p:cNvGraphicFramePr>
            <a:graphicFrameLocks noGrp="1"/>
          </p:cNvGraphicFramePr>
          <p:nvPr>
            <p:ph idx="1"/>
            <p:extLst>
              <p:ext uri="{D42A27DB-BD31-4B8C-83A1-F6EECF244321}">
                <p14:modId xmlns:p14="http://schemas.microsoft.com/office/powerpoint/2010/main" val="643991969"/>
              </p:ext>
            </p:extLst>
          </p:nvPr>
        </p:nvGraphicFramePr>
        <p:xfrm>
          <a:off x="609599" y="1600201"/>
          <a:ext cx="10972800" cy="3784923"/>
        </p:xfrm>
        <a:graphic>
          <a:graphicData uri="http://schemas.openxmlformats.org/drawingml/2006/table">
            <a:tbl>
              <a:tblPr firstRow="1" bandRow="1">
                <a:effectLst/>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84523">
                <a:tc>
                  <a:txBody>
                    <a:bodyPr/>
                    <a:lstStyle/>
                    <a:p>
                      <a:pPr>
                        <a:defRPr/>
                      </a:pPr>
                      <a:r>
                        <a:rPr sz="1800" b="1" i="0" u="none" dirty="0">
                          <a:solidFill>
                            <a:schemeClr val="bg1"/>
                          </a:solidFill>
                          <a:latin typeface="Calibri"/>
                          <a:ea typeface="Calibri"/>
                          <a:cs typeface="Calibri"/>
                        </a:rPr>
                        <a:t>PROCESS</a:t>
                      </a:r>
                      <a:endParaRPr sz="1800" b="1" dirty="0">
                        <a:latin typeface="Calibri"/>
                        <a:cs typeface="Calibri"/>
                      </a:endParaRPr>
                    </a:p>
                  </a:txBody>
                  <a:tcPr/>
                </a:tc>
                <a:tc>
                  <a:txBody>
                    <a:bodyPr/>
                    <a:lstStyle/>
                    <a:p>
                      <a:pPr>
                        <a:defRPr/>
                      </a:pPr>
                      <a:r>
                        <a:rPr sz="1800" b="1" i="0" u="none">
                          <a:solidFill>
                            <a:schemeClr val="bg1"/>
                          </a:solidFill>
                          <a:latin typeface="Calibri"/>
                          <a:ea typeface="Calibri"/>
                          <a:cs typeface="Calibri"/>
                        </a:rPr>
                        <a:t>AS-IS (CHALLENGES)</a:t>
                      </a:r>
                      <a:endParaRPr sz="1800" b="1">
                        <a:latin typeface="Calibri"/>
                        <a:cs typeface="Calibri"/>
                      </a:endParaRPr>
                    </a:p>
                  </a:txBody>
                  <a:tcPr/>
                </a:tc>
                <a:tc>
                  <a:txBody>
                    <a:bodyPr/>
                    <a:lstStyle/>
                    <a:p>
                      <a:pPr>
                        <a:defRPr/>
                      </a:pPr>
                      <a:r>
                        <a:rPr sz="1800" b="1" i="0" u="none" dirty="0">
                          <a:solidFill>
                            <a:schemeClr val="bg1"/>
                          </a:solidFill>
                          <a:latin typeface="Calibri"/>
                          <a:ea typeface="Calibri"/>
                          <a:cs typeface="Calibri"/>
                        </a:rPr>
                        <a:t>TO-BE (IMPROVEMENTS)</a:t>
                      </a:r>
                      <a:endParaRPr sz="1800" b="1" dirty="0">
                        <a:latin typeface="Calibri"/>
                        <a:cs typeface="Calibri"/>
                      </a:endParaRPr>
                    </a:p>
                  </a:txBody>
                  <a:tcPr/>
                </a:tc>
                <a:extLst>
                  <a:ext uri="{0D108BD9-81ED-4DB2-BD59-A6C34878D82A}">
                    <a16:rowId xmlns:a16="http://schemas.microsoft.com/office/drawing/2014/main" val="10000"/>
                  </a:ext>
                </a:extLst>
              </a:tr>
              <a:tr h="623753">
                <a:tc>
                  <a:txBody>
                    <a:bodyPr/>
                    <a:lstStyle/>
                    <a:p>
                      <a:pPr>
                        <a:defRPr/>
                      </a:pPr>
                      <a:r>
                        <a:rPr sz="1800" b="0" i="0" u="none" dirty="0">
                          <a:solidFill>
                            <a:schemeClr val="tx1"/>
                          </a:solidFill>
                          <a:latin typeface="Calibri"/>
                          <a:ea typeface="Calibri"/>
                          <a:cs typeface="Calibri"/>
                        </a:rPr>
                        <a:t>KYC</a:t>
                      </a:r>
                      <a:endParaRPr sz="1800" b="0" dirty="0">
                        <a:solidFill>
                          <a:schemeClr val="tx1"/>
                        </a:solidFill>
                        <a:latin typeface="Calibri"/>
                        <a:cs typeface="Calibri"/>
                      </a:endParaRPr>
                    </a:p>
                  </a:txBody>
                  <a:tcPr/>
                </a:tc>
                <a:tc>
                  <a:txBody>
                    <a:bodyPr/>
                    <a:lstStyle/>
                    <a:p>
                      <a:pPr>
                        <a:defRPr/>
                      </a:pPr>
                      <a:r>
                        <a:rPr sz="1800" b="0" i="0" u="none" dirty="0">
                          <a:solidFill>
                            <a:schemeClr val="tx1"/>
                          </a:solidFill>
                          <a:latin typeface="Calibri"/>
                          <a:ea typeface="Calibri"/>
                          <a:cs typeface="Calibri"/>
                        </a:rPr>
                        <a:t>MANUAL FORMS, PHYSICAL SUBMISSION; ERRORS.</a:t>
                      </a:r>
                      <a:endParaRPr sz="1800" b="0" dirty="0">
                        <a:solidFill>
                          <a:schemeClr val="tx1"/>
                        </a:solidFill>
                        <a:latin typeface="Calibri"/>
                        <a:cs typeface="Calibri"/>
                      </a:endParaRPr>
                    </a:p>
                  </a:txBody>
                  <a:tcPr/>
                </a:tc>
                <a:tc>
                  <a:txBody>
                    <a:bodyPr/>
                    <a:lstStyle/>
                    <a:p>
                      <a:pPr>
                        <a:defRPr/>
                      </a:pPr>
                      <a:r>
                        <a:rPr sz="1800" b="0" i="0" u="none" dirty="0">
                          <a:solidFill>
                            <a:schemeClr val="tx1"/>
                          </a:solidFill>
                          <a:latin typeface="Calibri"/>
                          <a:ea typeface="Calibri"/>
                          <a:cs typeface="Calibri"/>
                        </a:rPr>
                        <a:t>DIGITAL CAPTURE/STORAGE; AUTOMATED CHECKS.</a:t>
                      </a:r>
                      <a:endParaRPr sz="1800" b="0" dirty="0">
                        <a:solidFill>
                          <a:schemeClr val="tx1"/>
                        </a:solidFill>
                        <a:latin typeface="Calibri"/>
                        <a:cs typeface="Calibri"/>
                      </a:endParaRPr>
                    </a:p>
                  </a:txBody>
                  <a:tcPr/>
                </a:tc>
                <a:extLst>
                  <a:ext uri="{0D108BD9-81ED-4DB2-BD59-A6C34878D82A}">
                    <a16:rowId xmlns:a16="http://schemas.microsoft.com/office/drawing/2014/main" val="10001"/>
                  </a:ext>
                </a:extLst>
              </a:tr>
              <a:tr h="584523">
                <a:tc>
                  <a:txBody>
                    <a:bodyPr/>
                    <a:lstStyle/>
                    <a:p>
                      <a:pPr>
                        <a:defRPr/>
                      </a:pPr>
                      <a:r>
                        <a:rPr sz="1800" b="0" i="0" u="none" dirty="0">
                          <a:solidFill>
                            <a:schemeClr val="tx1"/>
                          </a:solidFill>
                          <a:latin typeface="Calibri"/>
                          <a:ea typeface="Calibri"/>
                          <a:cs typeface="Calibri"/>
                        </a:rPr>
                        <a:t>VERIFICATION</a:t>
                      </a:r>
                      <a:endParaRPr sz="1800" b="0" dirty="0">
                        <a:solidFill>
                          <a:schemeClr val="tx1"/>
                        </a:solidFill>
                        <a:latin typeface="Calibri"/>
                        <a:cs typeface="Calibri"/>
                      </a:endParaRPr>
                    </a:p>
                  </a:txBody>
                  <a:tcPr/>
                </a:tc>
                <a:tc>
                  <a:txBody>
                    <a:bodyPr/>
                    <a:lstStyle/>
                    <a:p>
                      <a:pPr>
                        <a:defRPr/>
                      </a:pPr>
                      <a:r>
                        <a:rPr sz="1800" b="0" i="0" u="none" dirty="0">
                          <a:solidFill>
                            <a:schemeClr val="tx1"/>
                          </a:solidFill>
                          <a:latin typeface="Calibri"/>
                          <a:ea typeface="Calibri"/>
                          <a:cs typeface="Calibri"/>
                        </a:rPr>
                        <a:t>PHYSICAL VISITS, MANUAL REVIEWS.</a:t>
                      </a:r>
                      <a:endParaRPr sz="1800" b="0" dirty="0">
                        <a:solidFill>
                          <a:schemeClr val="tx1"/>
                        </a:solidFill>
                        <a:latin typeface="Calibri"/>
                        <a:cs typeface="Calibri"/>
                      </a:endParaRPr>
                    </a:p>
                  </a:txBody>
                  <a:tcPr/>
                </a:tc>
                <a:tc>
                  <a:txBody>
                    <a:bodyPr/>
                    <a:lstStyle/>
                    <a:p>
                      <a:pPr>
                        <a:defRPr/>
                      </a:pPr>
                      <a:r>
                        <a:rPr sz="1800" b="0" i="0" u="none" dirty="0">
                          <a:solidFill>
                            <a:schemeClr val="tx1"/>
                          </a:solidFill>
                          <a:latin typeface="Calibri"/>
                          <a:ea typeface="Calibri"/>
                          <a:cs typeface="Calibri"/>
                        </a:rPr>
                        <a:t>WORKFLOW AUTOMATION, MAKER-CHECKER APPROVALS.</a:t>
                      </a:r>
                      <a:endParaRPr sz="1800" b="0" dirty="0">
                        <a:solidFill>
                          <a:schemeClr val="tx1"/>
                        </a:solidFill>
                        <a:latin typeface="Calibri"/>
                        <a:cs typeface="Calibri"/>
                      </a:endParaRPr>
                    </a:p>
                  </a:txBody>
                  <a:tcPr/>
                </a:tc>
                <a:extLst>
                  <a:ext uri="{0D108BD9-81ED-4DB2-BD59-A6C34878D82A}">
                    <a16:rowId xmlns:a16="http://schemas.microsoft.com/office/drawing/2014/main" val="10002"/>
                  </a:ext>
                </a:extLst>
              </a:tr>
              <a:tr h="584523">
                <a:tc>
                  <a:txBody>
                    <a:bodyPr/>
                    <a:lstStyle/>
                    <a:p>
                      <a:pPr>
                        <a:defRPr/>
                      </a:pPr>
                      <a:r>
                        <a:rPr sz="1800" b="0" i="0" u="none">
                          <a:solidFill>
                            <a:schemeClr val="tx1"/>
                          </a:solidFill>
                          <a:latin typeface="Calibri"/>
                          <a:ea typeface="Calibri"/>
                          <a:cs typeface="Calibri"/>
                        </a:rPr>
                        <a:t>LOAN APPLICATION</a:t>
                      </a:r>
                      <a:endParaRPr sz="1800" b="0">
                        <a:solidFill>
                          <a:schemeClr val="tx1"/>
                        </a:solidFill>
                        <a:latin typeface="Calibri"/>
                        <a:cs typeface="Calibri"/>
                      </a:endParaRPr>
                    </a:p>
                  </a:txBody>
                  <a:tcPr/>
                </a:tc>
                <a:tc>
                  <a:txBody>
                    <a:bodyPr/>
                    <a:lstStyle/>
                    <a:p>
                      <a:pPr>
                        <a:defRPr/>
                      </a:pPr>
                      <a:r>
                        <a:rPr lang="en-US" sz="1800" b="0" i="0" u="none">
                          <a:solidFill>
                            <a:schemeClr val="tx1"/>
                          </a:solidFill>
                          <a:latin typeface="Calibri"/>
                          <a:ea typeface="Calibri"/>
                          <a:cs typeface="Calibri"/>
                        </a:rPr>
                        <a:t>MANUAL FORMS</a:t>
                      </a:r>
                    </a:p>
                  </a:txBody>
                  <a:tcPr/>
                </a:tc>
                <a:tc>
                  <a:txBody>
                    <a:bodyPr/>
                    <a:lstStyle/>
                    <a:p>
                      <a:pPr>
                        <a:defRPr/>
                      </a:pPr>
                      <a:r>
                        <a:rPr sz="1800" b="0" i="0" u="none" dirty="0">
                          <a:solidFill>
                            <a:schemeClr val="tx1"/>
                          </a:solidFill>
                          <a:latin typeface="Calibri"/>
                          <a:ea typeface="Calibri"/>
                          <a:cs typeface="Calibri"/>
                        </a:rPr>
                        <a:t>SELF-SERVICE USSD/APP; INSTANT CHECKS.</a:t>
                      </a:r>
                      <a:endParaRPr sz="1800" b="0" dirty="0">
                        <a:solidFill>
                          <a:schemeClr val="tx1"/>
                        </a:solidFill>
                        <a:latin typeface="Calibri"/>
                        <a:cs typeface="Calibri"/>
                      </a:endParaRPr>
                    </a:p>
                  </a:txBody>
                  <a:tcPr/>
                </a:tc>
                <a:extLst>
                  <a:ext uri="{0D108BD9-81ED-4DB2-BD59-A6C34878D82A}">
                    <a16:rowId xmlns:a16="http://schemas.microsoft.com/office/drawing/2014/main" val="10003"/>
                  </a:ext>
                </a:extLst>
              </a:tr>
              <a:tr h="584523">
                <a:tc>
                  <a:txBody>
                    <a:bodyPr/>
                    <a:lstStyle/>
                    <a:p>
                      <a:pPr>
                        <a:defRPr/>
                      </a:pPr>
                      <a:r>
                        <a:rPr sz="1800" b="0" i="0" u="none">
                          <a:solidFill>
                            <a:schemeClr val="tx1"/>
                          </a:solidFill>
                          <a:latin typeface="Calibri"/>
                          <a:ea typeface="Calibri"/>
                          <a:cs typeface="Calibri"/>
                        </a:rPr>
                        <a:t>CREDIT SCORING</a:t>
                      </a:r>
                      <a:endParaRPr sz="1800" b="0">
                        <a:solidFill>
                          <a:schemeClr val="tx1"/>
                        </a:solidFill>
                        <a:latin typeface="Calibri"/>
                        <a:cs typeface="Calibri"/>
                      </a:endParaRPr>
                    </a:p>
                  </a:txBody>
                  <a:tcPr/>
                </a:tc>
                <a:tc>
                  <a:txBody>
                    <a:bodyPr/>
                    <a:lstStyle/>
                    <a:p>
                      <a:pPr>
                        <a:defRPr/>
                      </a:pPr>
                      <a:r>
                        <a:rPr lang="en-US" sz="1800" b="0" i="0" u="none">
                          <a:solidFill>
                            <a:schemeClr val="tx1"/>
                          </a:solidFill>
                          <a:latin typeface="Calibri"/>
                          <a:ea typeface="Calibri"/>
                          <a:cs typeface="Calibri"/>
                        </a:rPr>
                        <a:t>NO CREDIT SCORE</a:t>
                      </a:r>
                      <a:r>
                        <a:rPr sz="1800" b="0" i="0" u="none">
                          <a:solidFill>
                            <a:schemeClr val="tx1"/>
                          </a:solidFill>
                          <a:latin typeface="Calibri"/>
                          <a:ea typeface="Calibri"/>
                          <a:cs typeface="Calibri"/>
                        </a:rPr>
                        <a:t>.</a:t>
                      </a:r>
                      <a:endParaRPr sz="1800" b="0">
                        <a:solidFill>
                          <a:schemeClr val="tx1"/>
                        </a:solidFill>
                        <a:latin typeface="Calibri"/>
                        <a:cs typeface="Calibri"/>
                      </a:endParaRPr>
                    </a:p>
                  </a:txBody>
                  <a:tcPr/>
                </a:tc>
                <a:tc>
                  <a:txBody>
                    <a:bodyPr/>
                    <a:lstStyle/>
                    <a:p>
                      <a:pPr>
                        <a:defRPr/>
                      </a:pPr>
                      <a:r>
                        <a:rPr sz="1800" b="0" i="0" u="none" dirty="0">
                          <a:solidFill>
                            <a:schemeClr val="tx1"/>
                          </a:solidFill>
                          <a:latin typeface="Calibri"/>
                          <a:ea typeface="Calibri"/>
                          <a:cs typeface="Calibri"/>
                        </a:rPr>
                        <a:t>AUTOMATED USING KYC DATA; INTEGRATED ASSESSMENT.</a:t>
                      </a:r>
                      <a:endParaRPr sz="1800" b="0" dirty="0">
                        <a:solidFill>
                          <a:schemeClr val="tx1"/>
                        </a:solidFill>
                        <a:latin typeface="Calibri"/>
                        <a:cs typeface="Calibri"/>
                      </a:endParaRPr>
                    </a:p>
                  </a:txBody>
                  <a:tcPr/>
                </a:tc>
                <a:extLst>
                  <a:ext uri="{0D108BD9-81ED-4DB2-BD59-A6C34878D82A}">
                    <a16:rowId xmlns:a16="http://schemas.microsoft.com/office/drawing/2014/main" val="10004"/>
                  </a:ext>
                </a:extLst>
              </a:tr>
              <a:tr h="584523">
                <a:tc>
                  <a:txBody>
                    <a:bodyPr/>
                    <a:lstStyle/>
                    <a:p>
                      <a:pPr>
                        <a:defRPr/>
                      </a:pPr>
                      <a:r>
                        <a:rPr sz="1800" b="0" i="0" u="none">
                          <a:solidFill>
                            <a:schemeClr val="tx1"/>
                          </a:solidFill>
                          <a:latin typeface="Calibri"/>
                          <a:ea typeface="Calibri"/>
                          <a:cs typeface="Calibri"/>
                        </a:rPr>
                        <a:t>PENALTY CALCULATION</a:t>
                      </a:r>
                      <a:endParaRPr sz="1800" b="0">
                        <a:solidFill>
                          <a:schemeClr val="tx1"/>
                        </a:solidFill>
                        <a:latin typeface="Calibri"/>
                        <a:cs typeface="Calibri"/>
                      </a:endParaRPr>
                    </a:p>
                  </a:txBody>
                  <a:tcPr/>
                </a:tc>
                <a:tc>
                  <a:txBody>
                    <a:bodyPr/>
                    <a:lstStyle/>
                    <a:p>
                      <a:pPr>
                        <a:defRPr/>
                      </a:pPr>
                      <a:r>
                        <a:rPr sz="1800" b="0" i="0" u="none">
                          <a:solidFill>
                            <a:schemeClr val="tx1"/>
                          </a:solidFill>
                          <a:latin typeface="Calibri"/>
                          <a:ea typeface="Calibri"/>
                          <a:cs typeface="Calibri"/>
                        </a:rPr>
                        <a:t>LIKELY MANUAL; NOT DETAILED.</a:t>
                      </a:r>
                      <a:endParaRPr sz="1800" b="0">
                        <a:solidFill>
                          <a:schemeClr val="tx1"/>
                        </a:solidFill>
                        <a:latin typeface="Calibri"/>
                        <a:cs typeface="Calibri"/>
                      </a:endParaRPr>
                    </a:p>
                  </a:txBody>
                  <a:tcPr/>
                </a:tc>
                <a:tc>
                  <a:txBody>
                    <a:bodyPr/>
                    <a:lstStyle/>
                    <a:p>
                      <a:pPr>
                        <a:defRPr/>
                      </a:pPr>
                      <a:r>
                        <a:rPr sz="1800" b="0" i="0" u="none" dirty="0">
                          <a:solidFill>
                            <a:schemeClr val="tx1"/>
                          </a:solidFill>
                          <a:latin typeface="Calibri"/>
                          <a:ea typeface="Calibri"/>
                          <a:cs typeface="Calibri"/>
                        </a:rPr>
                        <a:t>AUTOMATIC CALCULATION FOR OVERDUES; REAL-TIME UPDATES.</a:t>
                      </a:r>
                      <a:endParaRPr sz="1800" b="0" dirty="0">
                        <a:solidFill>
                          <a:schemeClr val="tx1"/>
                        </a:solidFill>
                        <a:latin typeface="Calibri"/>
                        <a:cs typeface="Calibri"/>
                      </a:endParaRPr>
                    </a:p>
                  </a:txBody>
                  <a:tcPr/>
                </a:tc>
                <a:extLst>
                  <a:ext uri="{0D108BD9-81ED-4DB2-BD59-A6C34878D82A}">
                    <a16:rowId xmlns:a16="http://schemas.microsoft.com/office/drawing/2014/main" val="10005"/>
                  </a:ext>
                </a:extLst>
              </a:tr>
            </a:tbl>
          </a:graphicData>
        </a:graphic>
      </p:graphicFrame>
      <p:pic>
        <p:nvPicPr>
          <p:cNvPr id="867705486"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540939724" name="Content Placeholder 2107056131"/>
          <p:cNvPicPr>
            <a:picLocks noGrp="1" noChangeAspect="1"/>
          </p:cNvPicPr>
          <p:nvPr>
            <p:ph idx="1"/>
          </p:nvPr>
        </p:nvPicPr>
        <p:blipFill rotWithShape="1">
          <a:blip r:embed="rId3"/>
          <a:stretch/>
        </p:blipFill>
        <p:spPr bwMode="auto">
          <a:xfrm>
            <a:off x="617854" y="97067"/>
            <a:ext cx="10707943" cy="6663865"/>
          </a:xfrm>
          <a:prstGeom prst="rect">
            <a:avLst/>
          </a:prstGeom>
        </p:spPr>
      </p:pic>
      <p:pic>
        <p:nvPicPr>
          <p:cNvPr id="1730290106" name="Google Shape;62;p13" title="Kuza_logo-removebg-preview.png"/>
          <p:cNvPicPr/>
          <p:nvPr/>
        </p:nvPicPr>
        <p:blipFill rotWithShape="1">
          <a:blip r:embed="rId4"/>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589B3E-4997-DBA6-D341-C4D292791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 y="0"/>
            <a:ext cx="11109960" cy="6858000"/>
          </a:xfrm>
          <a:prstGeom prst="rect">
            <a:avLst/>
          </a:prstGeom>
        </p:spPr>
      </p:pic>
    </p:spTree>
    <p:extLst>
      <p:ext uri="{BB962C8B-B14F-4D97-AF65-F5344CB8AC3E}">
        <p14:creationId xmlns:p14="http://schemas.microsoft.com/office/powerpoint/2010/main" val="2129265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36367698" name="Google Shape;67;p14"/>
          <p:cNvSpPr/>
          <p:nvPr/>
        </p:nvSpPr>
        <p:spPr bwMode="auto">
          <a:xfrm>
            <a:off x="205533" y="320565"/>
            <a:ext cx="1157688" cy="386568"/>
          </a:xfrm>
          <a:prstGeom prst="flowChartTerminator">
            <a:avLst/>
          </a:prstGeom>
          <a:solidFill>
            <a:srgbClr val="283676"/>
          </a:solidFill>
          <a:ln w="9525" cap="flat" cmpd="sng">
            <a:solidFill>
              <a:srgbClr val="FFFFFF"/>
            </a:solidFill>
            <a:prstDash val="solid"/>
            <a:round/>
            <a:headEnd type="none" w="sm" len="sm"/>
            <a:tailEnd type="none" w="sm" len="sm"/>
          </a:ln>
        </p:spPr>
        <p:txBody>
          <a:bodyPr spcFirstLastPara="1" wrap="square" lIns="91423" tIns="91423" rIns="91423" bIns="91423" anchor="ctr" anchorCtr="0">
            <a:noAutofit/>
          </a:bodyPr>
          <a:lstStyle/>
          <a:p>
            <a:pPr marL="0" lvl="0" indent="0" algn="ctr" rtl="0">
              <a:spcBef>
                <a:spcPts val="0"/>
              </a:spcBef>
              <a:spcAft>
                <a:spcPts val="0"/>
              </a:spcAft>
              <a:buClr>
                <a:srgbClr val="000000"/>
              </a:buClr>
              <a:buSzPts val="1100"/>
              <a:buFont typeface="Arial"/>
              <a:buNone/>
              <a:defRPr/>
            </a:pPr>
            <a:r>
              <a:rPr lang="en-US" sz="600" b="1" dirty="0">
                <a:solidFill>
                  <a:schemeClr val="bg1"/>
                </a:solidFill>
                <a:latin typeface="Calibri"/>
                <a:ea typeface="Calibri"/>
                <a:cs typeface="Calibri"/>
              </a:rPr>
              <a:t>On-boarding</a:t>
            </a:r>
            <a:endParaRPr sz="1000" b="1" dirty="0">
              <a:solidFill>
                <a:schemeClr val="bg1"/>
              </a:solidFill>
            </a:endParaRPr>
          </a:p>
        </p:txBody>
      </p:sp>
      <p:sp>
        <p:nvSpPr>
          <p:cNvPr id="396413635" name="Google Shape;68;p14"/>
          <p:cNvSpPr/>
          <p:nvPr/>
        </p:nvSpPr>
        <p:spPr bwMode="auto">
          <a:xfrm>
            <a:off x="1477199"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19" dirty="0">
                <a:solidFill>
                  <a:schemeClr val="tx1"/>
                </a:solidFill>
                <a:latin typeface="Arial"/>
                <a:ea typeface="Arial"/>
                <a:cs typeface="Arial"/>
              </a:rPr>
              <a:t>                                          </a:t>
            </a:r>
            <a:r>
              <a:rPr lang="en-US" sz="600" b="1" i="0" u="none" strike="noStrike" cap="none" spc="-19" dirty="0">
                <a:solidFill>
                  <a:schemeClr val="bg1"/>
                </a:solidFill>
                <a:latin typeface="Calibri"/>
                <a:ea typeface="Calibri"/>
                <a:cs typeface="Calibri"/>
              </a:rPr>
              <a:t>Registration</a:t>
            </a:r>
            <a:r>
              <a:rPr lang="en-US" sz="600" b="1" i="0" u="none" strike="noStrike" cap="none" spc="-14" dirty="0">
                <a:solidFill>
                  <a:schemeClr val="bg1"/>
                </a:solidFill>
                <a:latin typeface="Calibri"/>
                <a:ea typeface="Calibri"/>
                <a:cs typeface="Calibri"/>
              </a:rPr>
              <a:t> </a:t>
            </a:r>
            <a:r>
              <a:rPr lang="en-US" sz="600" b="1" i="0" u="none" strike="noStrike" cap="none" spc="0" dirty="0">
                <a:solidFill>
                  <a:schemeClr val="bg1"/>
                </a:solidFill>
                <a:latin typeface="Calibri"/>
                <a:ea typeface="Calibri"/>
                <a:cs typeface="Calibri"/>
              </a:rPr>
              <a:t>&amp;</a:t>
            </a:r>
            <a:r>
              <a:rPr lang="en-US" sz="600" b="1" i="0" u="none" strike="noStrike" cap="none" spc="-14" dirty="0">
                <a:solidFill>
                  <a:schemeClr val="bg1"/>
                </a:solidFill>
                <a:latin typeface="Calibri"/>
                <a:ea typeface="Calibri"/>
                <a:cs typeface="Calibri"/>
              </a:rPr>
              <a:t> </a:t>
            </a:r>
            <a:r>
              <a:rPr lang="en-US" sz="600" b="1" i="0" u="none" strike="noStrike" cap="none" spc="-28" dirty="0">
                <a:solidFill>
                  <a:schemeClr val="bg1"/>
                </a:solidFill>
                <a:latin typeface="Calibri"/>
                <a:ea typeface="Calibri"/>
                <a:cs typeface="Calibri"/>
              </a:rPr>
              <a:t>activation</a:t>
            </a:r>
            <a:r>
              <a:rPr lang="en-US" sz="600" b="1" i="0" u="none" strike="noStrike" cap="none" spc="-14" dirty="0">
                <a:solidFill>
                  <a:schemeClr val="bg1"/>
                </a:solidFill>
                <a:latin typeface="Calibri"/>
                <a:ea typeface="Calibri"/>
                <a:cs typeface="Calibri"/>
              </a:rPr>
              <a:t> </a:t>
            </a:r>
            <a:r>
              <a:rPr lang="en-US" sz="600" b="1" i="0" u="none" strike="noStrike" cap="none" spc="-9" dirty="0">
                <a:solidFill>
                  <a:schemeClr val="bg1"/>
                </a:solidFill>
                <a:latin typeface="Calibri"/>
                <a:ea typeface="Calibri"/>
                <a:cs typeface="Calibri"/>
              </a:rPr>
              <a:t>process</a:t>
            </a:r>
            <a:endParaRPr sz="600" dirty="0">
              <a:latin typeface="Arial"/>
              <a:cs typeface="Arial"/>
            </a:endParaRPr>
          </a:p>
          <a:p>
            <a:pPr marL="0" lvl="0" indent="0" algn="ctr" rtl="0">
              <a:spcBef>
                <a:spcPts val="0"/>
              </a:spcBef>
              <a:spcAft>
                <a:spcPts val="0"/>
              </a:spcAft>
              <a:buNone/>
              <a:defRPr/>
            </a:pPr>
            <a:endParaRPr sz="600" b="1" dirty="0">
              <a:solidFill>
                <a:srgbClr val="283676"/>
              </a:solidFill>
              <a:latin typeface="Montserrat"/>
              <a:ea typeface="Montserrat"/>
              <a:cs typeface="Montserrat"/>
            </a:endParaRPr>
          </a:p>
        </p:txBody>
      </p:sp>
      <p:sp>
        <p:nvSpPr>
          <p:cNvPr id="1887149596" name="Google Shape;69;p14"/>
          <p:cNvSpPr/>
          <p:nvPr/>
        </p:nvSpPr>
        <p:spPr bwMode="auto">
          <a:xfrm>
            <a:off x="2980749" y="320565"/>
            <a:ext cx="1597032"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a:defRPr/>
            </a:pPr>
            <a:r>
              <a:rPr lang="en-US" sz="600" b="1" i="0" u="none" strike="noStrike" cap="none" spc="0">
                <a:solidFill>
                  <a:schemeClr val="bg1"/>
                </a:solidFill>
                <a:latin typeface="Calibri"/>
                <a:ea typeface="Calibri"/>
                <a:cs typeface="Calibri"/>
              </a:rPr>
              <a:t>Loan</a:t>
            </a:r>
            <a:r>
              <a:rPr lang="en-US" sz="600" b="1" i="0" u="none" strike="noStrike" cap="none" spc="-49">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request</a:t>
            </a:r>
            <a:r>
              <a:rPr lang="en-US" sz="600" b="1" i="0" u="none" strike="noStrike" cap="none" spc="-49">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&amp;</a:t>
            </a:r>
            <a:r>
              <a:rPr lang="en-US" sz="600" b="1" i="0" u="none" strike="noStrike" cap="none" spc="-49">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disbursement</a:t>
            </a:r>
            <a:r>
              <a:rPr lang="en-US" sz="600" b="1" i="0" u="none" strike="noStrike" cap="none" spc="-49">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process</a:t>
            </a:r>
            <a:endParaRPr>
              <a:solidFill>
                <a:schemeClr val="bg1"/>
              </a:solidFill>
              <a:latin typeface="Calibri"/>
              <a:cs typeface="Calibri"/>
            </a:endParaRPr>
          </a:p>
        </p:txBody>
      </p:sp>
      <p:sp>
        <p:nvSpPr>
          <p:cNvPr id="754832347" name="Google Shape;70;p14"/>
          <p:cNvSpPr/>
          <p:nvPr/>
        </p:nvSpPr>
        <p:spPr bwMode="auto">
          <a:xfrm>
            <a:off x="46654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34">
                <a:solidFill>
                  <a:schemeClr val="bg1"/>
                </a:solidFill>
                <a:latin typeface="Calibri"/>
                <a:ea typeface="Calibri"/>
                <a:cs typeface="Calibri"/>
              </a:rPr>
              <a:t>Repayment </a:t>
            </a:r>
            <a:r>
              <a:rPr lang="en-US" sz="600" b="1" i="0" u="none" strike="noStrike" cap="none" spc="-9">
                <a:solidFill>
                  <a:schemeClr val="bg1"/>
                </a:solidFill>
                <a:latin typeface="Calibri"/>
                <a:ea typeface="Calibri"/>
                <a:cs typeface="Calibri"/>
              </a:rPr>
              <a:t>process</a:t>
            </a:r>
            <a:endParaRPr sz="600">
              <a:latin typeface="Calibri"/>
              <a:cs typeface="Calibri"/>
            </a:endParaRPr>
          </a:p>
        </p:txBody>
      </p:sp>
      <p:sp>
        <p:nvSpPr>
          <p:cNvPr id="951256658" name="Google Shape;71;p14"/>
          <p:cNvSpPr/>
          <p:nvPr/>
        </p:nvSpPr>
        <p:spPr bwMode="auto">
          <a:xfrm>
            <a:off x="61427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Calibri"/>
              <a:cs typeface="Calibri"/>
            </a:endParaRPr>
          </a:p>
          <a:p>
            <a:pPr marL="12700">
              <a:lnSpc>
                <a:spcPct val="100000"/>
              </a:lnSpc>
              <a:spcBef>
                <a:spcPts val="100"/>
              </a:spcBef>
              <a:defRPr/>
            </a:pPr>
            <a:r>
              <a:rPr lang="en-US" sz="600" b="1" i="0" u="none" strike="noStrike" cap="none" spc="0">
                <a:solidFill>
                  <a:schemeClr val="bg1"/>
                </a:solidFill>
                <a:latin typeface="Calibri"/>
                <a:ea typeface="Calibri"/>
                <a:cs typeface="Calibri"/>
              </a:rPr>
              <a:t>Collection</a:t>
            </a:r>
            <a:r>
              <a:rPr lang="en-US" sz="600" b="1" i="0" u="none" strike="noStrike" cap="none" spc="-34">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&amp;</a:t>
            </a:r>
            <a:r>
              <a:rPr lang="en-US" sz="600" b="1" i="0" u="none" strike="noStrike" cap="none" spc="-34">
                <a:solidFill>
                  <a:schemeClr val="bg1"/>
                </a:solidFill>
                <a:latin typeface="Calibri"/>
                <a:ea typeface="Calibri"/>
                <a:cs typeface="Calibri"/>
              </a:rPr>
              <a:t> </a:t>
            </a:r>
            <a:r>
              <a:rPr lang="en-US" sz="600" b="1" i="0" u="none" strike="noStrike" cap="none" spc="-19">
                <a:solidFill>
                  <a:schemeClr val="bg1"/>
                </a:solidFill>
                <a:latin typeface="Calibri"/>
                <a:ea typeface="Calibri"/>
                <a:cs typeface="Calibri"/>
              </a:rPr>
              <a:t>escalation</a:t>
            </a:r>
            <a:r>
              <a:rPr lang="en-US" sz="600" b="1" i="0" u="none" strike="noStrike" cap="none" spc="-34">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process</a:t>
            </a:r>
            <a:endParaRPr sz="600" b="1" i="0" u="none" strike="noStrike" cap="none" spc="-9">
              <a:solidFill>
                <a:schemeClr val="bg1"/>
              </a:solidFill>
              <a:latin typeface="Calibri"/>
              <a:cs typeface="Calibri"/>
            </a:endParaRPr>
          </a:p>
          <a:p>
            <a:pPr marL="0" lvl="0" indent="0" algn="ctr" rtl="0">
              <a:spcBef>
                <a:spcPts val="0"/>
              </a:spcBef>
              <a:spcAft>
                <a:spcPts val="0"/>
              </a:spcAft>
              <a:buClr>
                <a:srgbClr val="000000"/>
              </a:buClr>
              <a:buSzPts val="1100"/>
              <a:buFont typeface="Arial"/>
              <a:buNone/>
              <a:defRPr/>
            </a:pPr>
            <a:endParaRPr sz="600" b="1">
              <a:solidFill>
                <a:srgbClr val="283676"/>
              </a:solidFill>
              <a:latin typeface="Calibri"/>
              <a:cs typeface="Calibri"/>
            </a:endParaRPr>
          </a:p>
        </p:txBody>
      </p:sp>
      <p:sp>
        <p:nvSpPr>
          <p:cNvPr id="715185826" name="Google Shape;74;p14"/>
          <p:cNvSpPr txBox="1"/>
          <p:nvPr/>
        </p:nvSpPr>
        <p:spPr bwMode="auto">
          <a:xfrm>
            <a:off x="205533" y="873065"/>
            <a:ext cx="11360799" cy="763598"/>
          </a:xfrm>
          <a:prstGeom prst="rect">
            <a:avLst/>
          </a:prstGeom>
          <a:noFill/>
          <a:ln>
            <a:noFill/>
          </a:ln>
        </p:spPr>
        <p:txBody>
          <a:bodyPr spcFirstLastPara="1" vertOverflow="overflow" horzOverflow="overflow" vert="horz" wrap="square" lIns="91423" tIns="91423" rIns="91423" bIns="91423" numCol="1" spcCol="0" rtlCol="0" fromWordArt="0" anchor="t" anchorCtr="0" forceAA="0" compatLnSpc="0">
            <a:normAutofit fontScale="90000" lnSpcReduction="2000"/>
          </a:bodyPr>
          <a:lstStyle/>
          <a:p>
            <a:pPr marL="12700" marR="0" indent="0" algn="l">
              <a:lnSpc>
                <a:spcPct val="100000"/>
              </a:lnSpc>
              <a:spcBef>
                <a:spcPts val="100"/>
              </a:spcBef>
              <a:spcAft>
                <a:spcPts val="0"/>
              </a:spcAft>
              <a:defRPr/>
            </a:pPr>
            <a:endParaRPr sz="2300">
              <a:latin typeface="Arial"/>
              <a:cs typeface="Arial"/>
            </a:endParaRPr>
          </a:p>
          <a:p>
            <a:pPr marL="0" lvl="0" indent="0" algn="l" rtl="0">
              <a:spcBef>
                <a:spcPts val="0"/>
              </a:spcBef>
              <a:spcAft>
                <a:spcPts val="0"/>
              </a:spcAft>
              <a:buNone/>
              <a:defRPr/>
            </a:pPr>
            <a:endParaRPr sz="2300" b="1">
              <a:solidFill>
                <a:srgbClr val="243374"/>
              </a:solidFill>
              <a:latin typeface="Montserrat"/>
              <a:ea typeface="Montserrat"/>
              <a:cs typeface="Montserrat"/>
            </a:endParaRPr>
          </a:p>
        </p:txBody>
      </p:sp>
      <p:sp>
        <p:nvSpPr>
          <p:cNvPr id="1707225411" name="Google Shape;75;p14"/>
          <p:cNvSpPr txBox="1"/>
          <p:nvPr/>
        </p:nvSpPr>
        <p:spPr bwMode="auto">
          <a:xfrm>
            <a:off x="308532" y="3636915"/>
            <a:ext cx="11154799" cy="4555199"/>
          </a:xfrm>
          <a:prstGeom prst="rect">
            <a:avLst/>
          </a:prstGeom>
          <a:noFill/>
          <a:ln>
            <a:noFill/>
          </a:ln>
        </p:spPr>
        <p:txBody>
          <a:bodyPr spcFirstLastPara="1" wrap="square" lIns="91423" tIns="91423" rIns="91423" bIns="91423" anchor="t" anchorCtr="0">
            <a:normAutofit/>
          </a:bodyPr>
          <a:lstStyle/>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p:txBody>
      </p:sp>
      <p:sp>
        <p:nvSpPr>
          <p:cNvPr id="600302121" name="Title 1"/>
          <p:cNvSpPr>
            <a:spLocks noGrp="1"/>
          </p:cNvSpPr>
          <p:nvPr>
            <p:ph type="title"/>
          </p:nvPr>
        </p:nvSpPr>
        <p:spPr bwMode="auto">
          <a:xfrm>
            <a:off x="609599" y="560387"/>
            <a:ext cx="10972800" cy="1143000"/>
          </a:xfrm>
        </p:spPr>
        <p:txBody>
          <a:bodyPr>
            <a:normAutofit/>
          </a:bodyPr>
          <a:lstStyle/>
          <a:p>
            <a:pPr>
              <a:defRPr/>
            </a:pPr>
            <a:r>
              <a:rPr lang="en-GB" sz="2200" b="1" i="0" u="none" strike="noStrike" cap="none" spc="0" dirty="0">
                <a:solidFill>
                  <a:schemeClr val="bg1"/>
                </a:solidFill>
                <a:latin typeface="Calibri"/>
                <a:ea typeface="Calibri"/>
                <a:cs typeface="Calibri"/>
              </a:rPr>
              <a:t>A.ONBOARDING PROCESS</a:t>
            </a:r>
          </a:p>
        </p:txBody>
      </p:sp>
      <p:graphicFrame>
        <p:nvGraphicFramePr>
          <p:cNvPr id="177026900" name="Content Placeholder 1374109995"/>
          <p:cNvGraphicFramePr>
            <a:graphicFrameLocks noGrp="1"/>
          </p:cNvGraphicFramePr>
          <p:nvPr>
            <p:ph idx="1"/>
            <p:extLst>
              <p:ext uri="{D42A27DB-BD31-4B8C-83A1-F6EECF244321}">
                <p14:modId xmlns:p14="http://schemas.microsoft.com/office/powerpoint/2010/main" val="733343065"/>
              </p:ext>
            </p:extLst>
          </p:nvPr>
        </p:nvGraphicFramePr>
        <p:xfrm>
          <a:off x="609599" y="1600200"/>
          <a:ext cx="10972800" cy="2984500"/>
        </p:xfrm>
        <a:graphic>
          <a:graphicData uri="http://schemas.openxmlformats.org/drawingml/2006/table">
            <a:tbl>
              <a:tblPr firstRow="1" bandRow="1">
                <a:effectLst>
                  <a:innerShdw blurRad="63500" dist="50800" dir="5400000">
                    <a:prstClr val="black">
                      <a:alpha val="50000"/>
                    </a:prstClr>
                  </a:innerShdw>
                </a:effectLst>
                <a:tableStyleId>{5C22544A-7EE6-4342-B048-85BDC9FD1C3A}</a:tableStyleId>
              </a:tblPr>
              <a:tblGrid>
                <a:gridCol w="2070000">
                  <a:extLst>
                    <a:ext uri="{9D8B030D-6E8A-4147-A177-3AD203B41FA5}">
                      <a16:colId xmlns:a16="http://schemas.microsoft.com/office/drawing/2014/main" val="20000"/>
                    </a:ext>
                  </a:extLst>
                </a:gridCol>
                <a:gridCol w="3690000">
                  <a:extLst>
                    <a:ext uri="{9D8B030D-6E8A-4147-A177-3AD203B41FA5}">
                      <a16:colId xmlns:a16="http://schemas.microsoft.com/office/drawing/2014/main" val="20001"/>
                    </a:ext>
                  </a:extLst>
                </a:gridCol>
                <a:gridCol w="5212800">
                  <a:extLst>
                    <a:ext uri="{9D8B030D-6E8A-4147-A177-3AD203B41FA5}">
                      <a16:colId xmlns:a16="http://schemas.microsoft.com/office/drawing/2014/main" val="20002"/>
                    </a:ext>
                  </a:extLst>
                </a:gridCol>
              </a:tblGrid>
              <a:tr h="365760">
                <a:tc>
                  <a:txBody>
                    <a:bodyPr/>
                    <a:lstStyle/>
                    <a:p>
                      <a:pPr marL="142240" algn="l">
                        <a:lnSpc>
                          <a:spcPts val="1215"/>
                        </a:lnSpc>
                        <a:defRPr/>
                      </a:pPr>
                      <a:r>
                        <a:rPr lang="en-GB" sz="1100" b="1" i="0" u="none" strike="noStrike" cap="none" spc="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STEP </a:t>
                      </a:r>
                      <a:r>
                        <a:rPr lang="en-US" sz="1100" b="1" i="0" u="none" strike="noStrike" cap="none" spc="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NO</a:t>
                      </a:r>
                      <a:r>
                        <a:rPr lang="en-GB" sz="1100" b="1" i="0" u="none" strike="noStrike" cap="none" spc="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sz="1100" b="1" i="0" u="none" strike="noStrike" cap="none" spc="0" dirty="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endPar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85725" algn="l">
                        <a:lnSpc>
                          <a:spcPts val="1215"/>
                        </a:lnSpc>
                        <a:defRPr/>
                      </a:pPr>
                      <a:r>
                        <a:rPr lang="en-US"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GB"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ROLE       </a:t>
                      </a:r>
                      <a:r>
                        <a:rPr lang="en-US"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031875" algn="l">
                        <a:lnSpc>
                          <a:spcPts val="1215"/>
                        </a:lnSpc>
                        <a:defRPr/>
                      </a:pPr>
                      <a:r>
                        <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PROCESS</a:t>
                      </a:r>
                      <a:r>
                        <a:rPr sz="1100" b="1" spc="-74"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DESCRIPTION</a:t>
                      </a:r>
                      <a:endPar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0"/>
                  </a:ext>
                </a:extLst>
              </a:tr>
              <a:tr h="365760">
                <a:tc>
                  <a:txBody>
                    <a:bodyPr/>
                    <a:lstStyle/>
                    <a:p>
                      <a:pPr marL="31750" algn="l">
                        <a:lnSpc>
                          <a:spcPct val="100000"/>
                        </a:lnSpc>
                        <a:spcBef>
                          <a:spcPts val="530"/>
                        </a:spcBef>
                        <a:defRPr/>
                      </a:pPr>
                      <a:r>
                        <a:rPr sz="1100" b="1" spc="-49">
                          <a:effectLst>
                            <a:outerShdw blurRad="38100" dist="38100" dir="2700000" algn="tl">
                              <a:srgbClr val="000000">
                                <a:alpha val="43137"/>
                              </a:srgbClr>
                            </a:outerShdw>
                          </a:effectLst>
                          <a:latin typeface="Arial"/>
                          <a:cs typeface="Arial"/>
                        </a:rPr>
                        <a:t>1</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gn="l">
                        <a:lnSpc>
                          <a:spcPct val="100000"/>
                        </a:lnSpc>
                        <a:spcBef>
                          <a:spcPts val="530"/>
                        </a:spcBef>
                        <a:defRPr/>
                      </a:pPr>
                      <a:r>
                        <a:rPr sz="1100" b="1" dirty="0">
                          <a:effectLst>
                            <a:outerShdw blurRad="38100" dist="38100" dir="2700000" algn="tl">
                              <a:srgbClr val="000000">
                                <a:alpha val="43137"/>
                              </a:srgbClr>
                            </a:outerShdw>
                          </a:effectLst>
                          <a:latin typeface="Arial"/>
                          <a:cs typeface="Arial"/>
                        </a:rPr>
                        <a:t>    One</a:t>
                      </a:r>
                      <a:r>
                        <a:rPr sz="1100" b="1" spc="-3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Stop</a:t>
                      </a:r>
                      <a:r>
                        <a:rPr sz="1100" b="1" spc="-3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Shop</a:t>
                      </a:r>
                      <a:r>
                        <a:rPr sz="1100" b="1" spc="-34" dirty="0">
                          <a:effectLst>
                            <a:outerShdw blurRad="38100" dist="38100" dir="2700000" algn="tl">
                              <a:srgbClr val="000000">
                                <a:alpha val="43137"/>
                              </a:srgbClr>
                            </a:outerShdw>
                          </a:effectLst>
                          <a:latin typeface="Arial"/>
                          <a:cs typeface="Arial"/>
                        </a:rPr>
                        <a:t> </a:t>
                      </a:r>
                      <a:r>
                        <a:rPr sz="1100" b="1" spc="-19" dirty="0">
                          <a:effectLst>
                            <a:outerShdw blurRad="38100" dist="38100" dir="2700000" algn="tl">
                              <a:srgbClr val="000000">
                                <a:alpha val="43137"/>
                              </a:srgbClr>
                            </a:outerShdw>
                          </a:effectLst>
                          <a:latin typeface="Arial"/>
                          <a:cs typeface="Arial"/>
                        </a:rPr>
                        <a:t>Agent</a:t>
                      </a:r>
                      <a:endParaRPr sz="1100" b="1" dirty="0">
                        <a:effectLst>
                          <a:outerShdw blurRad="38100" dist="38100" dir="2700000" algn="tl">
                            <a:srgbClr val="000000">
                              <a:alpha val="43137"/>
                            </a:srgbClr>
                          </a:outerShdw>
                        </a:effectLst>
                        <a:latin typeface="Arial"/>
                        <a:cs typeface="Arial"/>
                      </a:endParaRPr>
                    </a:p>
                  </a:txBody>
                  <a:tcPr/>
                </a:tc>
                <a:tc>
                  <a:txBody>
                    <a:bodyPr/>
                    <a:lstStyle/>
                    <a:p>
                      <a:pPr marL="96520" algn="l">
                        <a:lnSpc>
                          <a:spcPct val="100000"/>
                        </a:lnSpc>
                        <a:spcBef>
                          <a:spcPts val="530"/>
                        </a:spcBef>
                        <a:defRPr/>
                      </a:pPr>
                      <a:r>
                        <a:rPr sz="1100" b="1">
                          <a:effectLst>
                            <a:outerShdw blurRad="38100" dist="38100" dir="2700000" algn="tl">
                              <a:srgbClr val="000000">
                                <a:alpha val="43137"/>
                              </a:srgbClr>
                            </a:outerShdw>
                          </a:effectLst>
                          <a:latin typeface="Arial"/>
                          <a:cs typeface="Arial"/>
                        </a:rPr>
                        <a:t>   Start</a:t>
                      </a:r>
                      <a:r>
                        <a:rPr sz="1100" b="1" spc="-1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onboarding</a:t>
                      </a:r>
                      <a:r>
                        <a:rPr sz="1100" b="1" spc="-1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process</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1"/>
                  </a:ext>
                </a:extLst>
              </a:tr>
              <a:tr h="365760">
                <a:tc>
                  <a:txBody>
                    <a:bodyPr/>
                    <a:lstStyle/>
                    <a:p>
                      <a:pPr marL="31750" algn="l">
                        <a:lnSpc>
                          <a:spcPct val="100000"/>
                        </a:lnSpc>
                        <a:spcBef>
                          <a:spcPts val="530"/>
                        </a:spcBef>
                        <a:defRPr/>
                      </a:pPr>
                      <a:r>
                        <a:rPr sz="1100" b="1" spc="-49" dirty="0">
                          <a:effectLst>
                            <a:outerShdw blurRad="38100" dist="38100" dir="2700000" algn="tl">
                              <a:srgbClr val="000000">
                                <a:alpha val="43137"/>
                              </a:srgbClr>
                            </a:outerShdw>
                          </a:effectLst>
                          <a:latin typeface="Arial"/>
                          <a:cs typeface="Arial"/>
                        </a:rPr>
                        <a:t>2</a:t>
                      </a:r>
                      <a:endParaRPr sz="1100" b="1" dirty="0">
                        <a:effectLst>
                          <a:outerShdw blurRad="38100" dist="38100" dir="2700000" algn="tl">
                            <a:srgbClr val="000000">
                              <a:alpha val="43137"/>
                            </a:srgbClr>
                          </a:outerShdw>
                        </a:effectLst>
                        <a:latin typeface="Arial"/>
                        <a:cs typeface="Arial"/>
                      </a:endParaRPr>
                    </a:p>
                  </a:txBody>
                  <a:tcPr/>
                </a:tc>
                <a:tc>
                  <a:txBody>
                    <a:bodyPr/>
                    <a:lstStyle/>
                    <a:p>
                      <a:pPr marL="121920" algn="l">
                        <a:lnSpc>
                          <a:spcPct val="100000"/>
                        </a:lnSpc>
                        <a:spcBef>
                          <a:spcPts val="530"/>
                        </a:spcBef>
                        <a:defRPr/>
                      </a:pPr>
                      <a:r>
                        <a:rPr sz="1100" b="1">
                          <a:effectLst>
                            <a:outerShdw blurRad="38100" dist="38100" dir="2700000" algn="tl">
                              <a:srgbClr val="000000">
                                <a:alpha val="43137"/>
                              </a:srgbClr>
                            </a:outerShdw>
                          </a:effectLst>
                          <a:latin typeface="Arial"/>
                          <a:cs typeface="Arial"/>
                        </a:rPr>
                        <a:t>    One</a:t>
                      </a:r>
                      <a:r>
                        <a:rPr sz="1100" b="1" spc="-3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Stop</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Shop</a:t>
                      </a:r>
                      <a:r>
                        <a:rPr sz="1100" b="1" spc="-34">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Agent</a:t>
                      </a:r>
                      <a:endParaRPr sz="1100" b="1">
                        <a:effectLst>
                          <a:outerShdw blurRad="38100" dist="38100" dir="2700000" algn="tl">
                            <a:srgbClr val="000000">
                              <a:alpha val="43137"/>
                            </a:srgbClr>
                          </a:outerShdw>
                        </a:effectLst>
                        <a:latin typeface="Arial"/>
                        <a:cs typeface="Arial"/>
                      </a:endParaRPr>
                    </a:p>
                  </a:txBody>
                  <a:tcPr/>
                </a:tc>
                <a:tc>
                  <a:txBody>
                    <a:bodyPr/>
                    <a:lstStyle/>
                    <a:p>
                      <a:pPr marL="96520" algn="l">
                        <a:lnSpc>
                          <a:spcPct val="100000"/>
                        </a:lnSpc>
                        <a:spcBef>
                          <a:spcPts val="530"/>
                        </a:spcBef>
                        <a:defRPr/>
                      </a:pPr>
                      <a:r>
                        <a:rPr sz="1100" b="1">
                          <a:effectLst>
                            <a:outerShdw blurRad="38100" dist="38100" dir="2700000" algn="tl">
                              <a:srgbClr val="000000">
                                <a:alpha val="43137"/>
                              </a:srgbClr>
                            </a:outerShdw>
                          </a:effectLst>
                          <a:latin typeface="Arial"/>
                          <a:cs typeface="Arial"/>
                        </a:rPr>
                        <a:t>   Onboard</a:t>
                      </a:r>
                      <a:r>
                        <a:rPr sz="1100" b="1" spc="-3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Chama/Vituo</a:t>
                      </a:r>
                      <a:r>
                        <a:rPr sz="1100" b="1" spc="-3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into</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the</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Kuza</a:t>
                      </a:r>
                      <a:r>
                        <a:rPr sz="1100" b="1" spc="-3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2"/>
                  </a:ext>
                </a:extLst>
              </a:tr>
              <a:tr h="365760">
                <a:tc>
                  <a:txBody>
                    <a:bodyPr/>
                    <a:lstStyle/>
                    <a:p>
                      <a:pPr marL="31750" algn="l">
                        <a:lnSpc>
                          <a:spcPts val="1235"/>
                        </a:lnSpc>
                        <a:spcBef>
                          <a:spcPts val="530"/>
                        </a:spcBef>
                        <a:defRPr/>
                      </a:pPr>
                      <a:r>
                        <a:rPr sz="1100" b="1" spc="-49" dirty="0">
                          <a:effectLst>
                            <a:outerShdw blurRad="38100" dist="38100" dir="2700000" algn="tl">
                              <a:srgbClr val="000000">
                                <a:alpha val="43137"/>
                              </a:srgbClr>
                            </a:outerShdw>
                          </a:effectLst>
                          <a:latin typeface="Arial"/>
                          <a:cs typeface="Arial"/>
                        </a:rPr>
                        <a:t>3</a:t>
                      </a:r>
                      <a:endParaRPr sz="1100" b="1" dirty="0">
                        <a:effectLst>
                          <a:outerShdw blurRad="38100" dist="38100" dir="2700000" algn="tl">
                            <a:srgbClr val="000000">
                              <a:alpha val="43137"/>
                            </a:srgbClr>
                          </a:outerShdw>
                        </a:effectLst>
                        <a:latin typeface="Arial"/>
                        <a:cs typeface="Arial"/>
                      </a:endParaRPr>
                    </a:p>
                  </a:txBody>
                  <a:tcPr/>
                </a:tc>
                <a:tc>
                  <a:txBody>
                    <a:bodyPr/>
                    <a:lstStyle/>
                    <a:p>
                      <a:pPr marL="121920" algn="l">
                        <a:lnSpc>
                          <a:spcPts val="1235"/>
                        </a:lnSpc>
                        <a:spcBef>
                          <a:spcPts val="530"/>
                        </a:spcBef>
                        <a:defRPr/>
                      </a:pPr>
                      <a:r>
                        <a:rPr sz="1100" b="1" dirty="0">
                          <a:effectLst>
                            <a:outerShdw blurRad="38100" dist="38100" dir="2700000" algn="tl">
                              <a:srgbClr val="000000">
                                <a:alpha val="43137"/>
                              </a:srgbClr>
                            </a:outerShdw>
                          </a:effectLst>
                          <a:latin typeface="Arial"/>
                          <a:cs typeface="Arial"/>
                        </a:rPr>
                        <a:t>    Kuza</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System</a:t>
                      </a:r>
                      <a:r>
                        <a:rPr sz="1100" b="1" spc="-23"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a:t>
                      </a:r>
                      <a:r>
                        <a:rPr sz="1100" b="1" spc="-28" dirty="0">
                          <a:effectLst>
                            <a:outerShdw blurRad="38100" dist="38100" dir="2700000" algn="tl">
                              <a:srgbClr val="000000">
                                <a:alpha val="43137"/>
                              </a:srgbClr>
                            </a:outerShdw>
                          </a:effectLst>
                          <a:latin typeface="Arial"/>
                          <a:cs typeface="Arial"/>
                        </a:rPr>
                        <a:t> </a:t>
                      </a:r>
                      <a:r>
                        <a:rPr sz="1100" b="1" spc="-23" dirty="0">
                          <a:effectLst>
                            <a:outerShdw blurRad="38100" dist="38100" dir="2700000" algn="tl">
                              <a:srgbClr val="000000">
                                <a:alpha val="43137"/>
                              </a:srgbClr>
                            </a:outerShdw>
                          </a:effectLst>
                          <a:latin typeface="Arial"/>
                          <a:cs typeface="Arial"/>
                        </a:rPr>
                        <a:t>HQ</a:t>
                      </a:r>
                      <a:endParaRPr sz="1100" b="1" dirty="0">
                        <a:effectLst>
                          <a:outerShdw blurRad="38100" dist="38100" dir="2700000" algn="tl">
                            <a:srgbClr val="000000">
                              <a:alpha val="43137"/>
                            </a:srgbClr>
                          </a:outerShdw>
                        </a:effectLst>
                        <a:latin typeface="Arial"/>
                        <a:cs typeface="Arial"/>
                      </a:endParaRPr>
                    </a:p>
                  </a:txBody>
                  <a:tcPr/>
                </a:tc>
                <a:tc>
                  <a:txBody>
                    <a:bodyPr/>
                    <a:lstStyle/>
                    <a:p>
                      <a:pPr marL="96520" algn="l">
                        <a:lnSpc>
                          <a:spcPts val="1235"/>
                        </a:lnSpc>
                        <a:spcBef>
                          <a:spcPts val="530"/>
                        </a:spcBef>
                        <a:defRPr/>
                      </a:pPr>
                      <a:r>
                        <a:rPr sz="1100" b="1">
                          <a:effectLst>
                            <a:outerShdw blurRad="38100" dist="38100" dir="2700000" algn="tl">
                              <a:srgbClr val="000000">
                                <a:alpha val="43137"/>
                              </a:srgbClr>
                            </a:outerShdw>
                          </a:effectLst>
                          <a:latin typeface="Arial"/>
                          <a:cs typeface="Arial"/>
                        </a:rPr>
                        <a:t>   Approve</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and</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activate</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Chama</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and</a:t>
                      </a:r>
                      <a:r>
                        <a:rPr sz="1100" b="1" spc="-49">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Vituo</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3"/>
                  </a:ext>
                </a:extLst>
              </a:tr>
              <a:tr h="365760">
                <a:tc>
                  <a:txBody>
                    <a:bodyPr/>
                    <a:lstStyle/>
                    <a:p>
                      <a:pPr marL="31750" algn="l">
                        <a:lnSpc>
                          <a:spcPts val="1215"/>
                        </a:lnSpc>
                        <a:defRPr/>
                      </a:pPr>
                      <a:r>
                        <a:rPr sz="1100" b="1" spc="-49">
                          <a:effectLst>
                            <a:outerShdw blurRad="38100" dist="38100" dir="2700000" algn="tl">
                              <a:srgbClr val="000000">
                                <a:alpha val="43137"/>
                              </a:srgbClr>
                            </a:outerShdw>
                          </a:effectLst>
                          <a:latin typeface="Arial"/>
                          <a:cs typeface="Arial"/>
                        </a:rPr>
                        <a:t>4</a:t>
                      </a:r>
                      <a:endParaRPr sz="1100" b="1">
                        <a:effectLst>
                          <a:outerShdw blurRad="38100" dist="38100" dir="2700000" algn="tl">
                            <a:srgbClr val="000000">
                              <a:alpha val="43137"/>
                            </a:srgbClr>
                          </a:outerShdw>
                        </a:effectLst>
                        <a:latin typeface="Arial"/>
                        <a:cs typeface="Arial"/>
                      </a:endParaRPr>
                    </a:p>
                  </a:txBody>
                  <a:tcPr/>
                </a:tc>
                <a:tc>
                  <a:txBody>
                    <a:bodyPr/>
                    <a:lstStyle/>
                    <a:p>
                      <a:pPr marL="289560" algn="l">
                        <a:lnSpc>
                          <a:spcPts val="1215"/>
                        </a:lnSpc>
                        <a:defRPr/>
                      </a:pPr>
                      <a:r>
                        <a:rPr sz="1100" b="1">
                          <a:effectLst>
                            <a:outerShdw blurRad="38100" dist="38100" dir="2700000" algn="tl">
                              <a:srgbClr val="000000">
                                <a:alpha val="43137"/>
                              </a:srgbClr>
                            </a:outerShdw>
                          </a:effectLst>
                          <a:latin typeface="Arial"/>
                          <a:cs typeface="Arial"/>
                        </a:rPr>
                        <a:t>Chama</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t>
                      </a:r>
                      <a:r>
                        <a:rPr sz="1100" b="1" spc="-23">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Vituo</a:t>
                      </a:r>
                      <a:endParaRPr sz="1100" b="1">
                        <a:effectLst>
                          <a:outerShdw blurRad="38100" dist="38100" dir="2700000" algn="tl">
                            <a:srgbClr val="000000">
                              <a:alpha val="43137"/>
                            </a:srgbClr>
                          </a:outerShdw>
                        </a:effectLst>
                        <a:latin typeface="Arial"/>
                        <a:cs typeface="Arial"/>
                      </a:endParaRPr>
                    </a:p>
                    <a:p>
                      <a:pPr marL="289560" algn="l">
                        <a:lnSpc>
                          <a:spcPct val="100000"/>
                        </a:lnSpc>
                        <a:spcBef>
                          <a:spcPts val="135"/>
                        </a:spcBef>
                        <a:defRPr/>
                      </a:pPr>
                      <a:r>
                        <a:rPr sz="1100" b="1" spc="-9">
                          <a:effectLst>
                            <a:outerShdw blurRad="38100" dist="38100" dir="2700000" algn="tl">
                              <a:srgbClr val="000000">
                                <a:alpha val="43137"/>
                              </a:srgbClr>
                            </a:outerShdw>
                          </a:effectLst>
                          <a:latin typeface="Arial"/>
                          <a:cs typeface="Arial"/>
                        </a:rPr>
                        <a:t>Leaders</a:t>
                      </a:r>
                      <a:endParaRPr sz="1100" b="1">
                        <a:effectLst>
                          <a:outerShdw blurRad="38100" dist="38100" dir="2700000" algn="tl">
                            <a:srgbClr val="000000">
                              <a:alpha val="43137"/>
                            </a:srgbClr>
                          </a:outerShdw>
                        </a:effectLst>
                        <a:latin typeface="Arial"/>
                        <a:cs typeface="Arial"/>
                      </a:endParaRPr>
                    </a:p>
                  </a:txBody>
                  <a:tcPr/>
                </a:tc>
                <a:tc>
                  <a:txBody>
                    <a:bodyPr/>
                    <a:lstStyle/>
                    <a:p>
                      <a:pPr marL="232410" algn="l">
                        <a:lnSpc>
                          <a:spcPts val="1215"/>
                        </a:lnSpc>
                        <a:defRPr/>
                      </a:pPr>
                      <a:r>
                        <a:rPr sz="1100" b="1">
                          <a:effectLst>
                            <a:outerShdw blurRad="38100" dist="38100" dir="2700000" algn="tl">
                              <a:srgbClr val="000000">
                                <a:alpha val="43137"/>
                              </a:srgbClr>
                            </a:outerShdw>
                          </a:effectLst>
                          <a:latin typeface="Arial"/>
                          <a:cs typeface="Arial"/>
                        </a:rPr>
                        <a:t>Select</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eligible</a:t>
                      </a:r>
                      <a:r>
                        <a:rPr sz="1100" b="1" spc="-3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boda</a:t>
                      </a:r>
                      <a:r>
                        <a:rPr sz="1100" b="1" spc="-3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riders</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4"/>
                  </a:ext>
                </a:extLst>
              </a:tr>
              <a:tr h="365760">
                <a:tc>
                  <a:txBody>
                    <a:bodyPr/>
                    <a:lstStyle/>
                    <a:p>
                      <a:pPr marL="31750" algn="l">
                        <a:lnSpc>
                          <a:spcPct val="100000"/>
                        </a:lnSpc>
                        <a:spcBef>
                          <a:spcPts val="530"/>
                        </a:spcBef>
                        <a:defRPr/>
                      </a:pPr>
                      <a:r>
                        <a:rPr sz="1100" b="1" spc="-49">
                          <a:effectLst>
                            <a:outerShdw blurRad="38100" dist="38100" dir="2700000" algn="tl">
                              <a:srgbClr val="000000">
                                <a:alpha val="43137"/>
                              </a:srgbClr>
                            </a:outerShdw>
                          </a:effectLst>
                          <a:latin typeface="Arial"/>
                          <a:cs typeface="Arial"/>
                        </a:rPr>
                        <a:t>5</a:t>
                      </a:r>
                      <a:endParaRPr sz="1100" b="1">
                        <a:effectLst>
                          <a:outerShdw blurRad="38100" dist="38100" dir="2700000" algn="tl">
                            <a:srgbClr val="000000">
                              <a:alpha val="43137"/>
                            </a:srgbClr>
                          </a:outerShdw>
                        </a:effectLst>
                        <a:latin typeface="Arial"/>
                        <a:cs typeface="Arial"/>
                      </a:endParaRPr>
                    </a:p>
                  </a:txBody>
                  <a:tcPr/>
                </a:tc>
                <a:tc>
                  <a:txBody>
                    <a:bodyPr/>
                    <a:lstStyle/>
                    <a:p>
                      <a:pPr marL="289560" algn="l">
                        <a:lnSpc>
                          <a:spcPct val="100000"/>
                        </a:lnSpc>
                        <a:spcBef>
                          <a:spcPts val="530"/>
                        </a:spcBef>
                        <a:defRPr/>
                      </a:pPr>
                      <a:r>
                        <a:rPr sz="1100" b="1">
                          <a:effectLst>
                            <a:outerShdw blurRad="38100" dist="38100" dir="2700000" algn="tl">
                              <a:srgbClr val="000000">
                                <a:alpha val="43137"/>
                              </a:srgbClr>
                            </a:outerShdw>
                          </a:effectLst>
                          <a:latin typeface="Arial"/>
                          <a:cs typeface="Arial"/>
                        </a:rPr>
                        <a:t>Boda</a:t>
                      </a:r>
                      <a:r>
                        <a:rPr sz="1100" b="1" spc="-4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Rider</a:t>
                      </a:r>
                      <a:endParaRPr sz="1100" b="1">
                        <a:effectLst>
                          <a:outerShdw blurRad="38100" dist="38100" dir="2700000" algn="tl">
                            <a:srgbClr val="000000">
                              <a:alpha val="43137"/>
                            </a:srgbClr>
                          </a:outerShdw>
                        </a:effectLst>
                        <a:latin typeface="Arial"/>
                        <a:cs typeface="Arial"/>
                      </a:endParaRPr>
                    </a:p>
                  </a:txBody>
                  <a:tcPr/>
                </a:tc>
                <a:tc>
                  <a:txBody>
                    <a:bodyPr/>
                    <a:lstStyle/>
                    <a:p>
                      <a:pPr marL="232410" algn="l">
                        <a:lnSpc>
                          <a:spcPct val="100000"/>
                        </a:lnSpc>
                        <a:spcBef>
                          <a:spcPts val="530"/>
                        </a:spcBef>
                        <a:defRPr/>
                      </a:pPr>
                      <a:r>
                        <a:rPr sz="1100" b="1" spc="-9">
                          <a:effectLst>
                            <a:outerShdw blurRad="38100" dist="38100" dir="2700000" algn="tl">
                              <a:srgbClr val="000000">
                                <a:alpha val="43137"/>
                              </a:srgbClr>
                            </a:outerShdw>
                          </a:effectLst>
                          <a:latin typeface="Arial"/>
                          <a:cs typeface="Arial"/>
                        </a:rPr>
                        <a:t>Complete</a:t>
                      </a:r>
                      <a:r>
                        <a:rPr sz="1100" b="1" spc="-1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KYC</a:t>
                      </a:r>
                      <a:r>
                        <a:rPr sz="1100" b="1" spc="-14">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form</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5"/>
                  </a:ext>
                </a:extLst>
              </a:tr>
              <a:tr h="365760">
                <a:tc>
                  <a:txBody>
                    <a:bodyPr/>
                    <a:lstStyle/>
                    <a:p>
                      <a:pPr marL="31750" algn="l">
                        <a:lnSpc>
                          <a:spcPct val="100000"/>
                        </a:lnSpc>
                        <a:spcBef>
                          <a:spcPts val="530"/>
                        </a:spcBef>
                        <a:defRPr/>
                      </a:pPr>
                      <a:r>
                        <a:rPr sz="1100" b="1" spc="-49">
                          <a:effectLst>
                            <a:outerShdw blurRad="38100" dist="38100" dir="2700000" algn="tl">
                              <a:srgbClr val="000000">
                                <a:alpha val="43137"/>
                              </a:srgbClr>
                            </a:outerShdw>
                          </a:effectLst>
                          <a:latin typeface="Arial"/>
                          <a:cs typeface="Arial"/>
                        </a:rPr>
                        <a:t>6</a:t>
                      </a:r>
                      <a:endParaRPr sz="1100" b="1">
                        <a:effectLst>
                          <a:outerShdw blurRad="38100" dist="38100" dir="2700000" algn="tl">
                            <a:srgbClr val="000000">
                              <a:alpha val="43137"/>
                            </a:srgbClr>
                          </a:outerShdw>
                        </a:effectLst>
                        <a:latin typeface="Arial"/>
                        <a:cs typeface="Arial"/>
                      </a:endParaRPr>
                    </a:p>
                  </a:txBody>
                  <a:tcPr/>
                </a:tc>
                <a:tc>
                  <a:txBody>
                    <a:bodyPr/>
                    <a:lstStyle/>
                    <a:p>
                      <a:pPr marL="289560" marR="429260" algn="l">
                        <a:lnSpc>
                          <a:spcPct val="110000"/>
                        </a:lnSpc>
                        <a:spcBef>
                          <a:spcPts val="400"/>
                        </a:spcBef>
                        <a:defRPr/>
                      </a:pPr>
                      <a:r>
                        <a:rPr sz="1100" b="1">
                          <a:effectLst>
                            <a:outerShdw blurRad="38100" dist="38100" dir="2700000" algn="tl">
                              <a:srgbClr val="000000">
                                <a:alpha val="43137"/>
                              </a:srgbClr>
                            </a:outerShdw>
                          </a:effectLst>
                          <a:latin typeface="Arial"/>
                          <a:cs typeface="Arial"/>
                        </a:rPr>
                        <a:t>Chama</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t>
                      </a:r>
                      <a:r>
                        <a:rPr sz="1100" b="1" spc="-23">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Vituo Leaders</a:t>
                      </a:r>
                      <a:endParaRPr sz="1100" b="1">
                        <a:effectLst>
                          <a:outerShdw blurRad="38100" dist="38100" dir="2700000" algn="tl">
                            <a:srgbClr val="000000">
                              <a:alpha val="43137"/>
                            </a:srgbClr>
                          </a:outerShdw>
                        </a:effectLst>
                        <a:latin typeface="Arial"/>
                        <a:cs typeface="Arial"/>
                      </a:endParaRPr>
                    </a:p>
                  </a:txBody>
                  <a:tcPr/>
                </a:tc>
                <a:tc>
                  <a:txBody>
                    <a:bodyPr/>
                    <a:lstStyle/>
                    <a:p>
                      <a:pPr marL="232410" algn="l">
                        <a:lnSpc>
                          <a:spcPct val="100000"/>
                        </a:lnSpc>
                        <a:spcBef>
                          <a:spcPts val="530"/>
                        </a:spcBef>
                        <a:defRPr/>
                      </a:pPr>
                      <a:r>
                        <a:rPr sz="1100" b="1">
                          <a:effectLst>
                            <a:outerShdw blurRad="38100" dist="38100" dir="2700000" algn="tl">
                              <a:srgbClr val="000000">
                                <a:alpha val="43137"/>
                              </a:srgbClr>
                            </a:outerShdw>
                          </a:effectLst>
                          <a:latin typeface="Arial"/>
                          <a:cs typeface="Arial"/>
                        </a:rPr>
                        <a:t>Submit</a:t>
                      </a:r>
                      <a:r>
                        <a:rPr sz="1100" b="1" spc="-2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completed</a:t>
                      </a:r>
                      <a:r>
                        <a:rPr sz="1100" b="1" spc="-23">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rider</a:t>
                      </a:r>
                      <a:r>
                        <a:rPr sz="1100" b="1" spc="-23">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forms</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to</a:t>
                      </a:r>
                      <a:r>
                        <a:rPr sz="1100" b="1" spc="-23">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Kuza</a:t>
                      </a:r>
                      <a:r>
                        <a:rPr sz="1100" b="1" spc="-23">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Shop</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6"/>
                  </a:ext>
                </a:extLst>
              </a:tr>
              <a:tr h="365760">
                <a:tc>
                  <a:txBody>
                    <a:bodyPr/>
                    <a:lstStyle/>
                    <a:p>
                      <a:pPr marL="31750" algn="l">
                        <a:lnSpc>
                          <a:spcPts val="1235"/>
                        </a:lnSpc>
                        <a:spcBef>
                          <a:spcPts val="530"/>
                        </a:spcBef>
                        <a:defRPr/>
                      </a:pPr>
                      <a:r>
                        <a:rPr sz="1100" b="1" spc="-49">
                          <a:effectLst>
                            <a:outerShdw blurRad="38100" dist="38100" dir="2700000" algn="tl">
                              <a:srgbClr val="000000">
                                <a:alpha val="43137"/>
                              </a:srgbClr>
                            </a:outerShdw>
                          </a:effectLst>
                          <a:latin typeface="Arial"/>
                          <a:cs typeface="Arial"/>
                        </a:rPr>
                        <a:t>7</a:t>
                      </a:r>
                      <a:endParaRPr sz="1100" b="1">
                        <a:effectLst>
                          <a:outerShdw blurRad="38100" dist="38100" dir="2700000" algn="tl">
                            <a:srgbClr val="000000">
                              <a:alpha val="43137"/>
                            </a:srgbClr>
                          </a:outerShdw>
                        </a:effectLst>
                        <a:latin typeface="Arial"/>
                        <a:cs typeface="Arial"/>
                      </a:endParaRPr>
                    </a:p>
                  </a:txBody>
                  <a:tcPr/>
                </a:tc>
                <a:tc>
                  <a:txBody>
                    <a:bodyPr/>
                    <a:lstStyle/>
                    <a:p>
                      <a:pPr marL="289560" algn="l">
                        <a:lnSpc>
                          <a:spcPts val="1235"/>
                        </a:lnSpc>
                        <a:spcBef>
                          <a:spcPts val="530"/>
                        </a:spcBef>
                        <a:defRPr/>
                      </a:pPr>
                      <a:r>
                        <a:rPr sz="1100" b="1">
                          <a:effectLst>
                            <a:outerShdw blurRad="38100" dist="38100" dir="2700000" algn="tl">
                              <a:srgbClr val="000000">
                                <a:alpha val="43137"/>
                              </a:srgbClr>
                            </a:outerShdw>
                          </a:effectLst>
                          <a:latin typeface="Arial"/>
                          <a:cs typeface="Arial"/>
                        </a:rPr>
                        <a:t>Kuza</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Shop</a:t>
                      </a:r>
                      <a:r>
                        <a:rPr sz="1100" b="1" spc="-45">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Agent</a:t>
                      </a:r>
                      <a:endParaRPr sz="1100" b="1">
                        <a:effectLst>
                          <a:outerShdw blurRad="38100" dist="38100" dir="2700000" algn="tl">
                            <a:srgbClr val="000000">
                              <a:alpha val="43137"/>
                            </a:srgbClr>
                          </a:outerShdw>
                        </a:effectLst>
                        <a:latin typeface="Arial"/>
                        <a:cs typeface="Arial"/>
                      </a:endParaRPr>
                    </a:p>
                  </a:txBody>
                  <a:tcPr/>
                </a:tc>
                <a:tc>
                  <a:txBody>
                    <a:bodyPr/>
                    <a:lstStyle/>
                    <a:p>
                      <a:pPr marL="232410" algn="l">
                        <a:lnSpc>
                          <a:spcPts val="1235"/>
                        </a:lnSpc>
                        <a:spcBef>
                          <a:spcPts val="530"/>
                        </a:spcBef>
                        <a:defRPr/>
                      </a:pPr>
                      <a:r>
                        <a:rPr sz="1100" b="1" dirty="0">
                          <a:effectLst>
                            <a:outerShdw blurRad="38100" dist="38100" dir="2700000" algn="tl">
                              <a:srgbClr val="000000">
                                <a:alpha val="43137"/>
                              </a:srgbClr>
                            </a:outerShdw>
                          </a:effectLst>
                          <a:latin typeface="Arial"/>
                          <a:cs typeface="Arial"/>
                        </a:rPr>
                        <a:t>Return</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forms</a:t>
                      </a:r>
                      <a:r>
                        <a:rPr sz="1100" b="1" spc="-23"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for</a:t>
                      </a:r>
                      <a:r>
                        <a:rPr sz="1100" b="1" spc="-23"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correction</a:t>
                      </a:r>
                      <a:r>
                        <a:rPr sz="1100" b="1" spc="-23"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if</a:t>
                      </a:r>
                      <a:r>
                        <a:rPr sz="1100" b="1" spc="-23" dirty="0">
                          <a:effectLst>
                            <a:outerShdw blurRad="38100" dist="38100" dir="2700000" algn="tl">
                              <a:srgbClr val="000000">
                                <a:alpha val="43137"/>
                              </a:srgbClr>
                            </a:outerShdw>
                          </a:effectLst>
                          <a:latin typeface="Arial"/>
                          <a:cs typeface="Arial"/>
                        </a:rPr>
                        <a:t> </a:t>
                      </a:r>
                      <a:r>
                        <a:rPr sz="1100" b="1" spc="-9" dirty="0">
                          <a:effectLst>
                            <a:outerShdw blurRad="38100" dist="38100" dir="2700000" algn="tl">
                              <a:srgbClr val="000000">
                                <a:alpha val="43137"/>
                              </a:srgbClr>
                            </a:outerShdw>
                          </a:effectLst>
                          <a:latin typeface="Arial"/>
                          <a:cs typeface="Arial"/>
                        </a:rPr>
                        <a:t>incomplete</a:t>
                      </a:r>
                      <a:r>
                        <a:rPr sz="1100" b="1" spc="-23"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or</a:t>
                      </a:r>
                      <a:r>
                        <a:rPr sz="1100" b="1" spc="-28" dirty="0">
                          <a:effectLst>
                            <a:outerShdw blurRad="38100" dist="38100" dir="2700000" algn="tl">
                              <a:srgbClr val="000000">
                                <a:alpha val="43137"/>
                              </a:srgbClr>
                            </a:outerShdw>
                          </a:effectLst>
                          <a:latin typeface="Arial"/>
                          <a:cs typeface="Arial"/>
                        </a:rPr>
                        <a:t> </a:t>
                      </a:r>
                      <a:r>
                        <a:rPr sz="1100" b="1" spc="-9" dirty="0">
                          <a:effectLst>
                            <a:outerShdw blurRad="38100" dist="38100" dir="2700000" algn="tl">
                              <a:srgbClr val="000000">
                                <a:alpha val="43137"/>
                              </a:srgbClr>
                            </a:outerShdw>
                          </a:effectLst>
                          <a:latin typeface="Arial"/>
                          <a:cs typeface="Arial"/>
                        </a:rPr>
                        <a:t>rejected</a:t>
                      </a:r>
                      <a:endParaRPr sz="1100" b="1" dirty="0">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7"/>
                  </a:ext>
                </a:extLst>
              </a:tr>
            </a:tbl>
          </a:graphicData>
        </a:graphic>
      </p:graphicFrame>
      <p:pic>
        <p:nvPicPr>
          <p:cNvPr id="1789380865"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0149211" name="Google Shape;67;p14"/>
          <p:cNvSpPr/>
          <p:nvPr/>
        </p:nvSpPr>
        <p:spPr bwMode="auto">
          <a:xfrm>
            <a:off x="1748763" y="320565"/>
            <a:ext cx="1157688" cy="386568"/>
          </a:xfrm>
          <a:prstGeom prst="flowChartTerminator">
            <a:avLst/>
          </a:prstGeom>
          <a:solidFill>
            <a:srgbClr val="283676"/>
          </a:solidFill>
          <a:ln w="9525" cap="flat" cmpd="sng">
            <a:solidFill>
              <a:srgbClr val="FFFFFF"/>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Arial"/>
              <a:cs typeface="Arial"/>
            </a:endParaRPr>
          </a:p>
          <a:p>
            <a:pPr marL="12700">
              <a:lnSpc>
                <a:spcPct val="100000"/>
              </a:lnSpc>
              <a:spcBef>
                <a:spcPts val="100"/>
              </a:spcBef>
              <a:defRPr/>
            </a:pPr>
            <a:r>
              <a:rPr lang="en-US" sz="600" b="1" i="0" u="none" strike="noStrike" cap="none" spc="-19">
                <a:solidFill>
                  <a:schemeClr val="bg1"/>
                </a:solidFill>
                <a:latin typeface="Calibri"/>
                <a:ea typeface="Calibri"/>
                <a:cs typeface="Calibri"/>
              </a:rPr>
              <a:t>Registration</a:t>
            </a:r>
            <a:r>
              <a:rPr lang="en-US" sz="600" b="1" i="0" u="none" strike="noStrike" cap="none" spc="-14">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&amp;</a:t>
            </a:r>
            <a:r>
              <a:rPr lang="en-US" sz="600" b="1" i="0" u="none" strike="noStrike" cap="none" spc="-14">
                <a:solidFill>
                  <a:schemeClr val="bg1"/>
                </a:solidFill>
                <a:latin typeface="Calibri"/>
                <a:ea typeface="Calibri"/>
                <a:cs typeface="Calibri"/>
              </a:rPr>
              <a:t> </a:t>
            </a:r>
            <a:r>
              <a:rPr lang="en-US" sz="600" b="1" i="0" u="none" strike="noStrike" cap="none" spc="-28">
                <a:solidFill>
                  <a:schemeClr val="bg1"/>
                </a:solidFill>
                <a:latin typeface="Calibri"/>
                <a:ea typeface="Calibri"/>
                <a:cs typeface="Calibri"/>
              </a:rPr>
              <a:t>activation</a:t>
            </a:r>
            <a:r>
              <a:rPr lang="en-US" sz="600" b="1" i="0" u="none" strike="noStrike" cap="none" spc="-14">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process</a:t>
            </a:r>
            <a:endParaRPr lang="en-US" sz="600" b="1" i="0" u="none" strike="noStrike" cap="none" spc="-9">
              <a:solidFill>
                <a:schemeClr val="bg1"/>
              </a:solidFill>
              <a:latin typeface="Times New Roman"/>
              <a:cs typeface="Times New Roman"/>
            </a:endParaRPr>
          </a:p>
          <a:p>
            <a:pPr marL="0" lvl="0" indent="0" algn="ctr" rtl="0">
              <a:spcBef>
                <a:spcPts val="0"/>
              </a:spcBef>
              <a:spcAft>
                <a:spcPts val="0"/>
              </a:spcAft>
              <a:buClr>
                <a:srgbClr val="000000"/>
              </a:buClr>
              <a:buSzPts val="1100"/>
              <a:buFont typeface="Arial"/>
              <a:buNone/>
              <a:defRPr/>
            </a:pPr>
            <a:endParaRPr sz="1000" b="1">
              <a:solidFill>
                <a:schemeClr val="bg1"/>
              </a:solidFill>
            </a:endParaRPr>
          </a:p>
        </p:txBody>
      </p:sp>
      <p:sp>
        <p:nvSpPr>
          <p:cNvPr id="418142000" name="Google Shape;68;p14"/>
          <p:cNvSpPr/>
          <p:nvPr/>
        </p:nvSpPr>
        <p:spPr bwMode="auto">
          <a:xfrm>
            <a:off x="308532"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19">
                <a:solidFill>
                  <a:schemeClr val="tx1"/>
                </a:solidFill>
                <a:latin typeface="Arial"/>
                <a:ea typeface="Arial"/>
                <a:cs typeface="Arial"/>
              </a:rPr>
              <a:t>                </a:t>
            </a:r>
            <a:r>
              <a:rPr lang="en-US" sz="600" b="1" i="0" u="none" strike="noStrike" cap="none" spc="0">
                <a:solidFill>
                  <a:schemeClr val="bg1"/>
                </a:solidFill>
                <a:latin typeface="Calibri"/>
                <a:ea typeface="Calibri"/>
                <a:cs typeface="Calibri"/>
              </a:rPr>
              <a:t>On-boarding</a:t>
            </a:r>
            <a:r>
              <a:rPr lang="en-US" sz="600" b="1" i="0" u="none" strike="noStrike" cap="none" spc="-19">
                <a:solidFill>
                  <a:schemeClr val="bg1"/>
                </a:solidFill>
                <a:latin typeface="Calibri"/>
                <a:ea typeface="Calibri"/>
                <a:cs typeface="Calibri"/>
              </a:rPr>
              <a:t> </a:t>
            </a:r>
            <a:endParaRPr sz="600">
              <a:latin typeface="Arial"/>
              <a:cs typeface="Arial"/>
            </a:endParaRPr>
          </a:p>
          <a:p>
            <a:pPr marL="0" lvl="0" indent="0" algn="ctr" rtl="0">
              <a:spcBef>
                <a:spcPts val="0"/>
              </a:spcBef>
              <a:spcAft>
                <a:spcPts val="0"/>
              </a:spcAft>
              <a:buNone/>
              <a:defRPr/>
            </a:pPr>
            <a:endParaRPr sz="600" b="1">
              <a:solidFill>
                <a:srgbClr val="283676"/>
              </a:solidFill>
              <a:latin typeface="Montserrat"/>
              <a:ea typeface="Montserrat"/>
              <a:cs typeface="Montserrat"/>
            </a:endParaRPr>
          </a:p>
        </p:txBody>
      </p:sp>
      <p:sp>
        <p:nvSpPr>
          <p:cNvPr id="1297055025" name="Google Shape;69;p14"/>
          <p:cNvSpPr/>
          <p:nvPr/>
        </p:nvSpPr>
        <p:spPr bwMode="auto">
          <a:xfrm>
            <a:off x="2980749" y="320565"/>
            <a:ext cx="1597032"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a:defRPr/>
            </a:pPr>
            <a:r>
              <a:rPr lang="en-US" sz="600" b="1" i="0" u="none" strike="noStrike" cap="none" spc="0">
                <a:solidFill>
                  <a:schemeClr val="bg1"/>
                </a:solidFill>
                <a:latin typeface="Calibri"/>
                <a:ea typeface="Calibri"/>
                <a:cs typeface="Calibri"/>
              </a:rPr>
              <a:t>Loan</a:t>
            </a:r>
            <a:r>
              <a:rPr lang="en-US" sz="600" b="1" i="0" u="none" strike="noStrike" cap="none" spc="-49">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request</a:t>
            </a:r>
            <a:r>
              <a:rPr lang="en-US" sz="600" b="1" i="0" u="none" strike="noStrike" cap="none" spc="-49">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&amp;</a:t>
            </a:r>
            <a:r>
              <a:rPr lang="en-US" sz="600" b="1" i="0" u="none" strike="noStrike" cap="none" spc="-49">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disbursement</a:t>
            </a:r>
            <a:r>
              <a:rPr lang="en-US" sz="600" b="1" i="0" u="none" strike="noStrike" cap="none" spc="-49">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process</a:t>
            </a:r>
            <a:endParaRPr>
              <a:solidFill>
                <a:schemeClr val="bg1"/>
              </a:solidFill>
              <a:latin typeface="Calibri"/>
              <a:cs typeface="Calibri"/>
            </a:endParaRPr>
          </a:p>
        </p:txBody>
      </p:sp>
      <p:sp>
        <p:nvSpPr>
          <p:cNvPr id="1537446066" name="Google Shape;70;p14"/>
          <p:cNvSpPr/>
          <p:nvPr/>
        </p:nvSpPr>
        <p:spPr bwMode="auto">
          <a:xfrm>
            <a:off x="46654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34">
                <a:solidFill>
                  <a:schemeClr val="bg1"/>
                </a:solidFill>
                <a:latin typeface="Calibri"/>
                <a:ea typeface="Calibri"/>
                <a:cs typeface="Calibri"/>
              </a:rPr>
              <a:t>Repayment </a:t>
            </a:r>
            <a:r>
              <a:rPr lang="en-US" sz="600" b="1" i="0" u="none" strike="noStrike" cap="none" spc="-9">
                <a:solidFill>
                  <a:schemeClr val="bg1"/>
                </a:solidFill>
                <a:latin typeface="Calibri"/>
                <a:ea typeface="Calibri"/>
                <a:cs typeface="Calibri"/>
              </a:rPr>
              <a:t>process</a:t>
            </a:r>
            <a:endParaRPr sz="600">
              <a:latin typeface="Calibri"/>
              <a:cs typeface="Calibri"/>
            </a:endParaRPr>
          </a:p>
        </p:txBody>
      </p:sp>
      <p:sp>
        <p:nvSpPr>
          <p:cNvPr id="359571522" name="Google Shape;71;p14"/>
          <p:cNvSpPr/>
          <p:nvPr/>
        </p:nvSpPr>
        <p:spPr bwMode="auto">
          <a:xfrm>
            <a:off x="61427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Calibri"/>
              <a:cs typeface="Calibri"/>
            </a:endParaRPr>
          </a:p>
          <a:p>
            <a:pPr marL="12700">
              <a:lnSpc>
                <a:spcPct val="100000"/>
              </a:lnSpc>
              <a:spcBef>
                <a:spcPts val="100"/>
              </a:spcBef>
              <a:defRPr/>
            </a:pPr>
            <a:r>
              <a:rPr lang="en-US" sz="600" b="1" i="0" u="none" strike="noStrike" cap="none" spc="0">
                <a:solidFill>
                  <a:schemeClr val="bg1"/>
                </a:solidFill>
                <a:latin typeface="Calibri"/>
                <a:ea typeface="Calibri"/>
                <a:cs typeface="Calibri"/>
              </a:rPr>
              <a:t>Collection</a:t>
            </a:r>
            <a:r>
              <a:rPr lang="en-US" sz="600" b="1" i="0" u="none" strike="noStrike" cap="none" spc="-34">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&amp;</a:t>
            </a:r>
            <a:r>
              <a:rPr lang="en-US" sz="600" b="1" i="0" u="none" strike="noStrike" cap="none" spc="-34">
                <a:solidFill>
                  <a:schemeClr val="bg1"/>
                </a:solidFill>
                <a:latin typeface="Calibri"/>
                <a:ea typeface="Calibri"/>
                <a:cs typeface="Calibri"/>
              </a:rPr>
              <a:t> </a:t>
            </a:r>
            <a:r>
              <a:rPr lang="en-US" sz="600" b="1" i="0" u="none" strike="noStrike" cap="none" spc="-19">
                <a:solidFill>
                  <a:schemeClr val="bg1"/>
                </a:solidFill>
                <a:latin typeface="Calibri"/>
                <a:ea typeface="Calibri"/>
                <a:cs typeface="Calibri"/>
              </a:rPr>
              <a:t>escalation</a:t>
            </a:r>
            <a:r>
              <a:rPr lang="en-US" sz="600" b="1" i="0" u="none" strike="noStrike" cap="none" spc="-34">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process</a:t>
            </a:r>
            <a:endParaRPr sz="600" b="1" i="0" u="none" strike="noStrike" cap="none" spc="-9">
              <a:solidFill>
                <a:schemeClr val="bg1"/>
              </a:solidFill>
              <a:latin typeface="Calibri"/>
              <a:cs typeface="Calibri"/>
            </a:endParaRPr>
          </a:p>
          <a:p>
            <a:pPr marL="0" lvl="0" indent="0" algn="ctr" rtl="0">
              <a:spcBef>
                <a:spcPts val="0"/>
              </a:spcBef>
              <a:spcAft>
                <a:spcPts val="0"/>
              </a:spcAft>
              <a:buClr>
                <a:srgbClr val="000000"/>
              </a:buClr>
              <a:buSzPts val="1100"/>
              <a:buFont typeface="Arial"/>
              <a:buNone/>
              <a:defRPr/>
            </a:pPr>
            <a:endParaRPr sz="600" b="1">
              <a:solidFill>
                <a:srgbClr val="283676"/>
              </a:solidFill>
              <a:latin typeface="Calibri"/>
              <a:cs typeface="Calibri"/>
            </a:endParaRPr>
          </a:p>
        </p:txBody>
      </p:sp>
      <p:sp>
        <p:nvSpPr>
          <p:cNvPr id="939119639" name="Google Shape;74;p14"/>
          <p:cNvSpPr txBox="1"/>
          <p:nvPr/>
        </p:nvSpPr>
        <p:spPr bwMode="auto">
          <a:xfrm>
            <a:off x="205533" y="873065"/>
            <a:ext cx="11360799" cy="763598"/>
          </a:xfrm>
          <a:prstGeom prst="rect">
            <a:avLst/>
          </a:prstGeom>
          <a:noFill/>
          <a:ln>
            <a:noFill/>
          </a:ln>
        </p:spPr>
        <p:txBody>
          <a:bodyPr spcFirstLastPara="1" vertOverflow="overflow" horzOverflow="overflow" vert="horz" wrap="square" lIns="91423" tIns="91423" rIns="91423" bIns="91423" numCol="1" spcCol="0" rtlCol="0" fromWordArt="0" anchor="t" anchorCtr="0" forceAA="0" compatLnSpc="0">
            <a:normAutofit fontScale="90000" lnSpcReduction="2000"/>
          </a:bodyPr>
          <a:lstStyle/>
          <a:p>
            <a:pPr marL="12700" marR="0" indent="0" algn="l">
              <a:lnSpc>
                <a:spcPct val="100000"/>
              </a:lnSpc>
              <a:spcBef>
                <a:spcPts val="100"/>
              </a:spcBef>
              <a:spcAft>
                <a:spcPts val="0"/>
              </a:spcAft>
              <a:defRPr/>
            </a:pPr>
            <a:endParaRPr sz="2300">
              <a:latin typeface="Arial"/>
              <a:cs typeface="Arial"/>
            </a:endParaRPr>
          </a:p>
          <a:p>
            <a:pPr marL="0" lvl="0" indent="0" algn="l" rtl="0">
              <a:spcBef>
                <a:spcPts val="0"/>
              </a:spcBef>
              <a:spcAft>
                <a:spcPts val="0"/>
              </a:spcAft>
              <a:buNone/>
              <a:defRPr/>
            </a:pPr>
            <a:endParaRPr sz="2300" b="1">
              <a:solidFill>
                <a:srgbClr val="243374"/>
              </a:solidFill>
              <a:latin typeface="Montserrat"/>
              <a:ea typeface="Montserrat"/>
              <a:cs typeface="Montserrat"/>
            </a:endParaRPr>
          </a:p>
        </p:txBody>
      </p:sp>
      <p:sp>
        <p:nvSpPr>
          <p:cNvPr id="541658272" name="Google Shape;75;p14"/>
          <p:cNvSpPr txBox="1"/>
          <p:nvPr/>
        </p:nvSpPr>
        <p:spPr bwMode="auto">
          <a:xfrm>
            <a:off x="308532" y="3636915"/>
            <a:ext cx="11154799" cy="4555199"/>
          </a:xfrm>
          <a:prstGeom prst="rect">
            <a:avLst/>
          </a:prstGeom>
          <a:noFill/>
          <a:ln>
            <a:noFill/>
          </a:ln>
        </p:spPr>
        <p:txBody>
          <a:bodyPr spcFirstLastPara="1" wrap="square" lIns="91423" tIns="91423" rIns="91423" bIns="91423" anchor="t" anchorCtr="0">
            <a:normAutofit/>
          </a:bodyPr>
          <a:lstStyle/>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p:txBody>
      </p:sp>
      <p:sp>
        <p:nvSpPr>
          <p:cNvPr id="355853162" name="Title 1"/>
          <p:cNvSpPr>
            <a:spLocks noGrp="1"/>
          </p:cNvSpPr>
          <p:nvPr>
            <p:ph type="title"/>
          </p:nvPr>
        </p:nvSpPr>
        <p:spPr bwMode="auto">
          <a:xfrm>
            <a:off x="609599" y="560387"/>
            <a:ext cx="10972800" cy="1143000"/>
          </a:xfrm>
        </p:spPr>
        <p:txBody>
          <a:bodyPr>
            <a:normAutofit/>
          </a:bodyPr>
          <a:lstStyle/>
          <a:p>
            <a:pPr marL="0" marR="0" indent="0" algn="ctr">
              <a:lnSpc>
                <a:spcPct val="100000"/>
              </a:lnSpc>
              <a:spcBef>
                <a:spcPts val="0"/>
              </a:spcBef>
              <a:spcAft>
                <a:spcPts val="0"/>
              </a:spcAft>
              <a:buNone/>
              <a:defRPr/>
            </a:pPr>
            <a:r>
              <a:rPr lang="en-US" sz="2200" b="1" i="0" u="none" strike="noStrike" cap="none" spc="0" dirty="0">
                <a:solidFill>
                  <a:schemeClr val="bg1"/>
                </a:solidFill>
                <a:latin typeface="Calibri"/>
                <a:ea typeface="Calibri"/>
                <a:cs typeface="Calibri"/>
              </a:rPr>
              <a:t>B</a:t>
            </a:r>
            <a:r>
              <a:rPr lang="en-GB" sz="2200" b="1" i="0" u="none" strike="noStrike" cap="none" spc="0" dirty="0">
                <a:solidFill>
                  <a:schemeClr val="bg1"/>
                </a:solidFill>
                <a:latin typeface="Calibri"/>
                <a:ea typeface="Calibri"/>
                <a:cs typeface="Calibri"/>
              </a:rPr>
              <a:t>.</a:t>
            </a:r>
            <a:r>
              <a:rPr lang="en-US" sz="2200" b="1" i="0" u="none" strike="noStrike" cap="none" spc="0" dirty="0">
                <a:solidFill>
                  <a:schemeClr val="bg1"/>
                </a:solidFill>
                <a:latin typeface="Calibri"/>
                <a:ea typeface="Calibri"/>
                <a:cs typeface="Calibri"/>
              </a:rPr>
              <a:t>REGISTRATION &amp; ACTIVATION PROCESS</a:t>
            </a:r>
            <a:r>
              <a:rPr lang="en-GB" sz="2200" b="1" i="0" u="none" strike="noStrike" cap="none" spc="0" dirty="0">
                <a:solidFill>
                  <a:schemeClr val="bg1"/>
                </a:solidFill>
                <a:latin typeface="Calibri"/>
                <a:ea typeface="Calibri"/>
                <a:cs typeface="Calibri"/>
              </a:rPr>
              <a:t> </a:t>
            </a:r>
          </a:p>
        </p:txBody>
      </p:sp>
      <p:graphicFrame>
        <p:nvGraphicFramePr>
          <p:cNvPr id="94714213" name="Content Placeholder 232828436"/>
          <p:cNvGraphicFramePr>
            <a:graphicFrameLocks noGrp="1"/>
          </p:cNvGraphicFramePr>
          <p:nvPr>
            <p:ph idx="1"/>
            <p:extLst>
              <p:ext uri="{D42A27DB-BD31-4B8C-83A1-F6EECF244321}">
                <p14:modId xmlns:p14="http://schemas.microsoft.com/office/powerpoint/2010/main" val="3219014667"/>
              </p:ext>
            </p:extLst>
          </p:nvPr>
        </p:nvGraphicFramePr>
        <p:xfrm>
          <a:off x="609599" y="1600200"/>
          <a:ext cx="10972800" cy="3291840"/>
        </p:xfrm>
        <a:graphic>
          <a:graphicData uri="http://schemas.openxmlformats.org/drawingml/2006/table">
            <a:tbl>
              <a:tblPr firstRow="1" bandRow="1">
                <a:effectLst>
                  <a:innerShdw blurRad="63500" dist="50800" dir="2700000">
                    <a:prstClr val="black">
                      <a:alpha val="50000"/>
                    </a:prstClr>
                  </a:innerShdw>
                </a:effectLst>
                <a:tableStyleId>{5C22544A-7EE6-4342-B048-85BDC9FD1C3A}</a:tableStyleId>
              </a:tblPr>
              <a:tblGrid>
                <a:gridCol w="2070000">
                  <a:extLst>
                    <a:ext uri="{9D8B030D-6E8A-4147-A177-3AD203B41FA5}">
                      <a16:colId xmlns:a16="http://schemas.microsoft.com/office/drawing/2014/main" val="20000"/>
                    </a:ext>
                  </a:extLst>
                </a:gridCol>
                <a:gridCol w="3690000">
                  <a:extLst>
                    <a:ext uri="{9D8B030D-6E8A-4147-A177-3AD203B41FA5}">
                      <a16:colId xmlns:a16="http://schemas.microsoft.com/office/drawing/2014/main" val="20001"/>
                    </a:ext>
                  </a:extLst>
                </a:gridCol>
                <a:gridCol w="5212800">
                  <a:extLst>
                    <a:ext uri="{9D8B030D-6E8A-4147-A177-3AD203B41FA5}">
                      <a16:colId xmlns:a16="http://schemas.microsoft.com/office/drawing/2014/main" val="20002"/>
                    </a:ext>
                  </a:extLst>
                </a:gridCol>
              </a:tblGrid>
              <a:tr h="365760">
                <a:tc>
                  <a:txBody>
                    <a:bodyPr/>
                    <a:lstStyle/>
                    <a:p>
                      <a:pPr marL="142240"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STEP </a:t>
                      </a:r>
                      <a:r>
                        <a:rPr lang="en-US"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NO</a:t>
                      </a:r>
                      <a:r>
                        <a:rPr lang="en-GB"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  </a:t>
                      </a:r>
                      <a:r>
                        <a:rPr lang="en-US"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        </a:t>
                      </a:r>
                      <a:endParaRPr sz="1100" b="1">
                        <a:effectLst>
                          <a:outerShdw blurRad="38100" dist="38100" dir="2700000" algn="tl">
                            <a:srgbClr val="000000">
                              <a:alpha val="43137"/>
                            </a:srgbClr>
                          </a:outerShdw>
                        </a:effectLst>
                        <a:latin typeface="Calibri"/>
                        <a:cs typeface="Calibri"/>
                      </a:endParaRPr>
                    </a:p>
                  </a:txBody>
                  <a:tcPr/>
                </a:tc>
                <a:tc>
                  <a:txBody>
                    <a:bodyPr/>
                    <a:lstStyle/>
                    <a:p>
                      <a:pPr marL="85725"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ROLE       </a:t>
                      </a:r>
                      <a:r>
                        <a:rPr lang="en-US"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    </a:t>
                      </a:r>
                      <a:endParaRPr sz="1100" b="1">
                        <a:effectLst>
                          <a:outerShdw blurRad="38100" dist="38100" dir="2700000" algn="tl">
                            <a:srgbClr val="000000">
                              <a:alpha val="43137"/>
                            </a:srgbClr>
                          </a:outerShdw>
                        </a:effectLst>
                        <a:latin typeface="Arial"/>
                        <a:cs typeface="Arial"/>
                      </a:endParaRPr>
                    </a:p>
                  </a:txBody>
                  <a:tcPr/>
                </a:tc>
                <a:tc>
                  <a:txBody>
                    <a:bodyPr/>
                    <a:lstStyle/>
                    <a:p>
                      <a:pPr marL="1031875" algn="l">
                        <a:lnSpc>
                          <a:spcPts val="1215"/>
                        </a:lnSpc>
                        <a:defRPr/>
                      </a:pPr>
                      <a:r>
                        <a:rPr sz="1100" b="1">
                          <a:effectLst>
                            <a:outerShdw blurRad="38100" dist="38100" dir="2700000" algn="tl">
                              <a:srgbClr val="000000">
                                <a:alpha val="43137"/>
                              </a:srgbClr>
                            </a:outerShdw>
                          </a:effectLst>
                          <a:latin typeface="Arial"/>
                          <a:cs typeface="Arial"/>
                        </a:rPr>
                        <a:t>PROCESS</a:t>
                      </a:r>
                      <a:r>
                        <a:rPr sz="1100" b="1" spc="-7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DESCRIPTION</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0"/>
                  </a:ext>
                </a:extLst>
              </a:tr>
              <a:tr h="365760">
                <a:tc>
                  <a:txBody>
                    <a:bodyPr/>
                    <a:lstStyle/>
                    <a:p>
                      <a:pPr marL="31750">
                        <a:lnSpc>
                          <a:spcPct val="100000"/>
                        </a:lnSpc>
                        <a:spcBef>
                          <a:spcPts val="530"/>
                        </a:spcBef>
                        <a:defRPr/>
                      </a:pPr>
                      <a:r>
                        <a:rPr sz="1100" b="1" spc="-49">
                          <a:effectLst>
                            <a:outerShdw blurRad="38100" dist="38100" dir="2700000" algn="tl">
                              <a:srgbClr val="000000">
                                <a:alpha val="43137"/>
                              </a:srgbClr>
                            </a:outerShdw>
                          </a:effectLst>
                          <a:latin typeface="Arial"/>
                          <a:cs typeface="Arial"/>
                        </a:rPr>
                        <a:t>8</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Agent</a:t>
                      </a:r>
                      <a:endParaRPr sz="1100" b="1">
                        <a:effectLst>
                          <a:outerShdw blurRad="38100" dist="38100" dir="2700000" algn="tl">
                            <a:srgbClr val="000000">
                              <a:alpha val="43137"/>
                            </a:srgbClr>
                          </a:outerShdw>
                        </a:effectLst>
                        <a:latin typeface="Arial"/>
                        <a:cs typeface="Arial"/>
                      </a:endParaRPr>
                    </a:p>
                  </a:txBody>
                  <a:tcPr/>
                </a:tc>
                <a:tc>
                  <a:txBody>
                    <a:bodyPr/>
                    <a:lstStyle/>
                    <a:p>
                      <a:pPr marL="198120">
                        <a:lnSpc>
                          <a:spcPct val="100000"/>
                        </a:lnSpc>
                        <a:spcBef>
                          <a:spcPts val="530"/>
                        </a:spcBef>
                        <a:defRPr/>
                      </a:pPr>
                      <a:r>
                        <a:rPr sz="1100" b="1">
                          <a:effectLst>
                            <a:outerShdw blurRad="38100" dist="38100" dir="2700000" algn="tl">
                              <a:srgbClr val="000000">
                                <a:alpha val="43137"/>
                              </a:srgbClr>
                            </a:outerShdw>
                          </a:effectLst>
                          <a:latin typeface="Arial"/>
                          <a:cs typeface="Arial"/>
                        </a:rPr>
                        <a:t>Review</a:t>
                      </a:r>
                      <a:r>
                        <a:rPr sz="1100" b="1" spc="-3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rider</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KYC</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and</a:t>
                      </a:r>
                      <a:r>
                        <a:rPr sz="1100" b="1" spc="-3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onboarding</a:t>
                      </a:r>
                      <a:r>
                        <a:rPr sz="1100" b="1" spc="-34">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forms</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1"/>
                  </a:ext>
                </a:extLst>
              </a:tr>
              <a:tr h="365760">
                <a:tc>
                  <a:txBody>
                    <a:bodyPr/>
                    <a:lstStyle/>
                    <a:p>
                      <a:pPr marL="31750">
                        <a:lnSpc>
                          <a:spcPct val="100000"/>
                        </a:lnSpc>
                        <a:spcBef>
                          <a:spcPts val="530"/>
                        </a:spcBef>
                        <a:defRPr/>
                      </a:pPr>
                      <a:r>
                        <a:rPr sz="1100" b="1" spc="-49">
                          <a:effectLst>
                            <a:outerShdw blurRad="38100" dist="38100" dir="2700000" algn="tl">
                              <a:srgbClr val="000000">
                                <a:alpha val="43137"/>
                              </a:srgbClr>
                            </a:outerShdw>
                          </a:effectLst>
                          <a:latin typeface="Arial"/>
                          <a:cs typeface="Arial"/>
                        </a:rPr>
                        <a:t>9</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dirty="0">
                          <a:effectLst>
                            <a:outerShdw blurRad="38100" dist="38100" dir="2700000" algn="tl">
                              <a:srgbClr val="000000">
                                <a:alpha val="43137"/>
                              </a:srgbClr>
                            </a:outerShdw>
                          </a:effectLst>
                          <a:latin typeface="Arial"/>
                          <a:cs typeface="Arial"/>
                        </a:rPr>
                        <a:t>Boda</a:t>
                      </a:r>
                      <a:r>
                        <a:rPr sz="1100" b="1" spc="-49" dirty="0">
                          <a:effectLst>
                            <a:outerShdw blurRad="38100" dist="38100" dir="2700000" algn="tl">
                              <a:srgbClr val="000000">
                                <a:alpha val="43137"/>
                              </a:srgbClr>
                            </a:outerShdw>
                          </a:effectLst>
                          <a:latin typeface="Arial"/>
                          <a:cs typeface="Arial"/>
                        </a:rPr>
                        <a:t> </a:t>
                      </a:r>
                      <a:r>
                        <a:rPr sz="1100" b="1" spc="-9" dirty="0">
                          <a:effectLst>
                            <a:outerShdw blurRad="38100" dist="38100" dir="2700000" algn="tl">
                              <a:srgbClr val="000000">
                                <a:alpha val="43137"/>
                              </a:srgbClr>
                            </a:outerShdw>
                          </a:effectLst>
                          <a:latin typeface="Arial"/>
                          <a:cs typeface="Arial"/>
                        </a:rPr>
                        <a:t>Rider</a:t>
                      </a:r>
                      <a:endParaRPr sz="1100" b="1" dirty="0">
                        <a:effectLst>
                          <a:outerShdw blurRad="38100" dist="38100" dir="2700000" algn="tl">
                            <a:srgbClr val="000000">
                              <a:alpha val="43137"/>
                            </a:srgbClr>
                          </a:outerShdw>
                        </a:effectLst>
                        <a:latin typeface="Arial"/>
                        <a:cs typeface="Arial"/>
                      </a:endParaRPr>
                    </a:p>
                  </a:txBody>
                  <a:tcPr/>
                </a:tc>
                <a:tc>
                  <a:txBody>
                    <a:bodyPr/>
                    <a:lstStyle/>
                    <a:p>
                      <a:pPr marL="198120">
                        <a:lnSpc>
                          <a:spcPct val="100000"/>
                        </a:lnSpc>
                        <a:spcBef>
                          <a:spcPts val="530"/>
                        </a:spcBef>
                        <a:defRPr/>
                      </a:pPr>
                      <a:r>
                        <a:rPr sz="1100" b="1">
                          <a:effectLst>
                            <a:outerShdw blurRad="38100" dist="38100" dir="2700000" algn="tl">
                              <a:srgbClr val="000000">
                                <a:alpha val="43137"/>
                              </a:srgbClr>
                            </a:outerShdw>
                          </a:effectLst>
                          <a:latin typeface="Arial"/>
                          <a:cs typeface="Arial"/>
                        </a:rPr>
                        <a:t>Visit</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Kuza</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Shop</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for</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physical</a:t>
                      </a:r>
                      <a:r>
                        <a:rPr sz="1100" b="1" spc="-45">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verification</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2"/>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10</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Agent</a:t>
                      </a:r>
                      <a:endParaRPr sz="1100" b="1">
                        <a:effectLst>
                          <a:outerShdw blurRad="38100" dist="38100" dir="2700000" algn="tl">
                            <a:srgbClr val="000000">
                              <a:alpha val="43137"/>
                            </a:srgbClr>
                          </a:outerShdw>
                        </a:effectLst>
                        <a:latin typeface="Arial"/>
                        <a:cs typeface="Arial"/>
                      </a:endParaRPr>
                    </a:p>
                  </a:txBody>
                  <a:tcPr/>
                </a:tc>
                <a:tc>
                  <a:txBody>
                    <a:bodyPr/>
                    <a:lstStyle/>
                    <a:p>
                      <a:pPr marL="198120">
                        <a:lnSpc>
                          <a:spcPct val="100000"/>
                        </a:lnSpc>
                        <a:spcBef>
                          <a:spcPts val="530"/>
                        </a:spcBef>
                        <a:defRPr/>
                      </a:pPr>
                      <a:r>
                        <a:rPr sz="1100" b="1">
                          <a:effectLst>
                            <a:outerShdw blurRad="38100" dist="38100" dir="2700000" algn="tl">
                              <a:srgbClr val="000000">
                                <a:alpha val="43137"/>
                              </a:srgbClr>
                            </a:outerShdw>
                          </a:effectLst>
                          <a:latin typeface="Arial"/>
                          <a:cs typeface="Arial"/>
                        </a:rPr>
                        <a:t>Conduct</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rider</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training</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(loan</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request</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&amp;</a:t>
                      </a:r>
                      <a:r>
                        <a:rPr sz="1100" b="1" spc="-4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repayment)</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3"/>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11</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198120">
                        <a:lnSpc>
                          <a:spcPct val="100000"/>
                        </a:lnSpc>
                        <a:spcBef>
                          <a:spcPts val="530"/>
                        </a:spcBef>
                        <a:defRPr/>
                      </a:pPr>
                      <a:r>
                        <a:rPr sz="1100" b="1">
                          <a:effectLst>
                            <a:outerShdw blurRad="38100" dist="38100" dir="2700000" algn="tl">
                              <a:srgbClr val="000000">
                                <a:alpha val="43137"/>
                              </a:srgbClr>
                            </a:outerShdw>
                          </a:effectLst>
                          <a:latin typeface="Arial"/>
                          <a:cs typeface="Arial"/>
                        </a:rPr>
                        <a:t>Activate</a:t>
                      </a:r>
                      <a:r>
                        <a:rPr sz="1100" b="1" spc="-3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rider</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in</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the</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4"/>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12</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dirty="0">
                          <a:effectLst>
                            <a:outerShdw blurRad="38100" dist="38100" dir="2700000" algn="tl">
                              <a:srgbClr val="000000">
                                <a:alpha val="43137"/>
                              </a:srgbClr>
                            </a:outerShdw>
                          </a:effectLst>
                          <a:latin typeface="Arial"/>
                          <a:cs typeface="Arial"/>
                        </a:rPr>
                        <a:t>Boda</a:t>
                      </a:r>
                      <a:r>
                        <a:rPr sz="1100" b="1" spc="-49" dirty="0">
                          <a:effectLst>
                            <a:outerShdw blurRad="38100" dist="38100" dir="2700000" algn="tl">
                              <a:srgbClr val="000000">
                                <a:alpha val="43137"/>
                              </a:srgbClr>
                            </a:outerShdw>
                          </a:effectLst>
                          <a:latin typeface="Arial"/>
                          <a:cs typeface="Arial"/>
                        </a:rPr>
                        <a:t> </a:t>
                      </a:r>
                      <a:r>
                        <a:rPr sz="1100" b="1" spc="-9" dirty="0">
                          <a:effectLst>
                            <a:outerShdw blurRad="38100" dist="38100" dir="2700000" algn="tl">
                              <a:srgbClr val="000000">
                                <a:alpha val="43137"/>
                              </a:srgbClr>
                            </a:outerShdw>
                          </a:effectLst>
                          <a:latin typeface="Arial"/>
                          <a:cs typeface="Arial"/>
                        </a:rPr>
                        <a:t>Rider</a:t>
                      </a:r>
                      <a:endParaRPr sz="1100" b="1" dirty="0">
                        <a:effectLst>
                          <a:outerShdw blurRad="38100" dist="38100" dir="2700000" algn="tl">
                            <a:srgbClr val="000000">
                              <a:alpha val="43137"/>
                            </a:srgbClr>
                          </a:outerShdw>
                        </a:effectLst>
                        <a:latin typeface="Arial"/>
                        <a:cs typeface="Arial"/>
                      </a:endParaRPr>
                    </a:p>
                  </a:txBody>
                  <a:tcPr/>
                </a:tc>
                <a:tc>
                  <a:txBody>
                    <a:bodyPr/>
                    <a:lstStyle/>
                    <a:p>
                      <a:pPr marL="198120">
                        <a:lnSpc>
                          <a:spcPct val="100000"/>
                        </a:lnSpc>
                        <a:spcBef>
                          <a:spcPts val="530"/>
                        </a:spcBef>
                        <a:defRPr/>
                      </a:pPr>
                      <a:r>
                        <a:rPr sz="1100" b="1">
                          <a:effectLst>
                            <a:outerShdw blurRad="38100" dist="38100" dir="2700000" algn="tl">
                              <a:srgbClr val="000000">
                                <a:alpha val="43137"/>
                              </a:srgbClr>
                            </a:outerShdw>
                          </a:effectLst>
                          <a:latin typeface="Arial"/>
                          <a:cs typeface="Arial"/>
                        </a:rPr>
                        <a:t>Access</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Kuza</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Boda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services</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5"/>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13</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198120">
                        <a:lnSpc>
                          <a:spcPct val="100000"/>
                        </a:lnSpc>
                        <a:spcBef>
                          <a:spcPts val="530"/>
                        </a:spcBef>
                        <a:defRPr/>
                      </a:pPr>
                      <a:r>
                        <a:rPr sz="1100" b="1">
                          <a:effectLst>
                            <a:outerShdw blurRad="38100" dist="38100" dir="2700000" algn="tl">
                              <a:srgbClr val="000000">
                                <a:alpha val="43137"/>
                              </a:srgbClr>
                            </a:outerShdw>
                          </a:effectLst>
                          <a:latin typeface="Arial"/>
                          <a:cs typeface="Arial"/>
                        </a:rPr>
                        <a:t>Monitor</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rider</a:t>
                      </a:r>
                      <a:r>
                        <a:rPr sz="1100" b="1" spc="-45">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activity</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6"/>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14</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198120">
                        <a:lnSpc>
                          <a:spcPct val="100000"/>
                        </a:lnSpc>
                        <a:spcBef>
                          <a:spcPts val="530"/>
                        </a:spcBef>
                        <a:defRPr/>
                      </a:pPr>
                      <a:r>
                        <a:rPr sz="1100" b="1" dirty="0">
                          <a:effectLst>
                            <a:outerShdw blurRad="38100" dist="38100" dir="2700000" algn="tl">
                              <a:srgbClr val="000000">
                                <a:alpha val="43137"/>
                              </a:srgbClr>
                            </a:outerShdw>
                          </a:effectLst>
                          <a:latin typeface="Arial"/>
                          <a:cs typeface="Arial"/>
                        </a:rPr>
                        <a:t>Send</a:t>
                      </a:r>
                      <a:r>
                        <a:rPr sz="1100" b="1" spc="-3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SMS</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reminder</a:t>
                      </a:r>
                      <a:r>
                        <a:rPr sz="1100" b="1" spc="-3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after</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7</a:t>
                      </a:r>
                      <a:r>
                        <a:rPr sz="1100" b="1" spc="-3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days</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of</a:t>
                      </a:r>
                      <a:r>
                        <a:rPr sz="1100" b="1" spc="-28" dirty="0">
                          <a:effectLst>
                            <a:outerShdw blurRad="38100" dist="38100" dir="2700000" algn="tl">
                              <a:srgbClr val="000000">
                                <a:alpha val="43137"/>
                              </a:srgbClr>
                            </a:outerShdw>
                          </a:effectLst>
                          <a:latin typeface="Arial"/>
                          <a:cs typeface="Arial"/>
                        </a:rPr>
                        <a:t> </a:t>
                      </a:r>
                      <a:r>
                        <a:rPr sz="1100" b="1" spc="-9" dirty="0">
                          <a:effectLst>
                            <a:outerShdw blurRad="38100" dist="38100" dir="2700000" algn="tl">
                              <a:srgbClr val="000000">
                                <a:alpha val="43137"/>
                              </a:srgbClr>
                            </a:outerShdw>
                          </a:effectLst>
                          <a:latin typeface="Arial"/>
                          <a:cs typeface="Arial"/>
                        </a:rPr>
                        <a:t>inactivity</a:t>
                      </a:r>
                      <a:endParaRPr sz="1100" b="1" dirty="0">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7"/>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15</a:t>
                      </a:r>
                      <a:endParaRPr sz="1100" b="1">
                        <a:effectLst>
                          <a:outerShdw blurRad="38100" dist="38100" dir="2700000" algn="tl">
                            <a:srgbClr val="000000">
                              <a:alpha val="43137"/>
                            </a:srgbClr>
                          </a:outerShdw>
                        </a:effectLst>
                        <a:latin typeface="Arial"/>
                        <a:cs typeface="Arial"/>
                      </a:endParaRPr>
                    </a:p>
                  </a:txBody>
                  <a:tcPr/>
                </a:tc>
                <a:tc>
                  <a:txBody>
                    <a:bodyPr/>
                    <a:lstStyle/>
                    <a:p>
                      <a:pPr marL="121920" marR="329565">
                        <a:lnSpc>
                          <a:spcPct val="110000"/>
                        </a:lnSpc>
                        <a:spcBef>
                          <a:spcPts val="31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Shop </a:t>
                      </a:r>
                      <a:r>
                        <a:rPr sz="1100" b="1" spc="-9">
                          <a:effectLst>
                            <a:outerShdw blurRad="38100" dist="38100" dir="2700000" algn="tl">
                              <a:srgbClr val="000000">
                                <a:alpha val="43137"/>
                              </a:srgbClr>
                            </a:outerShdw>
                          </a:effectLst>
                          <a:latin typeface="Arial"/>
                          <a:cs typeface="Arial"/>
                        </a:rPr>
                        <a:t>Agent</a:t>
                      </a:r>
                      <a:endParaRPr sz="1100" b="1">
                        <a:effectLst>
                          <a:outerShdw blurRad="38100" dist="38100" dir="2700000" algn="tl">
                            <a:srgbClr val="000000">
                              <a:alpha val="43137"/>
                            </a:srgbClr>
                          </a:outerShdw>
                        </a:effectLst>
                        <a:latin typeface="Arial"/>
                        <a:cs typeface="Arial"/>
                      </a:endParaRPr>
                    </a:p>
                  </a:txBody>
                  <a:tcPr/>
                </a:tc>
                <a:tc>
                  <a:txBody>
                    <a:bodyPr/>
                    <a:lstStyle/>
                    <a:p>
                      <a:pPr marL="198120">
                        <a:lnSpc>
                          <a:spcPct val="100000"/>
                        </a:lnSpc>
                        <a:spcBef>
                          <a:spcPts val="530"/>
                        </a:spcBef>
                        <a:defRPr/>
                      </a:pPr>
                      <a:r>
                        <a:rPr sz="1100" b="1" dirty="0">
                          <a:effectLst>
                            <a:outerShdw blurRad="38100" dist="38100" dir="2700000" algn="tl">
                              <a:srgbClr val="000000">
                                <a:alpha val="43137"/>
                              </a:srgbClr>
                            </a:outerShdw>
                          </a:effectLst>
                          <a:latin typeface="Arial"/>
                          <a:cs typeface="Arial"/>
                        </a:rPr>
                        <a:t>Make</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phone</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call</a:t>
                      </a:r>
                      <a:r>
                        <a:rPr sz="1100" b="1" spc="-28" dirty="0">
                          <a:effectLst>
                            <a:outerShdw blurRad="38100" dist="38100" dir="2700000" algn="tl">
                              <a:srgbClr val="000000">
                                <a:alpha val="43137"/>
                              </a:srgbClr>
                            </a:outerShdw>
                          </a:effectLst>
                          <a:latin typeface="Arial"/>
                          <a:cs typeface="Arial"/>
                        </a:rPr>
                        <a:t> </a:t>
                      </a:r>
                      <a:r>
                        <a:rPr sz="1100" b="1" spc="-9" dirty="0">
                          <a:effectLst>
                            <a:outerShdw blurRad="38100" dist="38100" dir="2700000" algn="tl">
                              <a:srgbClr val="000000">
                                <a:alpha val="43137"/>
                              </a:srgbClr>
                            </a:outerShdw>
                          </a:effectLst>
                          <a:latin typeface="Arial"/>
                          <a:cs typeface="Arial"/>
                        </a:rPr>
                        <a:t>follow-</a:t>
                      </a:r>
                      <a:r>
                        <a:rPr sz="1100" b="1" dirty="0">
                          <a:effectLst>
                            <a:outerShdw blurRad="38100" dist="38100" dir="2700000" algn="tl">
                              <a:srgbClr val="000000">
                                <a:alpha val="43137"/>
                              </a:srgbClr>
                            </a:outerShdw>
                          </a:effectLst>
                          <a:latin typeface="Arial"/>
                          <a:cs typeface="Arial"/>
                        </a:rPr>
                        <a:t>up</a:t>
                      </a:r>
                      <a:r>
                        <a:rPr sz="1100" b="1" spc="-3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after</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14</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days</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of</a:t>
                      </a:r>
                      <a:r>
                        <a:rPr sz="1100" b="1" spc="-28" dirty="0">
                          <a:effectLst>
                            <a:outerShdw blurRad="38100" dist="38100" dir="2700000" algn="tl">
                              <a:srgbClr val="000000">
                                <a:alpha val="43137"/>
                              </a:srgbClr>
                            </a:outerShdw>
                          </a:effectLst>
                          <a:latin typeface="Arial"/>
                          <a:cs typeface="Arial"/>
                        </a:rPr>
                        <a:t> </a:t>
                      </a:r>
                      <a:r>
                        <a:rPr sz="1100" b="1" spc="-9" dirty="0">
                          <a:effectLst>
                            <a:outerShdw blurRad="38100" dist="38100" dir="2700000" algn="tl">
                              <a:srgbClr val="000000">
                                <a:alpha val="43137"/>
                              </a:srgbClr>
                            </a:outerShdw>
                          </a:effectLst>
                          <a:latin typeface="Arial"/>
                          <a:cs typeface="Arial"/>
                        </a:rPr>
                        <a:t>inactivity</a:t>
                      </a:r>
                      <a:endParaRPr sz="1100" b="1" dirty="0">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8"/>
                  </a:ext>
                </a:extLst>
              </a:tr>
            </a:tbl>
          </a:graphicData>
        </a:graphic>
      </p:graphicFrame>
      <p:pic>
        <p:nvPicPr>
          <p:cNvPr id="550626917"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38058112" name="Google Shape;67;p14"/>
          <p:cNvSpPr/>
          <p:nvPr/>
        </p:nvSpPr>
        <p:spPr bwMode="auto">
          <a:xfrm>
            <a:off x="3422441" y="320565"/>
            <a:ext cx="1157688" cy="386568"/>
          </a:xfrm>
          <a:prstGeom prst="flowChartTerminator">
            <a:avLst/>
          </a:prstGeom>
          <a:solidFill>
            <a:srgbClr val="283676"/>
          </a:solidFill>
          <a:ln w="9525" cap="flat" cmpd="sng">
            <a:solidFill>
              <a:srgbClr val="FFFFFF"/>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Arial"/>
              <a:cs typeface="Arial"/>
            </a:endParaRPr>
          </a:p>
          <a:p>
            <a:pPr marL="12700">
              <a:lnSpc>
                <a:spcPct val="100000"/>
              </a:lnSpc>
              <a:spcBef>
                <a:spcPts val="100"/>
              </a:spcBef>
              <a:defRPr/>
            </a:pPr>
            <a:r>
              <a:rPr lang="en-US" sz="600" b="1" i="0" u="none" strike="noStrike" cap="none" spc="-19">
                <a:solidFill>
                  <a:schemeClr val="bg1"/>
                </a:solidFill>
                <a:latin typeface="Calibri"/>
                <a:ea typeface="Calibri"/>
                <a:cs typeface="Calibri"/>
              </a:rPr>
              <a:t>Loan request &amp; Disbursement</a:t>
            </a:r>
            <a:endParaRPr lang="en-US" sz="600" b="1" i="0" u="none" strike="noStrike" cap="none" spc="-9">
              <a:solidFill>
                <a:schemeClr val="bg1"/>
              </a:solidFill>
              <a:latin typeface="Times New Roman"/>
              <a:cs typeface="Times New Roman"/>
            </a:endParaRPr>
          </a:p>
          <a:p>
            <a:pPr marL="0" lvl="0" indent="0" algn="ctr" rtl="0">
              <a:spcBef>
                <a:spcPts val="0"/>
              </a:spcBef>
              <a:spcAft>
                <a:spcPts val="0"/>
              </a:spcAft>
              <a:buClr>
                <a:srgbClr val="000000"/>
              </a:buClr>
              <a:buSzPts val="1100"/>
              <a:buFont typeface="Arial"/>
              <a:buNone/>
              <a:defRPr/>
            </a:pPr>
            <a:endParaRPr sz="1000" b="1">
              <a:solidFill>
                <a:schemeClr val="bg1"/>
              </a:solidFill>
            </a:endParaRPr>
          </a:p>
        </p:txBody>
      </p:sp>
      <p:sp>
        <p:nvSpPr>
          <p:cNvPr id="791562388" name="Google Shape;68;p14"/>
          <p:cNvSpPr/>
          <p:nvPr/>
        </p:nvSpPr>
        <p:spPr bwMode="auto">
          <a:xfrm>
            <a:off x="308532"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19">
                <a:solidFill>
                  <a:schemeClr val="tx1"/>
                </a:solidFill>
                <a:latin typeface="Arial"/>
                <a:ea typeface="Arial"/>
                <a:cs typeface="Arial"/>
              </a:rPr>
              <a:t>                </a:t>
            </a:r>
            <a:r>
              <a:rPr lang="en-US" sz="600" b="1" i="0" u="none" strike="noStrike" cap="none" spc="0">
                <a:solidFill>
                  <a:schemeClr val="bg1"/>
                </a:solidFill>
                <a:latin typeface="Calibri"/>
                <a:ea typeface="Calibri"/>
                <a:cs typeface="Calibri"/>
              </a:rPr>
              <a:t>On-boarding</a:t>
            </a:r>
            <a:r>
              <a:rPr lang="en-US" sz="600" b="1" i="0" u="none" strike="noStrike" cap="none" spc="-19">
                <a:solidFill>
                  <a:schemeClr val="bg1"/>
                </a:solidFill>
                <a:latin typeface="Calibri"/>
                <a:ea typeface="Calibri"/>
                <a:cs typeface="Calibri"/>
              </a:rPr>
              <a:t> </a:t>
            </a:r>
            <a:endParaRPr sz="600">
              <a:latin typeface="Arial"/>
              <a:cs typeface="Arial"/>
            </a:endParaRPr>
          </a:p>
          <a:p>
            <a:pPr marL="0" lvl="0" indent="0" algn="ctr" rtl="0">
              <a:spcBef>
                <a:spcPts val="0"/>
              </a:spcBef>
              <a:spcAft>
                <a:spcPts val="0"/>
              </a:spcAft>
              <a:buNone/>
              <a:defRPr/>
            </a:pPr>
            <a:endParaRPr sz="600" b="1">
              <a:solidFill>
                <a:srgbClr val="283676"/>
              </a:solidFill>
              <a:latin typeface="Montserrat"/>
              <a:ea typeface="Montserrat"/>
              <a:cs typeface="Montserrat"/>
            </a:endParaRPr>
          </a:p>
        </p:txBody>
      </p:sp>
      <p:sp>
        <p:nvSpPr>
          <p:cNvPr id="1966044946" name="Google Shape;69;p14"/>
          <p:cNvSpPr/>
          <p:nvPr/>
        </p:nvSpPr>
        <p:spPr bwMode="auto">
          <a:xfrm>
            <a:off x="1756107" y="320565"/>
            <a:ext cx="1597032"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a:defRPr/>
            </a:pPr>
            <a:r>
              <a:rPr lang="en-US" sz="600" b="1" i="0" u="none" strike="noStrike" cap="none" spc="-49">
                <a:solidFill>
                  <a:schemeClr val="bg1"/>
                </a:solidFill>
                <a:latin typeface="Calibri"/>
                <a:ea typeface="Calibri"/>
                <a:cs typeface="Calibri"/>
              </a:rPr>
              <a:t>Registration  </a:t>
            </a:r>
            <a:r>
              <a:rPr lang="en-US" sz="600" b="1" i="0" u="none" strike="noStrike" cap="none" spc="0">
                <a:solidFill>
                  <a:schemeClr val="bg1"/>
                </a:solidFill>
                <a:latin typeface="Calibri"/>
                <a:ea typeface="Calibri"/>
                <a:cs typeface="Calibri"/>
              </a:rPr>
              <a:t>&amp;</a:t>
            </a:r>
            <a:r>
              <a:rPr lang="en-US" sz="600" b="1" i="0" u="none" strike="noStrike" cap="none" spc="-49">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Activation</a:t>
            </a:r>
            <a:endParaRPr>
              <a:solidFill>
                <a:schemeClr val="bg1"/>
              </a:solidFill>
              <a:latin typeface="Calibri"/>
              <a:cs typeface="Calibri"/>
            </a:endParaRPr>
          </a:p>
        </p:txBody>
      </p:sp>
      <p:sp>
        <p:nvSpPr>
          <p:cNvPr id="1868850949" name="Google Shape;70;p14"/>
          <p:cNvSpPr/>
          <p:nvPr/>
        </p:nvSpPr>
        <p:spPr bwMode="auto">
          <a:xfrm>
            <a:off x="46654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34">
                <a:solidFill>
                  <a:schemeClr val="bg1"/>
                </a:solidFill>
                <a:latin typeface="Calibri"/>
                <a:ea typeface="Calibri"/>
                <a:cs typeface="Calibri"/>
              </a:rPr>
              <a:t>Repayment </a:t>
            </a:r>
            <a:r>
              <a:rPr lang="en-US" sz="600" b="1" i="0" u="none" strike="noStrike" cap="none" spc="-9">
                <a:solidFill>
                  <a:schemeClr val="bg1"/>
                </a:solidFill>
                <a:latin typeface="Calibri"/>
                <a:ea typeface="Calibri"/>
                <a:cs typeface="Calibri"/>
              </a:rPr>
              <a:t>process</a:t>
            </a:r>
            <a:endParaRPr sz="600">
              <a:latin typeface="Calibri"/>
              <a:cs typeface="Calibri"/>
            </a:endParaRPr>
          </a:p>
        </p:txBody>
      </p:sp>
      <p:sp>
        <p:nvSpPr>
          <p:cNvPr id="2111050749" name="Google Shape;71;p14"/>
          <p:cNvSpPr/>
          <p:nvPr/>
        </p:nvSpPr>
        <p:spPr bwMode="auto">
          <a:xfrm>
            <a:off x="61427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Calibri"/>
              <a:cs typeface="Calibri"/>
            </a:endParaRPr>
          </a:p>
          <a:p>
            <a:pPr marL="12700">
              <a:lnSpc>
                <a:spcPct val="100000"/>
              </a:lnSpc>
              <a:spcBef>
                <a:spcPts val="100"/>
              </a:spcBef>
              <a:defRPr/>
            </a:pPr>
            <a:r>
              <a:rPr lang="en-US" sz="600" b="1" i="0" u="none" strike="noStrike" cap="none" spc="0">
                <a:solidFill>
                  <a:schemeClr val="bg1"/>
                </a:solidFill>
                <a:latin typeface="Calibri"/>
                <a:ea typeface="Calibri"/>
                <a:cs typeface="Calibri"/>
              </a:rPr>
              <a:t>Collection</a:t>
            </a:r>
            <a:r>
              <a:rPr lang="en-US" sz="600" b="1" i="0" u="none" strike="noStrike" cap="none" spc="-34">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&amp;</a:t>
            </a:r>
            <a:r>
              <a:rPr lang="en-US" sz="600" b="1" i="0" u="none" strike="noStrike" cap="none" spc="-34">
                <a:solidFill>
                  <a:schemeClr val="bg1"/>
                </a:solidFill>
                <a:latin typeface="Calibri"/>
                <a:ea typeface="Calibri"/>
                <a:cs typeface="Calibri"/>
              </a:rPr>
              <a:t> </a:t>
            </a:r>
            <a:r>
              <a:rPr lang="en-US" sz="600" b="1" i="0" u="none" strike="noStrike" cap="none" spc="-19">
                <a:solidFill>
                  <a:schemeClr val="bg1"/>
                </a:solidFill>
                <a:latin typeface="Calibri"/>
                <a:ea typeface="Calibri"/>
                <a:cs typeface="Calibri"/>
              </a:rPr>
              <a:t>escalation</a:t>
            </a:r>
            <a:r>
              <a:rPr lang="en-US" sz="600" b="1" i="0" u="none" strike="noStrike" cap="none" spc="-34">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process</a:t>
            </a:r>
            <a:endParaRPr sz="600" b="1" i="0" u="none" strike="noStrike" cap="none" spc="-9">
              <a:solidFill>
                <a:schemeClr val="bg1"/>
              </a:solidFill>
              <a:latin typeface="Calibri"/>
              <a:cs typeface="Calibri"/>
            </a:endParaRPr>
          </a:p>
          <a:p>
            <a:pPr marL="0" lvl="0" indent="0" algn="ctr" rtl="0">
              <a:spcBef>
                <a:spcPts val="0"/>
              </a:spcBef>
              <a:spcAft>
                <a:spcPts val="0"/>
              </a:spcAft>
              <a:buClr>
                <a:srgbClr val="000000"/>
              </a:buClr>
              <a:buSzPts val="1100"/>
              <a:buFont typeface="Arial"/>
              <a:buNone/>
              <a:defRPr/>
            </a:pPr>
            <a:endParaRPr sz="600" b="1">
              <a:solidFill>
                <a:srgbClr val="283676"/>
              </a:solidFill>
              <a:latin typeface="Calibri"/>
              <a:cs typeface="Calibri"/>
            </a:endParaRPr>
          </a:p>
        </p:txBody>
      </p:sp>
      <p:sp>
        <p:nvSpPr>
          <p:cNvPr id="1246653883" name="Google Shape;75;p14"/>
          <p:cNvSpPr txBox="1"/>
          <p:nvPr/>
        </p:nvSpPr>
        <p:spPr bwMode="auto">
          <a:xfrm>
            <a:off x="308532" y="3636915"/>
            <a:ext cx="11154799" cy="4555199"/>
          </a:xfrm>
          <a:prstGeom prst="rect">
            <a:avLst/>
          </a:prstGeom>
          <a:noFill/>
          <a:ln>
            <a:noFill/>
          </a:ln>
        </p:spPr>
        <p:txBody>
          <a:bodyPr spcFirstLastPara="1" wrap="square" lIns="91423" tIns="91423" rIns="91423" bIns="91423" anchor="t" anchorCtr="0">
            <a:normAutofit/>
          </a:bodyPr>
          <a:lstStyle/>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p:txBody>
      </p:sp>
      <p:sp>
        <p:nvSpPr>
          <p:cNvPr id="1831368078" name="Title 1"/>
          <p:cNvSpPr>
            <a:spLocks noGrp="1"/>
          </p:cNvSpPr>
          <p:nvPr>
            <p:ph type="title"/>
          </p:nvPr>
        </p:nvSpPr>
        <p:spPr bwMode="auto">
          <a:xfrm>
            <a:off x="609599" y="560387"/>
            <a:ext cx="10972800" cy="1143000"/>
          </a:xfrm>
        </p:spPr>
        <p:txBody>
          <a:bodyPr>
            <a:normAutofit/>
          </a:bodyPr>
          <a:lstStyle/>
          <a:p>
            <a:pPr marL="0" marR="0" indent="0" algn="ctr">
              <a:lnSpc>
                <a:spcPct val="100000"/>
              </a:lnSpc>
              <a:spcBef>
                <a:spcPts val="0"/>
              </a:spcBef>
              <a:spcAft>
                <a:spcPts val="0"/>
              </a:spcAft>
              <a:buNone/>
              <a:defRPr/>
            </a:pPr>
            <a:r>
              <a:rPr lang="en-US" sz="2200" b="1" i="0" u="none" strike="noStrike" cap="none" spc="0" dirty="0">
                <a:solidFill>
                  <a:schemeClr val="bg1"/>
                </a:solidFill>
                <a:latin typeface="Calibri"/>
                <a:ea typeface="Calibri"/>
                <a:cs typeface="Calibri"/>
              </a:rPr>
              <a:t>C</a:t>
            </a:r>
            <a:r>
              <a:rPr lang="en-GB" sz="2200" b="1" i="0" u="none" strike="noStrike" cap="none" spc="0" dirty="0">
                <a:solidFill>
                  <a:schemeClr val="bg1"/>
                </a:solidFill>
                <a:latin typeface="Calibri"/>
                <a:ea typeface="Calibri"/>
                <a:cs typeface="Calibri"/>
              </a:rPr>
              <a:t>.</a:t>
            </a:r>
            <a:r>
              <a:rPr lang="en-US" sz="2200" b="1" i="0" u="none" strike="noStrike" cap="none" spc="0" dirty="0">
                <a:solidFill>
                  <a:schemeClr val="bg1"/>
                </a:solidFill>
                <a:latin typeface="Calibri"/>
                <a:ea typeface="Calibri"/>
                <a:cs typeface="Calibri"/>
              </a:rPr>
              <a:t> LOAN REQUEST &amp; DISBURSEMENT</a:t>
            </a:r>
          </a:p>
        </p:txBody>
      </p:sp>
      <p:graphicFrame>
        <p:nvGraphicFramePr>
          <p:cNvPr id="206257146" name="Content Placeholder 1967903031"/>
          <p:cNvGraphicFramePr>
            <a:graphicFrameLocks noGrp="1"/>
          </p:cNvGraphicFramePr>
          <p:nvPr>
            <p:ph idx="1"/>
            <p:extLst>
              <p:ext uri="{D42A27DB-BD31-4B8C-83A1-F6EECF244321}">
                <p14:modId xmlns:p14="http://schemas.microsoft.com/office/powerpoint/2010/main" val="3814065944"/>
              </p:ext>
            </p:extLst>
          </p:nvPr>
        </p:nvGraphicFramePr>
        <p:xfrm>
          <a:off x="609599" y="1600200"/>
          <a:ext cx="10972800" cy="3291840"/>
        </p:xfrm>
        <a:graphic>
          <a:graphicData uri="http://schemas.openxmlformats.org/drawingml/2006/table">
            <a:tbl>
              <a:tblPr firstRow="1" bandRow="1">
                <a:effectLst>
                  <a:innerShdw blurRad="63500" dist="50800" dir="2700000">
                    <a:prstClr val="black">
                      <a:alpha val="50000"/>
                    </a:prstClr>
                  </a:innerShdw>
                </a:effectLst>
                <a:tableStyleId>{5C22544A-7EE6-4342-B048-85BDC9FD1C3A}</a:tableStyleId>
              </a:tblPr>
              <a:tblGrid>
                <a:gridCol w="2070000">
                  <a:extLst>
                    <a:ext uri="{9D8B030D-6E8A-4147-A177-3AD203B41FA5}">
                      <a16:colId xmlns:a16="http://schemas.microsoft.com/office/drawing/2014/main" val="20000"/>
                    </a:ext>
                  </a:extLst>
                </a:gridCol>
                <a:gridCol w="3690000">
                  <a:extLst>
                    <a:ext uri="{9D8B030D-6E8A-4147-A177-3AD203B41FA5}">
                      <a16:colId xmlns:a16="http://schemas.microsoft.com/office/drawing/2014/main" val="20001"/>
                    </a:ext>
                  </a:extLst>
                </a:gridCol>
                <a:gridCol w="5212800">
                  <a:extLst>
                    <a:ext uri="{9D8B030D-6E8A-4147-A177-3AD203B41FA5}">
                      <a16:colId xmlns:a16="http://schemas.microsoft.com/office/drawing/2014/main" val="20002"/>
                    </a:ext>
                  </a:extLst>
                </a:gridCol>
              </a:tblGrid>
              <a:tr h="365760">
                <a:tc>
                  <a:txBody>
                    <a:bodyPr/>
                    <a:lstStyle/>
                    <a:p>
                      <a:pPr marL="142240"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STEP </a:t>
                      </a:r>
                      <a:r>
                        <a:rPr lang="en-US"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NO</a:t>
                      </a:r>
                      <a:r>
                        <a:rPr lang="en-GB"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85725"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ROLE       </a:t>
                      </a:r>
                      <a:r>
                        <a:rPr lang="en-US"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031875" algn="l">
                        <a:lnSpc>
                          <a:spcPts val="1215"/>
                        </a:lnSpc>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PROCESS</a:t>
                      </a:r>
                      <a:r>
                        <a:rPr sz="1100" b="1" spc="-7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DESCRIPTION</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0"/>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16</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Boda</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Rider</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39052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Dial</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1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USSD</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1"/>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17</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39052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Display</a:t>
                      </a:r>
                      <a:r>
                        <a:rPr sz="1100" b="1" spc="-6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USSD</a:t>
                      </a:r>
                      <a:r>
                        <a:rPr sz="1100" b="1" spc="-5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1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menu</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365760">
                <a:tc>
                  <a:txBody>
                    <a:bodyPr/>
                    <a:lstStyle/>
                    <a:p>
                      <a:pPr marL="31750">
                        <a:lnSpc>
                          <a:spcPct val="100000"/>
                        </a:lnSpc>
                        <a:spcBef>
                          <a:spcPts val="530"/>
                        </a:spcBef>
                        <a:defRPr/>
                      </a:pPr>
                      <a:r>
                        <a:rPr sz="1100" b="1" spc="-23"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18</a:t>
                      </a:r>
                      <a:endPar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Boda</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Rider</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39052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Select</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Boda</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Loan</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option</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3"/>
                  </a:ext>
                </a:extLst>
              </a:tr>
              <a:tr h="365760">
                <a:tc>
                  <a:txBody>
                    <a:bodyPr/>
                    <a:lstStyle/>
                    <a:p>
                      <a:pPr marL="31750">
                        <a:lnSpc>
                          <a:spcPts val="1235"/>
                        </a:lnSpc>
                        <a:spcBef>
                          <a:spcPts val="530"/>
                        </a:spcBef>
                        <a:defRPr/>
                      </a:pPr>
                      <a:r>
                        <a:rPr sz="1100" b="1" spc="-23"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19</a:t>
                      </a:r>
                      <a:endPar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ts val="1235"/>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390525">
                        <a:lnSpc>
                          <a:spcPts val="1235"/>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Guide</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rider</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through</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loan</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request</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1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steps</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4"/>
                  </a:ext>
                </a:extLst>
              </a:tr>
              <a:tr h="365760">
                <a:tc>
                  <a:txBody>
                    <a:bodyPr/>
                    <a:lstStyle/>
                    <a:p>
                      <a:pPr marL="31750">
                        <a:lnSpc>
                          <a:spcPts val="1215"/>
                        </a:lnSpc>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20</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50825">
                        <a:lnSpc>
                          <a:spcPts val="1215"/>
                        </a:lnSpc>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38125">
                        <a:lnSpc>
                          <a:spcPts val="1215"/>
                        </a:lnSpc>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Check</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rider</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eligibility</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5"/>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21</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Display</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error</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message</a:t>
                      </a:r>
                      <a:r>
                        <a:rPr sz="1100" b="1" spc="-3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if</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rider</a:t>
                      </a:r>
                      <a:r>
                        <a:rPr sz="1100" b="1" spc="-3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is</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ineligible</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6"/>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22</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Send</a:t>
                      </a:r>
                      <a:r>
                        <a:rPr sz="1100" b="1" spc="-1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confirmation</a:t>
                      </a:r>
                      <a:r>
                        <a:rPr sz="1100" b="1" spc="-1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SMS</a:t>
                      </a:r>
                      <a:r>
                        <a:rPr sz="1100" b="1" spc="-1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if</a:t>
                      </a:r>
                      <a:r>
                        <a:rPr sz="1100" b="1" spc="-1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eligible</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7"/>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23</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238125">
                        <a:lnSpc>
                          <a:spcPct val="100000"/>
                        </a:lnSpc>
                        <a:spcBef>
                          <a:spcPts val="530"/>
                        </a:spcBef>
                        <a:defRPr/>
                      </a:pPr>
                      <a:r>
                        <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Send</a:t>
                      </a:r>
                      <a:r>
                        <a:rPr sz="1100" b="1" spc="-45"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USSD</a:t>
                      </a:r>
                      <a:r>
                        <a:rPr sz="1100" b="1" spc="-45"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STK</a:t>
                      </a:r>
                      <a:r>
                        <a:rPr sz="1100" b="1" spc="-45"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19"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push</a:t>
                      </a:r>
                      <a:endPar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8"/>
                  </a:ext>
                </a:extLst>
              </a:tr>
            </a:tbl>
          </a:graphicData>
        </a:graphic>
      </p:graphicFrame>
      <p:pic>
        <p:nvPicPr>
          <p:cNvPr id="229744813"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01949188" name="Google Shape;67;p14"/>
          <p:cNvSpPr/>
          <p:nvPr/>
        </p:nvSpPr>
        <p:spPr bwMode="auto">
          <a:xfrm>
            <a:off x="3422441" y="320565"/>
            <a:ext cx="1157688" cy="386568"/>
          </a:xfrm>
          <a:prstGeom prst="flowChartTerminator">
            <a:avLst/>
          </a:prstGeom>
          <a:solidFill>
            <a:srgbClr val="283676"/>
          </a:solidFill>
          <a:ln w="9525" cap="flat" cmpd="sng">
            <a:solidFill>
              <a:srgbClr val="FFFFFF"/>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Arial"/>
              <a:cs typeface="Arial"/>
            </a:endParaRPr>
          </a:p>
          <a:p>
            <a:pPr marL="12700">
              <a:lnSpc>
                <a:spcPct val="100000"/>
              </a:lnSpc>
              <a:spcBef>
                <a:spcPts val="100"/>
              </a:spcBef>
              <a:defRPr/>
            </a:pPr>
            <a:r>
              <a:rPr lang="en-US" sz="600" b="1" i="0" u="none" strike="noStrike" cap="none" spc="-19">
                <a:solidFill>
                  <a:schemeClr val="bg1"/>
                </a:solidFill>
                <a:latin typeface="Calibri"/>
                <a:ea typeface="Calibri"/>
                <a:cs typeface="Calibri"/>
              </a:rPr>
              <a:t>Loan request &amp; Disbursement</a:t>
            </a:r>
            <a:endParaRPr lang="en-US" sz="600" b="1" i="0" u="none" strike="noStrike" cap="none" spc="-9">
              <a:solidFill>
                <a:schemeClr val="bg1"/>
              </a:solidFill>
              <a:latin typeface="Times New Roman"/>
              <a:cs typeface="Times New Roman"/>
            </a:endParaRPr>
          </a:p>
          <a:p>
            <a:pPr marL="0" lvl="0" indent="0" algn="ctr" rtl="0">
              <a:spcBef>
                <a:spcPts val="0"/>
              </a:spcBef>
              <a:spcAft>
                <a:spcPts val="0"/>
              </a:spcAft>
              <a:buClr>
                <a:srgbClr val="000000"/>
              </a:buClr>
              <a:buSzPts val="1100"/>
              <a:buFont typeface="Arial"/>
              <a:buNone/>
              <a:defRPr/>
            </a:pPr>
            <a:endParaRPr sz="1000" b="1">
              <a:solidFill>
                <a:schemeClr val="bg1"/>
              </a:solidFill>
            </a:endParaRPr>
          </a:p>
        </p:txBody>
      </p:sp>
      <p:sp>
        <p:nvSpPr>
          <p:cNvPr id="1219901276" name="Google Shape;68;p14"/>
          <p:cNvSpPr/>
          <p:nvPr/>
        </p:nvSpPr>
        <p:spPr bwMode="auto">
          <a:xfrm>
            <a:off x="308532"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19">
                <a:solidFill>
                  <a:schemeClr val="tx1"/>
                </a:solidFill>
                <a:latin typeface="Arial"/>
                <a:ea typeface="Arial"/>
                <a:cs typeface="Arial"/>
              </a:rPr>
              <a:t>                </a:t>
            </a:r>
            <a:r>
              <a:rPr lang="en-US" sz="600" b="1" i="0" u="none" strike="noStrike" cap="none" spc="0">
                <a:solidFill>
                  <a:schemeClr val="bg1"/>
                </a:solidFill>
                <a:latin typeface="Calibri"/>
                <a:ea typeface="Calibri"/>
                <a:cs typeface="Calibri"/>
              </a:rPr>
              <a:t>On-boarding</a:t>
            </a:r>
            <a:r>
              <a:rPr lang="en-US" sz="600" b="1" i="0" u="none" strike="noStrike" cap="none" spc="-19">
                <a:solidFill>
                  <a:schemeClr val="bg1"/>
                </a:solidFill>
                <a:latin typeface="Calibri"/>
                <a:ea typeface="Calibri"/>
                <a:cs typeface="Calibri"/>
              </a:rPr>
              <a:t> </a:t>
            </a:r>
            <a:endParaRPr sz="600">
              <a:latin typeface="Arial"/>
              <a:cs typeface="Arial"/>
            </a:endParaRPr>
          </a:p>
          <a:p>
            <a:pPr marL="0" lvl="0" indent="0" algn="ctr" rtl="0">
              <a:spcBef>
                <a:spcPts val="0"/>
              </a:spcBef>
              <a:spcAft>
                <a:spcPts val="0"/>
              </a:spcAft>
              <a:buNone/>
              <a:defRPr/>
            </a:pPr>
            <a:endParaRPr sz="600" b="1">
              <a:solidFill>
                <a:srgbClr val="283676"/>
              </a:solidFill>
              <a:latin typeface="Montserrat"/>
              <a:ea typeface="Montserrat"/>
              <a:cs typeface="Montserrat"/>
            </a:endParaRPr>
          </a:p>
        </p:txBody>
      </p:sp>
      <p:sp>
        <p:nvSpPr>
          <p:cNvPr id="1277794373" name="Google Shape;69;p14"/>
          <p:cNvSpPr/>
          <p:nvPr/>
        </p:nvSpPr>
        <p:spPr bwMode="auto">
          <a:xfrm>
            <a:off x="1756107" y="320565"/>
            <a:ext cx="1597032"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a:defRPr/>
            </a:pPr>
            <a:r>
              <a:rPr lang="en-US" sz="600" b="1" i="0" u="none" strike="noStrike" cap="none" spc="-49">
                <a:solidFill>
                  <a:schemeClr val="bg1"/>
                </a:solidFill>
                <a:latin typeface="Calibri"/>
                <a:ea typeface="Calibri"/>
                <a:cs typeface="Calibri"/>
              </a:rPr>
              <a:t>Registration  </a:t>
            </a:r>
            <a:r>
              <a:rPr lang="en-US" sz="600" b="1" i="0" u="none" strike="noStrike" cap="none" spc="0">
                <a:solidFill>
                  <a:schemeClr val="bg1"/>
                </a:solidFill>
                <a:latin typeface="Calibri"/>
                <a:ea typeface="Calibri"/>
                <a:cs typeface="Calibri"/>
              </a:rPr>
              <a:t>&amp;</a:t>
            </a:r>
            <a:r>
              <a:rPr lang="en-US" sz="600" b="1" i="0" u="none" strike="noStrike" cap="none" spc="-49">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Activation</a:t>
            </a:r>
            <a:endParaRPr>
              <a:solidFill>
                <a:schemeClr val="bg1"/>
              </a:solidFill>
              <a:latin typeface="Calibri"/>
              <a:cs typeface="Calibri"/>
            </a:endParaRPr>
          </a:p>
        </p:txBody>
      </p:sp>
      <p:sp>
        <p:nvSpPr>
          <p:cNvPr id="1843335964" name="Google Shape;70;p14"/>
          <p:cNvSpPr/>
          <p:nvPr/>
        </p:nvSpPr>
        <p:spPr bwMode="auto">
          <a:xfrm>
            <a:off x="46654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34">
                <a:solidFill>
                  <a:schemeClr val="bg1"/>
                </a:solidFill>
                <a:latin typeface="Calibri"/>
                <a:ea typeface="Calibri"/>
                <a:cs typeface="Calibri"/>
              </a:rPr>
              <a:t>Repayment </a:t>
            </a:r>
            <a:r>
              <a:rPr lang="en-US" sz="600" b="1" i="0" u="none" strike="noStrike" cap="none" spc="-9">
                <a:solidFill>
                  <a:schemeClr val="bg1"/>
                </a:solidFill>
                <a:latin typeface="Calibri"/>
                <a:ea typeface="Calibri"/>
                <a:cs typeface="Calibri"/>
              </a:rPr>
              <a:t>process</a:t>
            </a:r>
            <a:endParaRPr sz="600">
              <a:latin typeface="Calibri"/>
              <a:cs typeface="Calibri"/>
            </a:endParaRPr>
          </a:p>
        </p:txBody>
      </p:sp>
      <p:sp>
        <p:nvSpPr>
          <p:cNvPr id="1955432624" name="Google Shape;71;p14"/>
          <p:cNvSpPr/>
          <p:nvPr/>
        </p:nvSpPr>
        <p:spPr bwMode="auto">
          <a:xfrm>
            <a:off x="61427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Calibri"/>
              <a:cs typeface="Calibri"/>
            </a:endParaRPr>
          </a:p>
          <a:p>
            <a:pPr marL="12700">
              <a:lnSpc>
                <a:spcPct val="100000"/>
              </a:lnSpc>
              <a:spcBef>
                <a:spcPts val="100"/>
              </a:spcBef>
              <a:defRPr/>
            </a:pPr>
            <a:r>
              <a:rPr lang="en-US" sz="600" b="1" i="0" u="none" strike="noStrike" cap="none" spc="0">
                <a:solidFill>
                  <a:schemeClr val="bg1"/>
                </a:solidFill>
                <a:latin typeface="Calibri"/>
                <a:ea typeface="Calibri"/>
                <a:cs typeface="Calibri"/>
              </a:rPr>
              <a:t>Collection</a:t>
            </a:r>
            <a:r>
              <a:rPr lang="en-US" sz="600" b="1" i="0" u="none" strike="noStrike" cap="none" spc="-34">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&amp;</a:t>
            </a:r>
            <a:r>
              <a:rPr lang="en-US" sz="600" b="1" i="0" u="none" strike="noStrike" cap="none" spc="-34">
                <a:solidFill>
                  <a:schemeClr val="bg1"/>
                </a:solidFill>
                <a:latin typeface="Calibri"/>
                <a:ea typeface="Calibri"/>
                <a:cs typeface="Calibri"/>
              </a:rPr>
              <a:t> </a:t>
            </a:r>
            <a:r>
              <a:rPr lang="en-US" sz="600" b="1" i="0" u="none" strike="noStrike" cap="none" spc="-19">
                <a:solidFill>
                  <a:schemeClr val="bg1"/>
                </a:solidFill>
                <a:latin typeface="Calibri"/>
                <a:ea typeface="Calibri"/>
                <a:cs typeface="Calibri"/>
              </a:rPr>
              <a:t>escalation</a:t>
            </a:r>
            <a:r>
              <a:rPr lang="en-US" sz="600" b="1" i="0" u="none" strike="noStrike" cap="none" spc="-34">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process</a:t>
            </a:r>
            <a:endParaRPr sz="600" b="1" i="0" u="none" strike="noStrike" cap="none" spc="-9">
              <a:solidFill>
                <a:schemeClr val="bg1"/>
              </a:solidFill>
              <a:latin typeface="Calibri"/>
              <a:cs typeface="Calibri"/>
            </a:endParaRPr>
          </a:p>
          <a:p>
            <a:pPr marL="0" lvl="0" indent="0" algn="ctr" rtl="0">
              <a:spcBef>
                <a:spcPts val="0"/>
              </a:spcBef>
              <a:spcAft>
                <a:spcPts val="0"/>
              </a:spcAft>
              <a:buClr>
                <a:srgbClr val="000000"/>
              </a:buClr>
              <a:buSzPts val="1100"/>
              <a:buFont typeface="Arial"/>
              <a:buNone/>
              <a:defRPr/>
            </a:pPr>
            <a:endParaRPr sz="600" b="1">
              <a:solidFill>
                <a:srgbClr val="283676"/>
              </a:solidFill>
              <a:latin typeface="Calibri"/>
              <a:cs typeface="Calibri"/>
            </a:endParaRPr>
          </a:p>
        </p:txBody>
      </p:sp>
      <p:sp>
        <p:nvSpPr>
          <p:cNvPr id="1475743424" name="Google Shape;75;p14"/>
          <p:cNvSpPr txBox="1"/>
          <p:nvPr/>
        </p:nvSpPr>
        <p:spPr bwMode="auto">
          <a:xfrm>
            <a:off x="308532" y="3636915"/>
            <a:ext cx="11154799" cy="4555199"/>
          </a:xfrm>
          <a:prstGeom prst="rect">
            <a:avLst/>
          </a:prstGeom>
          <a:noFill/>
          <a:ln>
            <a:noFill/>
          </a:ln>
        </p:spPr>
        <p:txBody>
          <a:bodyPr spcFirstLastPara="1" wrap="square" lIns="91423" tIns="91423" rIns="91423" bIns="91423" anchor="t" anchorCtr="0">
            <a:normAutofit/>
          </a:bodyPr>
          <a:lstStyle/>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p:txBody>
      </p:sp>
      <p:sp>
        <p:nvSpPr>
          <p:cNvPr id="1412566745" name="Title 1"/>
          <p:cNvSpPr>
            <a:spLocks noGrp="1"/>
          </p:cNvSpPr>
          <p:nvPr>
            <p:ph type="title"/>
          </p:nvPr>
        </p:nvSpPr>
        <p:spPr bwMode="auto">
          <a:xfrm>
            <a:off x="609599" y="560387"/>
            <a:ext cx="10972800" cy="1143000"/>
          </a:xfrm>
        </p:spPr>
        <p:txBody>
          <a:bodyPr>
            <a:normAutofit/>
          </a:bodyPr>
          <a:lstStyle/>
          <a:p>
            <a:pPr marL="0" marR="0" indent="0" algn="ctr">
              <a:lnSpc>
                <a:spcPct val="100000"/>
              </a:lnSpc>
              <a:spcBef>
                <a:spcPts val="0"/>
              </a:spcBef>
              <a:spcAft>
                <a:spcPts val="0"/>
              </a:spcAft>
              <a:buNone/>
              <a:defRPr/>
            </a:pPr>
            <a:r>
              <a:rPr lang="en-US" sz="2200" b="1" i="0" u="none" strike="noStrike" cap="none" spc="0" dirty="0">
                <a:solidFill>
                  <a:schemeClr val="bg1"/>
                </a:solidFill>
                <a:latin typeface="Calibri"/>
                <a:ea typeface="Calibri"/>
                <a:cs typeface="Calibri"/>
              </a:rPr>
              <a:t>C</a:t>
            </a:r>
            <a:r>
              <a:rPr lang="en-GB" sz="2200" b="1" i="0" u="none" strike="noStrike" cap="none" spc="0" dirty="0">
                <a:solidFill>
                  <a:schemeClr val="bg1"/>
                </a:solidFill>
                <a:latin typeface="Calibri"/>
                <a:ea typeface="Calibri"/>
                <a:cs typeface="Calibri"/>
              </a:rPr>
              <a:t>.</a:t>
            </a:r>
            <a:r>
              <a:rPr lang="en-US" sz="2200" b="1" i="0" u="none" strike="noStrike" cap="none" spc="0" dirty="0">
                <a:solidFill>
                  <a:schemeClr val="bg1"/>
                </a:solidFill>
                <a:latin typeface="Calibri"/>
                <a:ea typeface="Calibri"/>
                <a:cs typeface="Calibri"/>
              </a:rPr>
              <a:t> LOAN REQUEST &amp; DISBURSEMENT</a:t>
            </a:r>
          </a:p>
        </p:txBody>
      </p:sp>
      <p:graphicFrame>
        <p:nvGraphicFramePr>
          <p:cNvPr id="1442488380" name="Content Placeholder 1952155402"/>
          <p:cNvGraphicFramePr>
            <a:graphicFrameLocks noGrp="1"/>
          </p:cNvGraphicFramePr>
          <p:nvPr>
            <p:ph idx="1"/>
            <p:extLst>
              <p:ext uri="{D42A27DB-BD31-4B8C-83A1-F6EECF244321}">
                <p14:modId xmlns:p14="http://schemas.microsoft.com/office/powerpoint/2010/main" val="833123262"/>
              </p:ext>
            </p:extLst>
          </p:nvPr>
        </p:nvGraphicFramePr>
        <p:xfrm>
          <a:off x="609599" y="1600200"/>
          <a:ext cx="10972800" cy="3657600"/>
        </p:xfrm>
        <a:graphic>
          <a:graphicData uri="http://schemas.openxmlformats.org/drawingml/2006/table">
            <a:tbl>
              <a:tblPr firstRow="1" bandRow="1">
                <a:effectLst>
                  <a:innerShdw blurRad="63500" dist="50800" dir="2700000">
                    <a:prstClr val="black">
                      <a:alpha val="50000"/>
                    </a:prstClr>
                  </a:innerShdw>
                </a:effectLst>
                <a:tableStyleId>{5C22544A-7EE6-4342-B048-85BDC9FD1C3A}</a:tableStyleId>
              </a:tblPr>
              <a:tblGrid>
                <a:gridCol w="2070000">
                  <a:extLst>
                    <a:ext uri="{9D8B030D-6E8A-4147-A177-3AD203B41FA5}">
                      <a16:colId xmlns:a16="http://schemas.microsoft.com/office/drawing/2014/main" val="20000"/>
                    </a:ext>
                  </a:extLst>
                </a:gridCol>
                <a:gridCol w="3690000">
                  <a:extLst>
                    <a:ext uri="{9D8B030D-6E8A-4147-A177-3AD203B41FA5}">
                      <a16:colId xmlns:a16="http://schemas.microsoft.com/office/drawing/2014/main" val="20001"/>
                    </a:ext>
                  </a:extLst>
                </a:gridCol>
                <a:gridCol w="5212800">
                  <a:extLst>
                    <a:ext uri="{9D8B030D-6E8A-4147-A177-3AD203B41FA5}">
                      <a16:colId xmlns:a16="http://schemas.microsoft.com/office/drawing/2014/main" val="20002"/>
                    </a:ext>
                  </a:extLst>
                </a:gridCol>
              </a:tblGrid>
              <a:tr h="365760">
                <a:tc>
                  <a:txBody>
                    <a:bodyPr/>
                    <a:lstStyle/>
                    <a:p>
                      <a:pPr marL="142240" algn="l">
                        <a:lnSpc>
                          <a:spcPts val="1215"/>
                        </a:lnSpc>
                        <a:defRPr/>
                      </a:pPr>
                      <a:r>
                        <a:rPr lang="en-GB" sz="1100" b="1" i="0" u="none" strike="noStrike" cap="none" spc="0" dirty="0">
                          <a:solidFill>
                            <a:schemeClr val="bg1"/>
                          </a:solidFill>
                          <a:effectLst>
                            <a:outerShdw blurRad="38100" dist="38100" dir="2700000" algn="tl">
                              <a:srgbClr val="000000">
                                <a:alpha val="43137"/>
                              </a:srgbClr>
                            </a:outerShdw>
                          </a:effectLst>
                          <a:latin typeface="Calibri"/>
                          <a:ea typeface="Calibri"/>
                          <a:cs typeface="Calibri"/>
                        </a:rPr>
                        <a:t>STEP </a:t>
                      </a:r>
                      <a:r>
                        <a:rPr lang="en-US" sz="1100" b="1" i="0" u="none" strike="noStrike" cap="none" spc="0" dirty="0">
                          <a:solidFill>
                            <a:schemeClr val="bg1"/>
                          </a:solidFill>
                          <a:effectLst>
                            <a:outerShdw blurRad="38100" dist="38100" dir="2700000" algn="tl">
                              <a:srgbClr val="000000">
                                <a:alpha val="43137"/>
                              </a:srgbClr>
                            </a:outerShdw>
                          </a:effectLst>
                          <a:latin typeface="Calibri"/>
                          <a:ea typeface="Calibri"/>
                          <a:cs typeface="Calibri"/>
                        </a:rPr>
                        <a:t>NO</a:t>
                      </a:r>
                      <a:r>
                        <a:rPr lang="en-GB" sz="1100" b="1" i="0" u="none" strike="noStrike" cap="none" spc="0" dirty="0">
                          <a:solidFill>
                            <a:schemeClr val="bg1"/>
                          </a:solidFill>
                          <a:effectLst>
                            <a:outerShdw blurRad="38100" dist="38100" dir="2700000" algn="tl">
                              <a:srgbClr val="000000">
                                <a:alpha val="43137"/>
                              </a:srgbClr>
                            </a:outerShdw>
                          </a:effectLst>
                          <a:latin typeface="Calibri"/>
                          <a:ea typeface="Calibri"/>
                          <a:cs typeface="Calibri"/>
                        </a:rPr>
                        <a:t>  </a:t>
                      </a:r>
                      <a:r>
                        <a:rPr lang="en-US" sz="1100" b="1" i="0" u="none" strike="noStrike" cap="none" spc="0" dirty="0">
                          <a:solidFill>
                            <a:schemeClr val="bg1"/>
                          </a:solidFill>
                          <a:effectLst>
                            <a:outerShdw blurRad="38100" dist="38100" dir="2700000" algn="tl">
                              <a:srgbClr val="000000">
                                <a:alpha val="43137"/>
                              </a:srgbClr>
                            </a:outerShdw>
                          </a:effectLst>
                          <a:latin typeface="Calibri"/>
                          <a:ea typeface="Calibri"/>
                          <a:cs typeface="Calibri"/>
                        </a:rPr>
                        <a:t>        </a:t>
                      </a:r>
                      <a:endParaRPr sz="1100" b="1" dirty="0">
                        <a:effectLst>
                          <a:outerShdw blurRad="38100" dist="38100" dir="2700000" algn="tl">
                            <a:srgbClr val="000000">
                              <a:alpha val="43137"/>
                            </a:srgbClr>
                          </a:outerShdw>
                        </a:effectLst>
                        <a:latin typeface="Calibri"/>
                        <a:cs typeface="Calibri"/>
                      </a:endParaRPr>
                    </a:p>
                  </a:txBody>
                  <a:tcPr/>
                </a:tc>
                <a:tc>
                  <a:txBody>
                    <a:bodyPr/>
                    <a:lstStyle/>
                    <a:p>
                      <a:pPr marL="85725"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ROLE       </a:t>
                      </a:r>
                      <a:r>
                        <a:rPr lang="en-US"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    </a:t>
                      </a:r>
                      <a:endParaRPr sz="1100" b="1">
                        <a:effectLst>
                          <a:outerShdw blurRad="38100" dist="38100" dir="2700000" algn="tl">
                            <a:srgbClr val="000000">
                              <a:alpha val="43137"/>
                            </a:srgbClr>
                          </a:outerShdw>
                        </a:effectLst>
                        <a:latin typeface="Arial"/>
                        <a:cs typeface="Arial"/>
                      </a:endParaRPr>
                    </a:p>
                  </a:txBody>
                  <a:tcPr/>
                </a:tc>
                <a:tc>
                  <a:txBody>
                    <a:bodyPr/>
                    <a:lstStyle/>
                    <a:p>
                      <a:pPr marL="1031875" algn="l">
                        <a:lnSpc>
                          <a:spcPts val="1215"/>
                        </a:lnSpc>
                        <a:defRPr/>
                      </a:pPr>
                      <a:r>
                        <a:rPr sz="1100" b="1">
                          <a:effectLst>
                            <a:outerShdw blurRad="38100" dist="38100" dir="2700000" algn="tl">
                              <a:srgbClr val="000000">
                                <a:alpha val="43137"/>
                              </a:srgbClr>
                            </a:outerShdw>
                          </a:effectLst>
                          <a:latin typeface="Arial"/>
                          <a:cs typeface="Arial"/>
                        </a:rPr>
                        <a:t>PROCESS</a:t>
                      </a:r>
                      <a:r>
                        <a:rPr sz="1100" b="1" spc="-7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DESCRIPTION</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0"/>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24</a:t>
                      </a:r>
                      <a:endParaRPr sz="1100" b="1">
                        <a:effectLst>
                          <a:outerShdw blurRad="38100" dist="38100" dir="2700000" algn="tl">
                            <a:srgbClr val="000000">
                              <a:alpha val="43137"/>
                            </a:srgbClr>
                          </a:outerShdw>
                        </a:effectLst>
                        <a:latin typeface="Arial"/>
                        <a:cs typeface="Arial"/>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Arial"/>
                          <a:cs typeface="Arial"/>
                        </a:rPr>
                        <a:t>Boda</a:t>
                      </a:r>
                      <a:r>
                        <a:rPr sz="1100" b="1" spc="-4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Rider</a:t>
                      </a:r>
                      <a:endParaRPr sz="1100" b="1">
                        <a:effectLst>
                          <a:outerShdw blurRad="38100" dist="38100" dir="2700000" algn="tl">
                            <a:srgbClr val="000000">
                              <a:alpha val="43137"/>
                            </a:srgbClr>
                          </a:outerShdw>
                        </a:effectLst>
                        <a:latin typeface="Arial"/>
                        <a:cs typeface="Arial"/>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Arial"/>
                          <a:cs typeface="Arial"/>
                        </a:rPr>
                        <a:t>Make</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deposit</a:t>
                      </a:r>
                      <a:r>
                        <a:rPr sz="1100" b="1" spc="-4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payment</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1"/>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25</a:t>
                      </a:r>
                      <a:endParaRPr sz="1100" b="1">
                        <a:effectLst>
                          <a:outerShdw blurRad="38100" dist="38100" dir="2700000" algn="tl">
                            <a:srgbClr val="000000">
                              <a:alpha val="43137"/>
                            </a:srgbClr>
                          </a:outerShdw>
                        </a:effectLst>
                        <a:latin typeface="Arial"/>
                        <a:cs typeface="Arial"/>
                      </a:endParaRPr>
                    </a:p>
                  </a:txBody>
                  <a:tcPr/>
                </a:tc>
                <a:tc>
                  <a:txBody>
                    <a:bodyPr/>
                    <a:lstStyle/>
                    <a:p>
                      <a:pPr marL="250825">
                        <a:lnSpc>
                          <a:spcPct val="100000"/>
                        </a:lnSpc>
                        <a:spcBef>
                          <a:spcPts val="530"/>
                        </a:spcBef>
                        <a:defRPr/>
                      </a:pPr>
                      <a:r>
                        <a:rPr sz="1100" b="1" dirty="0">
                          <a:effectLst>
                            <a:outerShdw blurRad="38100" dist="38100" dir="2700000" algn="tl">
                              <a:srgbClr val="000000">
                                <a:alpha val="43137"/>
                              </a:srgbClr>
                            </a:outerShdw>
                          </a:effectLst>
                          <a:latin typeface="Arial"/>
                          <a:cs typeface="Arial"/>
                        </a:rPr>
                        <a:t>Kuza</a:t>
                      </a:r>
                      <a:r>
                        <a:rPr sz="1100" b="1" spc="-38" dirty="0">
                          <a:effectLst>
                            <a:outerShdw blurRad="38100" dist="38100" dir="2700000" algn="tl">
                              <a:srgbClr val="000000">
                                <a:alpha val="43137"/>
                              </a:srgbClr>
                            </a:outerShdw>
                          </a:effectLst>
                          <a:latin typeface="Arial"/>
                          <a:cs typeface="Arial"/>
                        </a:rPr>
                        <a:t> </a:t>
                      </a:r>
                      <a:r>
                        <a:rPr sz="1100" b="1" spc="-9" dirty="0">
                          <a:effectLst>
                            <a:outerShdw blurRad="38100" dist="38100" dir="2700000" algn="tl">
                              <a:srgbClr val="000000">
                                <a:alpha val="43137"/>
                              </a:srgbClr>
                            </a:outerShdw>
                          </a:effectLst>
                          <a:latin typeface="Arial"/>
                          <a:cs typeface="Arial"/>
                        </a:rPr>
                        <a:t>System</a:t>
                      </a:r>
                      <a:endParaRPr sz="1100" b="1" dirty="0">
                        <a:effectLst>
                          <a:outerShdw blurRad="38100" dist="38100" dir="2700000" algn="tl">
                            <a:srgbClr val="000000">
                              <a:alpha val="43137"/>
                            </a:srgbClr>
                          </a:outerShdw>
                        </a:effectLst>
                        <a:latin typeface="Arial"/>
                        <a:cs typeface="Arial"/>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Arial"/>
                          <a:cs typeface="Arial"/>
                        </a:rPr>
                        <a:t>Confirm</a:t>
                      </a:r>
                      <a:r>
                        <a:rPr sz="1100" b="1" spc="-5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deposit</a:t>
                      </a:r>
                      <a:r>
                        <a:rPr sz="1100" b="1" spc="-5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payment</a:t>
                      </a:r>
                      <a:r>
                        <a:rPr sz="1100" b="1" spc="-5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successful</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2"/>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26</a:t>
                      </a:r>
                      <a:endParaRPr sz="1100" b="1">
                        <a:effectLst>
                          <a:outerShdw blurRad="38100" dist="38100" dir="2700000" algn="tl">
                            <a:srgbClr val="000000">
                              <a:alpha val="43137"/>
                            </a:srgbClr>
                          </a:outerShdw>
                        </a:effectLst>
                        <a:latin typeface="Arial"/>
                        <a:cs typeface="Arial"/>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Arial"/>
                          <a:cs typeface="Arial"/>
                        </a:rPr>
                        <a:t>Generate</a:t>
                      </a:r>
                      <a:r>
                        <a:rPr sz="1100" b="1" spc="-2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collection</a:t>
                      </a:r>
                      <a:r>
                        <a:rPr sz="1100" b="1" spc="-28">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token</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3"/>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27</a:t>
                      </a:r>
                      <a:endParaRPr sz="1100" b="1">
                        <a:effectLst>
                          <a:outerShdw blurRad="38100" dist="38100" dir="2700000" algn="tl">
                            <a:srgbClr val="000000">
                              <a:alpha val="43137"/>
                            </a:srgbClr>
                          </a:outerShdw>
                        </a:effectLst>
                        <a:latin typeface="Arial"/>
                        <a:cs typeface="Arial"/>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Arial"/>
                          <a:cs typeface="Arial"/>
                        </a:rPr>
                        <a:t>Sync</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token</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to</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district</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Kuza</a:t>
                      </a:r>
                      <a:r>
                        <a:rPr sz="1100" b="1" spc="-28">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shop</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4"/>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28</a:t>
                      </a:r>
                      <a:endParaRPr sz="1100" b="1">
                        <a:effectLst>
                          <a:outerShdw blurRad="38100" dist="38100" dir="2700000" algn="tl">
                            <a:srgbClr val="000000">
                              <a:alpha val="43137"/>
                            </a:srgbClr>
                          </a:outerShdw>
                        </a:effectLst>
                        <a:latin typeface="Arial"/>
                        <a:cs typeface="Arial"/>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Arial"/>
                          <a:cs typeface="Arial"/>
                        </a:rPr>
                        <a:t>Boda</a:t>
                      </a:r>
                      <a:r>
                        <a:rPr sz="1100" b="1" spc="-4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Rider</a:t>
                      </a:r>
                      <a:endParaRPr sz="1100" b="1">
                        <a:effectLst>
                          <a:outerShdw blurRad="38100" dist="38100" dir="2700000" algn="tl">
                            <a:srgbClr val="000000">
                              <a:alpha val="43137"/>
                            </a:srgbClr>
                          </a:outerShdw>
                        </a:effectLst>
                        <a:latin typeface="Arial"/>
                        <a:cs typeface="Arial"/>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Arial"/>
                          <a:cs typeface="Arial"/>
                        </a:rPr>
                        <a:t>Visit</a:t>
                      </a:r>
                      <a:r>
                        <a:rPr sz="1100" b="1" spc="-5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Kuza</a:t>
                      </a:r>
                      <a:r>
                        <a:rPr sz="1100" b="1" spc="-49">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shop</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5"/>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29</a:t>
                      </a:r>
                      <a:endParaRPr sz="1100" b="1">
                        <a:effectLst>
                          <a:outerShdw blurRad="38100" dist="38100" dir="2700000" algn="tl">
                            <a:srgbClr val="000000">
                              <a:alpha val="43137"/>
                            </a:srgbClr>
                          </a:outerShdw>
                        </a:effectLst>
                        <a:latin typeface="Arial"/>
                        <a:cs typeface="Arial"/>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Shop</a:t>
                      </a:r>
                      <a:r>
                        <a:rPr sz="1100" b="1" spc="-45">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Agent</a:t>
                      </a:r>
                      <a:endParaRPr sz="1100" b="1">
                        <a:effectLst>
                          <a:outerShdw blurRad="38100" dist="38100" dir="2700000" algn="tl">
                            <a:srgbClr val="000000">
                              <a:alpha val="43137"/>
                            </a:srgbClr>
                          </a:outerShdw>
                        </a:effectLst>
                        <a:latin typeface="Arial"/>
                        <a:cs typeface="Arial"/>
                      </a:endParaRPr>
                    </a:p>
                  </a:txBody>
                  <a:tcPr/>
                </a:tc>
                <a:tc>
                  <a:txBody>
                    <a:bodyPr/>
                    <a:lstStyle/>
                    <a:p>
                      <a:pPr marL="238125">
                        <a:lnSpc>
                          <a:spcPct val="100000"/>
                        </a:lnSpc>
                        <a:spcBef>
                          <a:spcPts val="530"/>
                        </a:spcBef>
                        <a:defRPr/>
                      </a:pPr>
                      <a:r>
                        <a:rPr sz="1100" b="1" spc="-9">
                          <a:effectLst>
                            <a:outerShdw blurRad="38100" dist="38100" dir="2700000" algn="tl">
                              <a:srgbClr val="000000">
                                <a:alpha val="43137"/>
                              </a:srgbClr>
                            </a:outerShdw>
                          </a:effectLst>
                          <a:latin typeface="Arial"/>
                          <a:cs typeface="Arial"/>
                        </a:rPr>
                        <a:t>Verify</a:t>
                      </a:r>
                      <a:r>
                        <a:rPr sz="1100" b="1" spc="-1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collection</a:t>
                      </a:r>
                      <a:r>
                        <a:rPr sz="1100" b="1" spc="-19">
                          <a:effectLst>
                            <a:outerShdw blurRad="38100" dist="38100" dir="2700000" algn="tl">
                              <a:srgbClr val="000000">
                                <a:alpha val="43137"/>
                              </a:srgbClr>
                            </a:outerShdw>
                          </a:effectLst>
                          <a:latin typeface="Arial"/>
                          <a:cs typeface="Arial"/>
                        </a:rPr>
                        <a:t> token</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6"/>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30</a:t>
                      </a:r>
                      <a:endParaRPr sz="1100" b="1">
                        <a:effectLst>
                          <a:outerShdw blurRad="38100" dist="38100" dir="2700000" algn="tl">
                            <a:srgbClr val="000000">
                              <a:alpha val="43137"/>
                            </a:srgbClr>
                          </a:outerShdw>
                        </a:effectLst>
                        <a:latin typeface="Arial"/>
                        <a:cs typeface="Arial"/>
                      </a:endParaRPr>
                    </a:p>
                  </a:txBody>
                  <a:tcPr/>
                </a:tc>
                <a:tc>
                  <a:txBody>
                    <a:bodyPr/>
                    <a:lstStyle/>
                    <a:p>
                      <a:pPr marL="250825" marR="230505">
                        <a:lnSpc>
                          <a:spcPct val="110000"/>
                        </a:lnSpc>
                        <a:spcBef>
                          <a:spcPts val="400"/>
                        </a:spcBef>
                        <a:defRPr/>
                      </a:pPr>
                      <a:r>
                        <a:rPr sz="1100" b="1">
                          <a:effectLst>
                            <a:outerShdw blurRad="38100" dist="38100" dir="2700000" algn="tl">
                              <a:srgbClr val="000000">
                                <a:alpha val="43137"/>
                              </a:srgbClr>
                            </a:outerShdw>
                          </a:effectLst>
                          <a:latin typeface="Arial"/>
                          <a:cs typeface="Arial"/>
                        </a:rPr>
                        <a:t>Store</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Keeper</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t>
                      </a:r>
                      <a:r>
                        <a:rPr sz="1100" b="1" spc="-28">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Kuza Shop</a:t>
                      </a:r>
                      <a:endParaRPr sz="1100" b="1">
                        <a:effectLst>
                          <a:outerShdw blurRad="38100" dist="38100" dir="2700000" algn="tl">
                            <a:srgbClr val="000000">
                              <a:alpha val="43137"/>
                            </a:srgbClr>
                          </a:outerShdw>
                        </a:effectLst>
                        <a:latin typeface="Arial"/>
                        <a:cs typeface="Arial"/>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Arial"/>
                          <a:cs typeface="Arial"/>
                        </a:rPr>
                        <a:t>Issue</a:t>
                      </a:r>
                      <a:r>
                        <a:rPr sz="1100" b="1" spc="-23">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tyre</a:t>
                      </a:r>
                      <a:r>
                        <a:rPr sz="1100" b="1" spc="-1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to</a:t>
                      </a:r>
                      <a:r>
                        <a:rPr sz="1100" b="1" spc="-23">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rider</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7"/>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31</a:t>
                      </a:r>
                      <a:endParaRPr sz="1100" b="1">
                        <a:effectLst>
                          <a:outerShdw blurRad="38100" dist="38100" dir="2700000" algn="tl">
                            <a:srgbClr val="000000">
                              <a:alpha val="43137"/>
                            </a:srgbClr>
                          </a:outerShdw>
                        </a:effectLst>
                        <a:latin typeface="Arial"/>
                        <a:cs typeface="Arial"/>
                      </a:endParaRPr>
                    </a:p>
                  </a:txBody>
                  <a:tcPr/>
                </a:tc>
                <a:tc>
                  <a:txBody>
                    <a:bodyPr/>
                    <a:lstStyle/>
                    <a:p>
                      <a:pPr marL="250825">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238125">
                        <a:lnSpc>
                          <a:spcPct val="100000"/>
                        </a:lnSpc>
                        <a:spcBef>
                          <a:spcPts val="530"/>
                        </a:spcBef>
                        <a:defRPr/>
                      </a:pPr>
                      <a:r>
                        <a:rPr sz="1100" b="1">
                          <a:effectLst>
                            <a:outerShdw blurRad="38100" dist="38100" dir="2700000" algn="tl">
                              <a:srgbClr val="000000">
                                <a:alpha val="43137"/>
                              </a:srgbClr>
                            </a:outerShdw>
                          </a:effectLst>
                          <a:latin typeface="Arial"/>
                          <a:cs typeface="Arial"/>
                        </a:rPr>
                        <a:t>Activate</a:t>
                      </a:r>
                      <a:r>
                        <a:rPr sz="1100" b="1" spc="-64">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loan</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8"/>
                  </a:ext>
                </a:extLst>
              </a:tr>
              <a:tr h="365760">
                <a:tc>
                  <a:txBody>
                    <a:bodyPr/>
                    <a:lstStyle/>
                    <a:p>
                      <a:pPr marL="31750">
                        <a:lnSpc>
                          <a:spcPts val="1235"/>
                        </a:lnSpc>
                        <a:spcBef>
                          <a:spcPts val="530"/>
                        </a:spcBef>
                        <a:defRPr/>
                      </a:pPr>
                      <a:r>
                        <a:rPr sz="1100" b="1" spc="-23">
                          <a:effectLst>
                            <a:outerShdw blurRad="38100" dist="38100" dir="2700000" algn="tl">
                              <a:srgbClr val="000000">
                                <a:alpha val="43137"/>
                              </a:srgbClr>
                            </a:outerShdw>
                          </a:effectLst>
                          <a:latin typeface="Arial"/>
                          <a:cs typeface="Arial"/>
                        </a:rPr>
                        <a:t>32</a:t>
                      </a:r>
                      <a:endParaRPr sz="1100" b="1">
                        <a:effectLst>
                          <a:outerShdw blurRad="38100" dist="38100" dir="2700000" algn="tl">
                            <a:srgbClr val="000000">
                              <a:alpha val="43137"/>
                            </a:srgbClr>
                          </a:outerShdw>
                        </a:effectLst>
                        <a:latin typeface="Arial"/>
                        <a:cs typeface="Arial"/>
                      </a:endParaRPr>
                    </a:p>
                  </a:txBody>
                  <a:tcPr/>
                </a:tc>
                <a:tc>
                  <a:txBody>
                    <a:bodyPr/>
                    <a:lstStyle/>
                    <a:p>
                      <a:pPr marL="250825">
                        <a:lnSpc>
                          <a:spcPts val="1235"/>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238125">
                        <a:lnSpc>
                          <a:spcPts val="1235"/>
                        </a:lnSpc>
                        <a:spcBef>
                          <a:spcPts val="530"/>
                        </a:spcBef>
                        <a:defRPr/>
                      </a:pPr>
                      <a:r>
                        <a:rPr sz="1100" b="1" dirty="0">
                          <a:effectLst>
                            <a:outerShdw blurRad="38100" dist="38100" dir="2700000" algn="tl">
                              <a:srgbClr val="000000">
                                <a:alpha val="43137"/>
                              </a:srgbClr>
                            </a:outerShdw>
                          </a:effectLst>
                          <a:latin typeface="Arial"/>
                          <a:cs typeface="Arial"/>
                        </a:rPr>
                        <a:t>Begin</a:t>
                      </a:r>
                      <a:r>
                        <a:rPr sz="1100" b="1" spc="-6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repayment</a:t>
                      </a:r>
                      <a:r>
                        <a:rPr sz="1100" b="1" spc="-64" dirty="0">
                          <a:effectLst>
                            <a:outerShdw blurRad="38100" dist="38100" dir="2700000" algn="tl">
                              <a:srgbClr val="000000">
                                <a:alpha val="43137"/>
                              </a:srgbClr>
                            </a:outerShdw>
                          </a:effectLst>
                          <a:latin typeface="Arial"/>
                          <a:cs typeface="Arial"/>
                        </a:rPr>
                        <a:t> </a:t>
                      </a:r>
                      <a:r>
                        <a:rPr sz="1100" b="1" spc="-19" dirty="0">
                          <a:effectLst>
                            <a:outerShdw blurRad="38100" dist="38100" dir="2700000" algn="tl">
                              <a:srgbClr val="000000">
                                <a:alpha val="43137"/>
                              </a:srgbClr>
                            </a:outerShdw>
                          </a:effectLst>
                          <a:latin typeface="Arial"/>
                          <a:cs typeface="Arial"/>
                        </a:rPr>
                        <a:t>stage</a:t>
                      </a:r>
                      <a:endParaRPr sz="1100" b="1" dirty="0">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9"/>
                  </a:ext>
                </a:extLst>
              </a:tr>
            </a:tbl>
          </a:graphicData>
        </a:graphic>
      </p:graphicFrame>
      <p:pic>
        <p:nvPicPr>
          <p:cNvPr id="402981291"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35221494" name="Google Shape;67;p14"/>
          <p:cNvSpPr/>
          <p:nvPr/>
        </p:nvSpPr>
        <p:spPr bwMode="auto">
          <a:xfrm>
            <a:off x="4938311" y="320565"/>
            <a:ext cx="1157688" cy="386568"/>
          </a:xfrm>
          <a:prstGeom prst="flowChartTerminator">
            <a:avLst/>
          </a:prstGeom>
          <a:solidFill>
            <a:srgbClr val="283676"/>
          </a:solidFill>
          <a:ln w="9525" cap="flat" cmpd="sng">
            <a:solidFill>
              <a:srgbClr val="FFFFFF"/>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Arial"/>
              <a:cs typeface="Arial"/>
            </a:endParaRPr>
          </a:p>
          <a:p>
            <a:pPr marL="12700">
              <a:lnSpc>
                <a:spcPct val="100000"/>
              </a:lnSpc>
              <a:spcBef>
                <a:spcPts val="100"/>
              </a:spcBef>
              <a:defRPr/>
            </a:pPr>
            <a:r>
              <a:rPr lang="en-US" sz="600" b="1" i="0" u="none" strike="noStrike" cap="none" spc="-9">
                <a:solidFill>
                  <a:schemeClr val="bg1"/>
                </a:solidFill>
                <a:latin typeface="Times New Roman"/>
                <a:cs typeface="Times New Roman"/>
              </a:rPr>
              <a:t>Repayment process</a:t>
            </a:r>
          </a:p>
          <a:p>
            <a:pPr marL="0" lvl="0" indent="0" algn="ctr" rtl="0">
              <a:spcBef>
                <a:spcPts val="0"/>
              </a:spcBef>
              <a:spcAft>
                <a:spcPts val="0"/>
              </a:spcAft>
              <a:buClr>
                <a:srgbClr val="000000"/>
              </a:buClr>
              <a:buSzPts val="1100"/>
              <a:buFont typeface="Arial"/>
              <a:buNone/>
              <a:defRPr/>
            </a:pPr>
            <a:endParaRPr sz="1000" b="1">
              <a:solidFill>
                <a:schemeClr val="bg1"/>
              </a:solidFill>
            </a:endParaRPr>
          </a:p>
        </p:txBody>
      </p:sp>
      <p:sp>
        <p:nvSpPr>
          <p:cNvPr id="604609689" name="Google Shape;68;p14"/>
          <p:cNvSpPr/>
          <p:nvPr/>
        </p:nvSpPr>
        <p:spPr bwMode="auto">
          <a:xfrm>
            <a:off x="308532"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19">
                <a:solidFill>
                  <a:schemeClr val="tx1"/>
                </a:solidFill>
                <a:latin typeface="Arial"/>
                <a:ea typeface="Arial"/>
                <a:cs typeface="Arial"/>
              </a:rPr>
              <a:t>                </a:t>
            </a:r>
            <a:r>
              <a:rPr lang="en-US" sz="600" b="1" i="0" u="none" strike="noStrike" cap="none" spc="0">
                <a:solidFill>
                  <a:schemeClr val="bg1"/>
                </a:solidFill>
                <a:latin typeface="Calibri"/>
                <a:ea typeface="Calibri"/>
                <a:cs typeface="Calibri"/>
              </a:rPr>
              <a:t>On-boarding</a:t>
            </a:r>
            <a:r>
              <a:rPr lang="en-US" sz="600" b="1" i="0" u="none" strike="noStrike" cap="none" spc="-19">
                <a:solidFill>
                  <a:schemeClr val="bg1"/>
                </a:solidFill>
                <a:latin typeface="Calibri"/>
                <a:ea typeface="Calibri"/>
                <a:cs typeface="Calibri"/>
              </a:rPr>
              <a:t> </a:t>
            </a:r>
            <a:endParaRPr sz="600">
              <a:latin typeface="Arial"/>
              <a:cs typeface="Arial"/>
            </a:endParaRPr>
          </a:p>
          <a:p>
            <a:pPr marL="0" lvl="0" indent="0" algn="ctr" rtl="0">
              <a:spcBef>
                <a:spcPts val="0"/>
              </a:spcBef>
              <a:spcAft>
                <a:spcPts val="0"/>
              </a:spcAft>
              <a:buNone/>
              <a:defRPr/>
            </a:pPr>
            <a:endParaRPr sz="600" b="1">
              <a:solidFill>
                <a:srgbClr val="283676"/>
              </a:solidFill>
              <a:latin typeface="Montserrat"/>
              <a:ea typeface="Montserrat"/>
              <a:cs typeface="Montserrat"/>
            </a:endParaRPr>
          </a:p>
        </p:txBody>
      </p:sp>
      <p:sp>
        <p:nvSpPr>
          <p:cNvPr id="1372704504" name="Google Shape;69;p14"/>
          <p:cNvSpPr/>
          <p:nvPr/>
        </p:nvSpPr>
        <p:spPr bwMode="auto">
          <a:xfrm>
            <a:off x="1756107" y="320565"/>
            <a:ext cx="1597032"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a:defRPr/>
            </a:pPr>
            <a:r>
              <a:rPr lang="en-US" sz="600" b="1" i="0" u="none" strike="noStrike" cap="none" spc="-49">
                <a:solidFill>
                  <a:schemeClr val="bg1"/>
                </a:solidFill>
                <a:latin typeface="Calibri"/>
                <a:ea typeface="Calibri"/>
                <a:cs typeface="Calibri"/>
              </a:rPr>
              <a:t>Registration  </a:t>
            </a:r>
            <a:r>
              <a:rPr lang="en-US" sz="600" b="1" i="0" u="none" strike="noStrike" cap="none" spc="0">
                <a:solidFill>
                  <a:schemeClr val="bg1"/>
                </a:solidFill>
                <a:latin typeface="Calibri"/>
                <a:ea typeface="Calibri"/>
                <a:cs typeface="Calibri"/>
              </a:rPr>
              <a:t>&amp;</a:t>
            </a:r>
            <a:r>
              <a:rPr lang="en-US" sz="600" b="1" i="0" u="none" strike="noStrike" cap="none" spc="-49">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Activation</a:t>
            </a:r>
            <a:endParaRPr>
              <a:solidFill>
                <a:schemeClr val="bg1"/>
              </a:solidFill>
              <a:latin typeface="Calibri"/>
              <a:cs typeface="Calibri"/>
            </a:endParaRPr>
          </a:p>
        </p:txBody>
      </p:sp>
      <p:sp>
        <p:nvSpPr>
          <p:cNvPr id="1318168931" name="Google Shape;70;p14"/>
          <p:cNvSpPr/>
          <p:nvPr/>
        </p:nvSpPr>
        <p:spPr bwMode="auto">
          <a:xfrm>
            <a:off x="3451028"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19">
                <a:solidFill>
                  <a:schemeClr val="bg1"/>
                </a:solidFill>
                <a:latin typeface="Calibri"/>
                <a:ea typeface="Calibri"/>
                <a:cs typeface="Calibri"/>
              </a:rPr>
              <a:t>Loan request &amp; Disbursement</a:t>
            </a:r>
            <a:endParaRPr sz="600">
              <a:latin typeface="Calibri"/>
              <a:cs typeface="Calibri"/>
            </a:endParaRPr>
          </a:p>
        </p:txBody>
      </p:sp>
      <p:sp>
        <p:nvSpPr>
          <p:cNvPr id="1321648243" name="Google Shape;71;p14"/>
          <p:cNvSpPr/>
          <p:nvPr/>
        </p:nvSpPr>
        <p:spPr bwMode="auto">
          <a:xfrm>
            <a:off x="6142765"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Calibri"/>
              <a:cs typeface="Calibri"/>
            </a:endParaRPr>
          </a:p>
          <a:p>
            <a:pPr marL="12700">
              <a:lnSpc>
                <a:spcPct val="100000"/>
              </a:lnSpc>
              <a:spcBef>
                <a:spcPts val="100"/>
              </a:spcBef>
              <a:defRPr/>
            </a:pPr>
            <a:r>
              <a:rPr lang="en-US" sz="600" b="1" i="0" u="none" strike="noStrike" cap="none" spc="0">
                <a:solidFill>
                  <a:schemeClr val="bg1"/>
                </a:solidFill>
                <a:latin typeface="Calibri"/>
                <a:ea typeface="Calibri"/>
                <a:cs typeface="Calibri"/>
              </a:rPr>
              <a:t>Collection</a:t>
            </a:r>
            <a:r>
              <a:rPr lang="en-US" sz="600" b="1" i="0" u="none" strike="noStrike" cap="none" spc="-34">
                <a:solidFill>
                  <a:schemeClr val="bg1"/>
                </a:solidFill>
                <a:latin typeface="Calibri"/>
                <a:ea typeface="Calibri"/>
                <a:cs typeface="Calibri"/>
              </a:rPr>
              <a:t> </a:t>
            </a:r>
            <a:r>
              <a:rPr lang="en-US" sz="600" b="1" i="0" u="none" strike="noStrike" cap="none" spc="0">
                <a:solidFill>
                  <a:schemeClr val="bg1"/>
                </a:solidFill>
                <a:latin typeface="Calibri"/>
                <a:ea typeface="Calibri"/>
                <a:cs typeface="Calibri"/>
              </a:rPr>
              <a:t>&amp;</a:t>
            </a:r>
            <a:r>
              <a:rPr lang="en-US" sz="600" b="1" i="0" u="none" strike="noStrike" cap="none" spc="-34">
                <a:solidFill>
                  <a:schemeClr val="bg1"/>
                </a:solidFill>
                <a:latin typeface="Calibri"/>
                <a:ea typeface="Calibri"/>
                <a:cs typeface="Calibri"/>
              </a:rPr>
              <a:t> </a:t>
            </a:r>
            <a:r>
              <a:rPr lang="en-US" sz="600" b="1" i="0" u="none" strike="noStrike" cap="none" spc="-19">
                <a:solidFill>
                  <a:schemeClr val="bg1"/>
                </a:solidFill>
                <a:latin typeface="Calibri"/>
                <a:ea typeface="Calibri"/>
                <a:cs typeface="Calibri"/>
              </a:rPr>
              <a:t>escalation</a:t>
            </a:r>
            <a:r>
              <a:rPr lang="en-US" sz="600" b="1" i="0" u="none" strike="noStrike" cap="none" spc="-34">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process</a:t>
            </a:r>
            <a:endParaRPr sz="600" b="1" i="0" u="none" strike="noStrike" cap="none" spc="-9">
              <a:solidFill>
                <a:schemeClr val="bg1"/>
              </a:solidFill>
              <a:latin typeface="Calibri"/>
              <a:cs typeface="Calibri"/>
            </a:endParaRPr>
          </a:p>
          <a:p>
            <a:pPr marL="0" lvl="0" indent="0" algn="ctr" rtl="0">
              <a:spcBef>
                <a:spcPts val="0"/>
              </a:spcBef>
              <a:spcAft>
                <a:spcPts val="0"/>
              </a:spcAft>
              <a:buClr>
                <a:srgbClr val="000000"/>
              </a:buClr>
              <a:buSzPts val="1100"/>
              <a:buFont typeface="Arial"/>
              <a:buNone/>
              <a:defRPr/>
            </a:pPr>
            <a:endParaRPr sz="600" b="1">
              <a:solidFill>
                <a:srgbClr val="283676"/>
              </a:solidFill>
              <a:latin typeface="Calibri"/>
              <a:cs typeface="Calibri"/>
            </a:endParaRPr>
          </a:p>
        </p:txBody>
      </p:sp>
      <p:sp>
        <p:nvSpPr>
          <p:cNvPr id="318323581" name="Google Shape;75;p14"/>
          <p:cNvSpPr txBox="1"/>
          <p:nvPr/>
        </p:nvSpPr>
        <p:spPr bwMode="auto">
          <a:xfrm>
            <a:off x="308532" y="3636915"/>
            <a:ext cx="11154799" cy="4555199"/>
          </a:xfrm>
          <a:prstGeom prst="rect">
            <a:avLst/>
          </a:prstGeom>
          <a:noFill/>
          <a:ln>
            <a:noFill/>
          </a:ln>
        </p:spPr>
        <p:txBody>
          <a:bodyPr spcFirstLastPara="1" wrap="square" lIns="91423" tIns="91423" rIns="91423" bIns="91423" anchor="t" anchorCtr="0">
            <a:normAutofit/>
          </a:bodyPr>
          <a:lstStyle/>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p:txBody>
      </p:sp>
      <p:sp>
        <p:nvSpPr>
          <p:cNvPr id="35819599" name="Title 1"/>
          <p:cNvSpPr>
            <a:spLocks noGrp="1"/>
          </p:cNvSpPr>
          <p:nvPr>
            <p:ph type="title"/>
          </p:nvPr>
        </p:nvSpPr>
        <p:spPr bwMode="auto">
          <a:xfrm>
            <a:off x="609599" y="560387"/>
            <a:ext cx="10972800" cy="1143000"/>
          </a:xfrm>
        </p:spPr>
        <p:txBody>
          <a:bodyPr>
            <a:normAutofit/>
          </a:bodyPr>
          <a:lstStyle/>
          <a:p>
            <a:pPr marL="0" marR="0" indent="0" algn="ctr">
              <a:lnSpc>
                <a:spcPct val="100000"/>
              </a:lnSpc>
              <a:spcBef>
                <a:spcPts val="0"/>
              </a:spcBef>
              <a:spcAft>
                <a:spcPts val="0"/>
              </a:spcAft>
              <a:buNone/>
              <a:defRPr/>
            </a:pPr>
            <a:r>
              <a:rPr lang="en-US" sz="2200" b="1" i="0" u="none" strike="noStrike" cap="none" spc="0" dirty="0">
                <a:solidFill>
                  <a:schemeClr val="bg1"/>
                </a:solidFill>
                <a:latin typeface="Calibri"/>
                <a:ea typeface="Calibri"/>
                <a:cs typeface="Calibri"/>
              </a:rPr>
              <a:t>D</a:t>
            </a:r>
            <a:r>
              <a:rPr lang="en-GB" sz="2200" b="1" i="0" u="none" strike="noStrike" cap="none" spc="0" dirty="0">
                <a:solidFill>
                  <a:schemeClr val="bg1"/>
                </a:solidFill>
                <a:latin typeface="Calibri"/>
                <a:ea typeface="Calibri"/>
                <a:cs typeface="Calibri"/>
              </a:rPr>
              <a:t>.</a:t>
            </a:r>
            <a:r>
              <a:rPr lang="en-US" sz="2200" b="1" i="0" u="none" strike="noStrike" cap="none" spc="0" dirty="0">
                <a:solidFill>
                  <a:schemeClr val="bg1"/>
                </a:solidFill>
                <a:latin typeface="Calibri"/>
                <a:ea typeface="Calibri"/>
                <a:cs typeface="Calibri"/>
              </a:rPr>
              <a:t> REPAYMENT PROCESS</a:t>
            </a:r>
          </a:p>
        </p:txBody>
      </p:sp>
      <p:graphicFrame>
        <p:nvGraphicFramePr>
          <p:cNvPr id="245165815" name="Content Placeholder 990829366"/>
          <p:cNvGraphicFramePr>
            <a:graphicFrameLocks noGrp="1"/>
          </p:cNvGraphicFramePr>
          <p:nvPr>
            <p:ph idx="1"/>
            <p:extLst>
              <p:ext uri="{D42A27DB-BD31-4B8C-83A1-F6EECF244321}">
                <p14:modId xmlns:p14="http://schemas.microsoft.com/office/powerpoint/2010/main" val="4159029323"/>
              </p:ext>
            </p:extLst>
          </p:nvPr>
        </p:nvGraphicFramePr>
        <p:xfrm>
          <a:off x="609599" y="1600200"/>
          <a:ext cx="10972800" cy="2926080"/>
        </p:xfrm>
        <a:graphic>
          <a:graphicData uri="http://schemas.openxmlformats.org/drawingml/2006/table">
            <a:tbl>
              <a:tblPr firstRow="1" bandRow="1">
                <a:effectLst>
                  <a:innerShdw blurRad="63500" dist="50800" dir="2700000">
                    <a:prstClr val="black">
                      <a:alpha val="50000"/>
                    </a:prstClr>
                  </a:innerShdw>
                </a:effectLst>
                <a:tableStyleId>{5C22544A-7EE6-4342-B048-85BDC9FD1C3A}</a:tableStyleId>
              </a:tblPr>
              <a:tblGrid>
                <a:gridCol w="2070000">
                  <a:extLst>
                    <a:ext uri="{9D8B030D-6E8A-4147-A177-3AD203B41FA5}">
                      <a16:colId xmlns:a16="http://schemas.microsoft.com/office/drawing/2014/main" val="20000"/>
                    </a:ext>
                  </a:extLst>
                </a:gridCol>
                <a:gridCol w="3690000">
                  <a:extLst>
                    <a:ext uri="{9D8B030D-6E8A-4147-A177-3AD203B41FA5}">
                      <a16:colId xmlns:a16="http://schemas.microsoft.com/office/drawing/2014/main" val="20001"/>
                    </a:ext>
                  </a:extLst>
                </a:gridCol>
                <a:gridCol w="5212800">
                  <a:extLst>
                    <a:ext uri="{9D8B030D-6E8A-4147-A177-3AD203B41FA5}">
                      <a16:colId xmlns:a16="http://schemas.microsoft.com/office/drawing/2014/main" val="20002"/>
                    </a:ext>
                  </a:extLst>
                </a:gridCol>
              </a:tblGrid>
              <a:tr h="365760">
                <a:tc>
                  <a:txBody>
                    <a:bodyPr/>
                    <a:lstStyle/>
                    <a:p>
                      <a:pPr marL="142240"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STEP </a:t>
                      </a:r>
                      <a:r>
                        <a:rPr lang="en-US"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NO</a:t>
                      </a:r>
                      <a:r>
                        <a:rPr lang="en-GB"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  </a:t>
                      </a:r>
                      <a:r>
                        <a:rPr lang="en-US"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        </a:t>
                      </a:r>
                      <a:endParaRPr sz="1100" b="1">
                        <a:effectLst>
                          <a:outerShdw blurRad="38100" dist="38100" dir="2700000" algn="tl">
                            <a:srgbClr val="000000">
                              <a:alpha val="43137"/>
                            </a:srgbClr>
                          </a:outerShdw>
                        </a:effectLst>
                        <a:latin typeface="Calibri"/>
                        <a:cs typeface="Calibri"/>
                      </a:endParaRPr>
                    </a:p>
                  </a:txBody>
                  <a:tcPr/>
                </a:tc>
                <a:tc>
                  <a:txBody>
                    <a:bodyPr/>
                    <a:lstStyle/>
                    <a:p>
                      <a:pPr marL="85725"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ROLE       </a:t>
                      </a:r>
                      <a:r>
                        <a:rPr lang="en-US" sz="1100" b="1" i="0" u="none" strike="noStrike" cap="none" spc="0">
                          <a:solidFill>
                            <a:schemeClr val="bg1"/>
                          </a:solidFill>
                          <a:effectLst>
                            <a:outerShdw blurRad="38100" dist="38100" dir="2700000" algn="tl">
                              <a:srgbClr val="000000">
                                <a:alpha val="43137"/>
                              </a:srgbClr>
                            </a:outerShdw>
                          </a:effectLst>
                          <a:latin typeface="Calibri"/>
                          <a:ea typeface="Calibri"/>
                          <a:cs typeface="Calibri"/>
                        </a:rPr>
                        <a:t>    </a:t>
                      </a:r>
                      <a:endParaRPr sz="1100" b="1">
                        <a:effectLst>
                          <a:outerShdw blurRad="38100" dist="38100" dir="2700000" algn="tl">
                            <a:srgbClr val="000000">
                              <a:alpha val="43137"/>
                            </a:srgbClr>
                          </a:outerShdw>
                        </a:effectLst>
                        <a:latin typeface="Arial"/>
                        <a:cs typeface="Arial"/>
                      </a:endParaRPr>
                    </a:p>
                  </a:txBody>
                  <a:tcPr/>
                </a:tc>
                <a:tc>
                  <a:txBody>
                    <a:bodyPr/>
                    <a:lstStyle/>
                    <a:p>
                      <a:pPr marL="1031875" algn="l">
                        <a:lnSpc>
                          <a:spcPts val="1215"/>
                        </a:lnSpc>
                        <a:defRPr/>
                      </a:pPr>
                      <a:r>
                        <a:rPr sz="1100" b="1">
                          <a:effectLst>
                            <a:outerShdw blurRad="38100" dist="38100" dir="2700000" algn="tl">
                              <a:srgbClr val="000000">
                                <a:alpha val="43137"/>
                              </a:srgbClr>
                            </a:outerShdw>
                          </a:effectLst>
                          <a:latin typeface="Arial"/>
                          <a:cs typeface="Arial"/>
                        </a:rPr>
                        <a:t>PROCESS</a:t>
                      </a:r>
                      <a:r>
                        <a:rPr sz="1100" b="1" spc="-7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DESCRIPTION</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0"/>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33</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Boda</a:t>
                      </a:r>
                      <a:r>
                        <a:rPr sz="1100" b="1" spc="-4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Rider</a:t>
                      </a:r>
                      <a:endParaRPr sz="1100" b="1">
                        <a:effectLst>
                          <a:outerShdw blurRad="38100" dist="38100" dir="2700000" algn="tl">
                            <a:srgbClr val="000000">
                              <a:alpha val="43137"/>
                            </a:srgbClr>
                          </a:outerShdw>
                        </a:effectLst>
                        <a:latin typeface="Arial"/>
                        <a:cs typeface="Arial"/>
                      </a:endParaRPr>
                    </a:p>
                  </a:txBody>
                  <a:tcPr/>
                </a:tc>
                <a:tc>
                  <a:txBody>
                    <a:bodyPr/>
                    <a:lstStyle/>
                    <a:p>
                      <a:pPr marL="74930">
                        <a:lnSpc>
                          <a:spcPct val="100000"/>
                        </a:lnSpc>
                        <a:spcBef>
                          <a:spcPts val="530"/>
                        </a:spcBef>
                        <a:defRPr/>
                      </a:pPr>
                      <a:r>
                        <a:rPr sz="1100" b="1">
                          <a:effectLst>
                            <a:outerShdw blurRad="38100" dist="38100" dir="2700000" algn="tl">
                              <a:srgbClr val="000000">
                                <a:alpha val="43137"/>
                              </a:srgbClr>
                            </a:outerShdw>
                          </a:effectLst>
                          <a:latin typeface="Arial"/>
                          <a:cs typeface="Arial"/>
                        </a:rPr>
                        <a:t>Initiate</a:t>
                      </a:r>
                      <a:r>
                        <a:rPr sz="1100" b="1" spc="-5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repayment</a:t>
                      </a:r>
                      <a:r>
                        <a:rPr sz="1100" b="1" spc="-5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via</a:t>
                      </a:r>
                      <a:r>
                        <a:rPr sz="1100" b="1" spc="-54">
                          <a:effectLst>
                            <a:outerShdw blurRad="38100" dist="38100" dir="2700000" algn="tl">
                              <a:srgbClr val="000000">
                                <a:alpha val="43137"/>
                              </a:srgbClr>
                            </a:outerShdw>
                          </a:effectLst>
                          <a:latin typeface="Arial"/>
                          <a:cs typeface="Arial"/>
                        </a:rPr>
                        <a:t> </a:t>
                      </a:r>
                      <a:r>
                        <a:rPr sz="1100" b="1" spc="-19">
                          <a:effectLst>
                            <a:outerShdw blurRad="38100" dist="38100" dir="2700000" algn="tl">
                              <a:srgbClr val="000000">
                                <a:alpha val="43137"/>
                              </a:srgbClr>
                            </a:outerShdw>
                          </a:effectLst>
                          <a:latin typeface="Arial"/>
                          <a:cs typeface="Arial"/>
                        </a:rPr>
                        <a:t>USSD</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1"/>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34</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74930">
                        <a:lnSpc>
                          <a:spcPct val="100000"/>
                        </a:lnSpc>
                        <a:spcBef>
                          <a:spcPts val="530"/>
                        </a:spcBef>
                        <a:defRPr/>
                      </a:pPr>
                      <a:r>
                        <a:rPr sz="1100" b="1">
                          <a:effectLst>
                            <a:outerShdw blurRad="38100" dist="38100" dir="2700000" algn="tl">
                              <a:srgbClr val="000000">
                                <a:alpha val="43137"/>
                              </a:srgbClr>
                            </a:outerShdw>
                          </a:effectLst>
                          <a:latin typeface="Arial"/>
                          <a:cs typeface="Arial"/>
                        </a:rPr>
                        <a:t>Display</a:t>
                      </a:r>
                      <a:r>
                        <a:rPr sz="1100" b="1" spc="-6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repayment</a:t>
                      </a:r>
                      <a:r>
                        <a:rPr sz="1100" b="1" spc="-6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options</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2"/>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35</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Boda</a:t>
                      </a:r>
                      <a:r>
                        <a:rPr sz="1100" b="1" spc="-4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Rider</a:t>
                      </a:r>
                      <a:endParaRPr sz="1100" b="1">
                        <a:effectLst>
                          <a:outerShdw blurRad="38100" dist="38100" dir="2700000" algn="tl">
                            <a:srgbClr val="000000">
                              <a:alpha val="43137"/>
                            </a:srgbClr>
                          </a:outerShdw>
                        </a:effectLst>
                        <a:latin typeface="Arial"/>
                        <a:cs typeface="Arial"/>
                      </a:endParaRPr>
                    </a:p>
                  </a:txBody>
                  <a:tcPr/>
                </a:tc>
                <a:tc>
                  <a:txBody>
                    <a:bodyPr/>
                    <a:lstStyle/>
                    <a:p>
                      <a:pPr marL="74930">
                        <a:lnSpc>
                          <a:spcPct val="100000"/>
                        </a:lnSpc>
                        <a:spcBef>
                          <a:spcPts val="530"/>
                        </a:spcBef>
                        <a:defRPr/>
                      </a:pPr>
                      <a:r>
                        <a:rPr sz="1100" b="1">
                          <a:effectLst>
                            <a:outerShdw blurRad="38100" dist="38100" dir="2700000" algn="tl">
                              <a:srgbClr val="000000">
                                <a:alpha val="43137"/>
                              </a:srgbClr>
                            </a:outerShdw>
                          </a:effectLst>
                          <a:latin typeface="Arial"/>
                          <a:cs typeface="Arial"/>
                        </a:rPr>
                        <a:t>Select</a:t>
                      </a:r>
                      <a:r>
                        <a:rPr sz="1100" b="1" spc="-5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payment</a:t>
                      </a:r>
                      <a:r>
                        <a:rPr sz="1100" b="1" spc="-5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channel</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3"/>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36</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MNO</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t>
                      </a:r>
                      <a:r>
                        <a:rPr sz="1100" b="1" spc="-28">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Payment</a:t>
                      </a:r>
                      <a:r>
                        <a:rPr sz="1100" b="1" spc="-23">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Gateway</a:t>
                      </a:r>
                      <a:endParaRPr sz="1100" b="1">
                        <a:effectLst>
                          <a:outerShdw blurRad="38100" dist="38100" dir="2700000" algn="tl">
                            <a:srgbClr val="000000">
                              <a:alpha val="43137"/>
                            </a:srgbClr>
                          </a:outerShdw>
                        </a:effectLst>
                        <a:latin typeface="Arial"/>
                        <a:cs typeface="Arial"/>
                      </a:endParaRPr>
                    </a:p>
                  </a:txBody>
                  <a:tcPr/>
                </a:tc>
                <a:tc>
                  <a:txBody>
                    <a:bodyPr/>
                    <a:lstStyle/>
                    <a:p>
                      <a:pPr marL="74930">
                        <a:lnSpc>
                          <a:spcPct val="100000"/>
                        </a:lnSpc>
                        <a:spcBef>
                          <a:spcPts val="530"/>
                        </a:spcBef>
                        <a:defRPr/>
                      </a:pPr>
                      <a:r>
                        <a:rPr sz="1100" b="1">
                          <a:effectLst>
                            <a:outerShdw blurRad="38100" dist="38100" dir="2700000" algn="tl">
                              <a:srgbClr val="000000">
                                <a:alpha val="43137"/>
                              </a:srgbClr>
                            </a:outerShdw>
                          </a:effectLst>
                          <a:latin typeface="Arial"/>
                          <a:cs typeface="Arial"/>
                        </a:rPr>
                        <a:t>Process</a:t>
                      </a:r>
                      <a:r>
                        <a:rPr sz="1100" b="1" spc="-54">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payment</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4"/>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37</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74930">
                        <a:lnSpc>
                          <a:spcPct val="100000"/>
                        </a:lnSpc>
                        <a:spcBef>
                          <a:spcPts val="530"/>
                        </a:spcBef>
                        <a:defRPr/>
                      </a:pPr>
                      <a:r>
                        <a:rPr sz="1100" b="1">
                          <a:effectLst>
                            <a:outerShdw blurRad="38100" dist="38100" dir="2700000" algn="tl">
                              <a:srgbClr val="000000">
                                <a:alpha val="43137"/>
                              </a:srgbClr>
                            </a:outerShdw>
                          </a:effectLst>
                          <a:latin typeface="Arial"/>
                          <a:cs typeface="Arial"/>
                        </a:rPr>
                        <a:t>Mark</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payment</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as</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failed</a:t>
                      </a:r>
                      <a:r>
                        <a:rPr sz="1100" b="1" spc="-34">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if</a:t>
                      </a:r>
                      <a:r>
                        <a:rPr sz="1100" b="1" spc="-2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unsuccessful</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5"/>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Arial"/>
                          <a:cs typeface="Arial"/>
                        </a:rPr>
                        <a:t>38</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74930" marR="457835">
                        <a:lnSpc>
                          <a:spcPct val="110000"/>
                        </a:lnSpc>
                        <a:spcBef>
                          <a:spcPts val="400"/>
                        </a:spcBef>
                        <a:defRPr/>
                      </a:pPr>
                      <a:r>
                        <a:rPr sz="1100" b="1">
                          <a:effectLst>
                            <a:outerShdw blurRad="38100" dist="38100" dir="2700000" algn="tl">
                              <a:srgbClr val="000000">
                                <a:alpha val="43137"/>
                              </a:srgbClr>
                            </a:outerShdw>
                          </a:effectLst>
                          <a:latin typeface="Arial"/>
                          <a:cs typeface="Arial"/>
                        </a:rPr>
                        <a:t>Update</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loan</a:t>
                      </a:r>
                      <a:r>
                        <a:rPr sz="1100" b="1" spc="-49">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balance</a:t>
                      </a:r>
                      <a:r>
                        <a:rPr sz="1100" b="1" spc="-45">
                          <a:effectLst>
                            <a:outerShdw blurRad="38100" dist="38100" dir="2700000" algn="tl">
                              <a:srgbClr val="000000">
                                <a:alpha val="43137"/>
                              </a:srgbClr>
                            </a:outerShdw>
                          </a:effectLst>
                          <a:latin typeface="Arial"/>
                          <a:cs typeface="Arial"/>
                        </a:rPr>
                        <a:t> </a:t>
                      </a:r>
                      <a:r>
                        <a:rPr sz="1100" b="1">
                          <a:effectLst>
                            <a:outerShdw blurRad="38100" dist="38100" dir="2700000" algn="tl">
                              <a:srgbClr val="000000">
                                <a:alpha val="43137"/>
                              </a:srgbClr>
                            </a:outerShdw>
                          </a:effectLst>
                          <a:latin typeface="Arial"/>
                          <a:cs typeface="Arial"/>
                        </a:rPr>
                        <a:t>if</a:t>
                      </a:r>
                      <a:r>
                        <a:rPr sz="1100" b="1" spc="-49">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payment successful</a:t>
                      </a:r>
                      <a:endParaRPr sz="1100" b="1">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6"/>
                  </a:ext>
                </a:extLst>
              </a:tr>
              <a:tr h="365760">
                <a:tc>
                  <a:txBody>
                    <a:bodyPr/>
                    <a:lstStyle/>
                    <a:p>
                      <a:pPr marL="31750">
                        <a:lnSpc>
                          <a:spcPts val="1235"/>
                        </a:lnSpc>
                        <a:spcBef>
                          <a:spcPts val="530"/>
                        </a:spcBef>
                        <a:defRPr/>
                      </a:pPr>
                      <a:r>
                        <a:rPr sz="1100" b="1" spc="-23">
                          <a:effectLst>
                            <a:outerShdw blurRad="38100" dist="38100" dir="2700000" algn="tl">
                              <a:srgbClr val="000000">
                                <a:alpha val="43137"/>
                              </a:srgbClr>
                            </a:outerShdw>
                          </a:effectLst>
                          <a:latin typeface="Arial"/>
                          <a:cs typeface="Arial"/>
                        </a:rPr>
                        <a:t>39</a:t>
                      </a:r>
                      <a:endParaRPr sz="1100" b="1">
                        <a:effectLst>
                          <a:outerShdw blurRad="38100" dist="38100" dir="2700000" algn="tl">
                            <a:srgbClr val="000000">
                              <a:alpha val="43137"/>
                            </a:srgbClr>
                          </a:outerShdw>
                        </a:effectLst>
                        <a:latin typeface="Arial"/>
                        <a:cs typeface="Arial"/>
                      </a:endParaRPr>
                    </a:p>
                  </a:txBody>
                  <a:tcPr/>
                </a:tc>
                <a:tc>
                  <a:txBody>
                    <a:bodyPr/>
                    <a:lstStyle/>
                    <a:p>
                      <a:pPr marL="121920">
                        <a:lnSpc>
                          <a:spcPts val="1235"/>
                        </a:lnSpc>
                        <a:spcBef>
                          <a:spcPts val="530"/>
                        </a:spcBef>
                        <a:defRPr/>
                      </a:pPr>
                      <a:r>
                        <a:rPr sz="1100" b="1">
                          <a:effectLst>
                            <a:outerShdw blurRad="38100" dist="38100" dir="2700000" algn="tl">
                              <a:srgbClr val="000000">
                                <a:alpha val="43137"/>
                              </a:srgbClr>
                            </a:outerShdw>
                          </a:effectLst>
                          <a:latin typeface="Arial"/>
                          <a:cs typeface="Arial"/>
                        </a:rPr>
                        <a:t>Kuza</a:t>
                      </a:r>
                      <a:r>
                        <a:rPr sz="1100" b="1" spc="-38">
                          <a:effectLst>
                            <a:outerShdw blurRad="38100" dist="38100" dir="2700000" algn="tl">
                              <a:srgbClr val="000000">
                                <a:alpha val="43137"/>
                              </a:srgbClr>
                            </a:outerShdw>
                          </a:effectLst>
                          <a:latin typeface="Arial"/>
                          <a:cs typeface="Arial"/>
                        </a:rPr>
                        <a:t> </a:t>
                      </a:r>
                      <a:r>
                        <a:rPr sz="1100" b="1" spc="-9">
                          <a:effectLst>
                            <a:outerShdw blurRad="38100" dist="38100" dir="2700000" algn="tl">
                              <a:srgbClr val="000000">
                                <a:alpha val="43137"/>
                              </a:srgbClr>
                            </a:outerShdw>
                          </a:effectLst>
                          <a:latin typeface="Arial"/>
                          <a:cs typeface="Arial"/>
                        </a:rPr>
                        <a:t>System</a:t>
                      </a:r>
                      <a:endParaRPr sz="1100" b="1">
                        <a:effectLst>
                          <a:outerShdw blurRad="38100" dist="38100" dir="2700000" algn="tl">
                            <a:srgbClr val="000000">
                              <a:alpha val="43137"/>
                            </a:srgbClr>
                          </a:outerShdw>
                        </a:effectLst>
                        <a:latin typeface="Arial"/>
                        <a:cs typeface="Arial"/>
                      </a:endParaRPr>
                    </a:p>
                  </a:txBody>
                  <a:tcPr/>
                </a:tc>
                <a:tc>
                  <a:txBody>
                    <a:bodyPr/>
                    <a:lstStyle/>
                    <a:p>
                      <a:pPr marL="74930">
                        <a:lnSpc>
                          <a:spcPts val="1235"/>
                        </a:lnSpc>
                        <a:spcBef>
                          <a:spcPts val="530"/>
                        </a:spcBef>
                        <a:defRPr/>
                      </a:pPr>
                      <a:r>
                        <a:rPr sz="1100" b="1" dirty="0">
                          <a:effectLst>
                            <a:outerShdw blurRad="38100" dist="38100" dir="2700000" algn="tl">
                              <a:srgbClr val="000000">
                                <a:alpha val="43137"/>
                              </a:srgbClr>
                            </a:outerShdw>
                          </a:effectLst>
                          <a:latin typeface="Arial"/>
                          <a:cs typeface="Arial"/>
                        </a:rPr>
                        <a:t>Clear</a:t>
                      </a:r>
                      <a:r>
                        <a:rPr sz="1100" b="1" spc="-3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loan</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on</a:t>
                      </a:r>
                      <a:r>
                        <a:rPr sz="1100" b="1" spc="-3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Day</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30</a:t>
                      </a:r>
                      <a:r>
                        <a:rPr sz="1100" b="1" spc="-34"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if</a:t>
                      </a:r>
                      <a:r>
                        <a:rPr sz="1100" b="1" spc="-28" dirty="0">
                          <a:effectLst>
                            <a:outerShdw blurRad="38100" dist="38100" dir="2700000" algn="tl">
                              <a:srgbClr val="000000">
                                <a:alpha val="43137"/>
                              </a:srgbClr>
                            </a:outerShdw>
                          </a:effectLst>
                          <a:latin typeface="Arial"/>
                          <a:cs typeface="Arial"/>
                        </a:rPr>
                        <a:t> </a:t>
                      </a:r>
                      <a:r>
                        <a:rPr sz="1100" b="1" dirty="0">
                          <a:effectLst>
                            <a:outerShdw blurRad="38100" dist="38100" dir="2700000" algn="tl">
                              <a:srgbClr val="000000">
                                <a:alpha val="43137"/>
                              </a:srgbClr>
                            </a:outerShdw>
                          </a:effectLst>
                          <a:latin typeface="Arial"/>
                          <a:cs typeface="Arial"/>
                        </a:rPr>
                        <a:t>fully</a:t>
                      </a:r>
                      <a:r>
                        <a:rPr sz="1100" b="1" spc="-34" dirty="0">
                          <a:effectLst>
                            <a:outerShdw blurRad="38100" dist="38100" dir="2700000" algn="tl">
                              <a:srgbClr val="000000">
                                <a:alpha val="43137"/>
                              </a:srgbClr>
                            </a:outerShdw>
                          </a:effectLst>
                          <a:latin typeface="Arial"/>
                          <a:cs typeface="Arial"/>
                        </a:rPr>
                        <a:t> </a:t>
                      </a:r>
                      <a:r>
                        <a:rPr sz="1100" b="1" spc="-19" dirty="0">
                          <a:effectLst>
                            <a:outerShdw blurRad="38100" dist="38100" dir="2700000" algn="tl">
                              <a:srgbClr val="000000">
                                <a:alpha val="43137"/>
                              </a:srgbClr>
                            </a:outerShdw>
                          </a:effectLst>
                          <a:latin typeface="Arial"/>
                          <a:cs typeface="Arial"/>
                        </a:rPr>
                        <a:t>paid</a:t>
                      </a:r>
                      <a:endParaRPr sz="1100" b="1" dirty="0">
                        <a:effectLst>
                          <a:outerShdw blurRad="38100" dist="38100" dir="2700000" algn="tl">
                            <a:srgbClr val="000000">
                              <a:alpha val="43137"/>
                            </a:srgbClr>
                          </a:outerShdw>
                        </a:effectLst>
                        <a:latin typeface="Arial"/>
                        <a:cs typeface="Arial"/>
                      </a:endParaRPr>
                    </a:p>
                  </a:txBody>
                  <a:tcPr/>
                </a:tc>
                <a:extLst>
                  <a:ext uri="{0D108BD9-81ED-4DB2-BD59-A6C34878D82A}">
                    <a16:rowId xmlns:a16="http://schemas.microsoft.com/office/drawing/2014/main" val="10007"/>
                  </a:ext>
                </a:extLst>
              </a:tr>
            </a:tbl>
          </a:graphicData>
        </a:graphic>
      </p:graphicFrame>
      <p:pic>
        <p:nvPicPr>
          <p:cNvPr id="2065239428"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16925244" name="Google Shape;67;p14"/>
          <p:cNvSpPr/>
          <p:nvPr/>
        </p:nvSpPr>
        <p:spPr bwMode="auto">
          <a:xfrm>
            <a:off x="6462377" y="320565"/>
            <a:ext cx="1157688" cy="386568"/>
          </a:xfrm>
          <a:prstGeom prst="flowChartTerminator">
            <a:avLst/>
          </a:prstGeom>
          <a:solidFill>
            <a:srgbClr val="283676"/>
          </a:solidFill>
          <a:ln w="9525" cap="flat" cmpd="sng">
            <a:solidFill>
              <a:srgbClr val="FFFFFF"/>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Arial"/>
              <a:cs typeface="Arial"/>
            </a:endParaRPr>
          </a:p>
          <a:p>
            <a:pPr marL="12700">
              <a:lnSpc>
                <a:spcPct val="100000"/>
              </a:lnSpc>
              <a:spcBef>
                <a:spcPts val="100"/>
              </a:spcBef>
              <a:defRPr/>
            </a:pPr>
            <a:r>
              <a:rPr lang="en-US" sz="600" b="1" i="0" u="none" strike="noStrike" cap="none" spc="-9">
                <a:solidFill>
                  <a:schemeClr val="bg1"/>
                </a:solidFill>
                <a:latin typeface="Times New Roman"/>
                <a:cs typeface="Times New Roman"/>
              </a:rPr>
              <a:t>Collection &amp; Escalation</a:t>
            </a:r>
          </a:p>
          <a:p>
            <a:pPr marL="0" lvl="0" indent="0" algn="ctr" rtl="0">
              <a:spcBef>
                <a:spcPts val="0"/>
              </a:spcBef>
              <a:spcAft>
                <a:spcPts val="0"/>
              </a:spcAft>
              <a:buClr>
                <a:srgbClr val="000000"/>
              </a:buClr>
              <a:buSzPts val="1100"/>
              <a:buFont typeface="Arial"/>
              <a:buNone/>
              <a:defRPr/>
            </a:pPr>
            <a:endParaRPr sz="1000" b="1">
              <a:solidFill>
                <a:schemeClr val="bg1"/>
              </a:solidFill>
            </a:endParaRPr>
          </a:p>
        </p:txBody>
      </p:sp>
      <p:sp>
        <p:nvSpPr>
          <p:cNvPr id="1493826837" name="Google Shape;68;p14"/>
          <p:cNvSpPr/>
          <p:nvPr/>
        </p:nvSpPr>
        <p:spPr bwMode="auto">
          <a:xfrm>
            <a:off x="308532"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19">
                <a:solidFill>
                  <a:schemeClr val="tx1"/>
                </a:solidFill>
                <a:latin typeface="Arial"/>
                <a:ea typeface="Arial"/>
                <a:cs typeface="Arial"/>
              </a:rPr>
              <a:t>                </a:t>
            </a:r>
            <a:r>
              <a:rPr lang="en-US" sz="600" b="1" i="0" u="none" strike="noStrike" cap="none" spc="0">
                <a:solidFill>
                  <a:schemeClr val="bg1"/>
                </a:solidFill>
                <a:latin typeface="Calibri"/>
                <a:ea typeface="Calibri"/>
                <a:cs typeface="Calibri"/>
              </a:rPr>
              <a:t>On-boarding</a:t>
            </a:r>
            <a:r>
              <a:rPr lang="en-US" sz="600" b="1" i="0" u="none" strike="noStrike" cap="none" spc="-19">
                <a:solidFill>
                  <a:schemeClr val="bg1"/>
                </a:solidFill>
                <a:latin typeface="Calibri"/>
                <a:ea typeface="Calibri"/>
                <a:cs typeface="Calibri"/>
              </a:rPr>
              <a:t> </a:t>
            </a:r>
            <a:endParaRPr sz="600">
              <a:latin typeface="Arial"/>
              <a:cs typeface="Arial"/>
            </a:endParaRPr>
          </a:p>
          <a:p>
            <a:pPr marL="0" lvl="0" indent="0" algn="ctr" rtl="0">
              <a:spcBef>
                <a:spcPts val="0"/>
              </a:spcBef>
              <a:spcAft>
                <a:spcPts val="0"/>
              </a:spcAft>
              <a:buNone/>
              <a:defRPr/>
            </a:pPr>
            <a:endParaRPr sz="600" b="1">
              <a:solidFill>
                <a:srgbClr val="283676"/>
              </a:solidFill>
              <a:latin typeface="Montserrat"/>
              <a:ea typeface="Montserrat"/>
              <a:cs typeface="Montserrat"/>
            </a:endParaRPr>
          </a:p>
        </p:txBody>
      </p:sp>
      <p:sp>
        <p:nvSpPr>
          <p:cNvPr id="585835094" name="Google Shape;69;p14"/>
          <p:cNvSpPr/>
          <p:nvPr/>
        </p:nvSpPr>
        <p:spPr bwMode="auto">
          <a:xfrm>
            <a:off x="1756107" y="320565"/>
            <a:ext cx="1597032"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a:defRPr/>
            </a:pPr>
            <a:r>
              <a:rPr lang="en-US" sz="600" b="1" i="0" u="none" strike="noStrike" cap="none" spc="-49">
                <a:solidFill>
                  <a:schemeClr val="bg1"/>
                </a:solidFill>
                <a:latin typeface="Calibri"/>
                <a:ea typeface="Calibri"/>
                <a:cs typeface="Calibri"/>
              </a:rPr>
              <a:t>Registration  </a:t>
            </a:r>
            <a:r>
              <a:rPr lang="en-US" sz="600" b="1" i="0" u="none" strike="noStrike" cap="none" spc="0">
                <a:solidFill>
                  <a:schemeClr val="bg1"/>
                </a:solidFill>
                <a:latin typeface="Calibri"/>
                <a:ea typeface="Calibri"/>
                <a:cs typeface="Calibri"/>
              </a:rPr>
              <a:t>&amp;</a:t>
            </a:r>
            <a:r>
              <a:rPr lang="en-US" sz="600" b="1" i="0" u="none" strike="noStrike" cap="none" spc="-49">
                <a:solidFill>
                  <a:schemeClr val="bg1"/>
                </a:solidFill>
                <a:latin typeface="Calibri"/>
                <a:ea typeface="Calibri"/>
                <a:cs typeface="Calibri"/>
              </a:rPr>
              <a:t> </a:t>
            </a:r>
            <a:r>
              <a:rPr lang="en-US" sz="600" b="1" i="0" u="none" strike="noStrike" cap="none" spc="-9">
                <a:solidFill>
                  <a:schemeClr val="bg1"/>
                </a:solidFill>
                <a:latin typeface="Calibri"/>
                <a:ea typeface="Calibri"/>
                <a:cs typeface="Calibri"/>
              </a:rPr>
              <a:t>Activation</a:t>
            </a:r>
            <a:endParaRPr>
              <a:solidFill>
                <a:schemeClr val="bg1"/>
              </a:solidFill>
              <a:latin typeface="Calibri"/>
              <a:cs typeface="Calibri"/>
            </a:endParaRPr>
          </a:p>
        </p:txBody>
      </p:sp>
      <p:sp>
        <p:nvSpPr>
          <p:cNvPr id="1344719639" name="Google Shape;70;p14"/>
          <p:cNvSpPr/>
          <p:nvPr/>
        </p:nvSpPr>
        <p:spPr bwMode="auto">
          <a:xfrm>
            <a:off x="3451028"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r>
              <a:rPr lang="en-US" sz="600" b="1" i="0" u="none" strike="noStrike" cap="none" spc="-19">
                <a:solidFill>
                  <a:schemeClr val="bg1"/>
                </a:solidFill>
                <a:latin typeface="Calibri"/>
                <a:ea typeface="Calibri"/>
                <a:cs typeface="Calibri"/>
              </a:rPr>
              <a:t>Loan request &amp; Disbursement</a:t>
            </a:r>
            <a:endParaRPr sz="600">
              <a:latin typeface="Calibri"/>
              <a:cs typeface="Calibri"/>
            </a:endParaRPr>
          </a:p>
        </p:txBody>
      </p:sp>
      <p:sp>
        <p:nvSpPr>
          <p:cNvPr id="1401044672" name="Google Shape;71;p14"/>
          <p:cNvSpPr/>
          <p:nvPr/>
        </p:nvSpPr>
        <p:spPr bwMode="auto">
          <a:xfrm>
            <a:off x="4986158" y="320565"/>
            <a:ext cx="1389600" cy="386568"/>
          </a:xfrm>
          <a:prstGeom prst="flowChartTerminator">
            <a:avLst/>
          </a:prstGeom>
          <a:noFill/>
          <a:ln w="9525" cap="flat" cmpd="sng">
            <a:solidFill>
              <a:srgbClr val="FADF49"/>
            </a:solidFill>
            <a:prstDash val="solid"/>
            <a:round/>
            <a:headEnd type="none" w="sm" len="sm"/>
            <a:tailEnd type="none" w="sm" len="sm"/>
          </a:ln>
        </p:spPr>
        <p:txBody>
          <a:bodyPr spcFirstLastPara="1" wrap="square" lIns="91423" tIns="91423" rIns="91423" bIns="91423" anchor="ctr" anchorCtr="0">
            <a:noAutofit/>
          </a:bodyPr>
          <a:lstStyle/>
          <a:p>
            <a:pPr marL="12700">
              <a:lnSpc>
                <a:spcPct val="100000"/>
              </a:lnSpc>
              <a:spcBef>
                <a:spcPts val="100"/>
              </a:spcBef>
              <a:defRPr/>
            </a:pPr>
            <a:endParaRPr sz="600">
              <a:latin typeface="Calibri"/>
              <a:cs typeface="Calibri"/>
            </a:endParaRPr>
          </a:p>
          <a:p>
            <a:pPr marL="12700">
              <a:lnSpc>
                <a:spcPct val="100000"/>
              </a:lnSpc>
              <a:spcBef>
                <a:spcPts val="100"/>
              </a:spcBef>
              <a:defRPr/>
            </a:pPr>
            <a:r>
              <a:rPr lang="en-US" sz="600" b="1" i="0" u="none" strike="noStrike" cap="none" spc="-34">
                <a:solidFill>
                  <a:schemeClr val="bg1"/>
                </a:solidFill>
                <a:latin typeface="Calibri"/>
                <a:ea typeface="Calibri"/>
                <a:cs typeface="Calibri"/>
              </a:rPr>
              <a:t>Repayment  </a:t>
            </a:r>
            <a:r>
              <a:rPr lang="en-US" sz="600" b="1" i="0" u="none" strike="noStrike" cap="none" spc="-9">
                <a:solidFill>
                  <a:schemeClr val="bg1"/>
                </a:solidFill>
                <a:latin typeface="Calibri"/>
                <a:ea typeface="Calibri"/>
                <a:cs typeface="Calibri"/>
              </a:rPr>
              <a:t>process</a:t>
            </a:r>
            <a:endParaRPr sz="600" b="1" i="0" u="none" strike="noStrike" cap="none" spc="-9">
              <a:solidFill>
                <a:schemeClr val="bg1"/>
              </a:solidFill>
              <a:latin typeface="Calibri"/>
              <a:cs typeface="Calibri"/>
            </a:endParaRPr>
          </a:p>
          <a:p>
            <a:pPr marL="0" lvl="0" indent="0" algn="ctr" rtl="0">
              <a:spcBef>
                <a:spcPts val="0"/>
              </a:spcBef>
              <a:spcAft>
                <a:spcPts val="0"/>
              </a:spcAft>
              <a:buClr>
                <a:srgbClr val="000000"/>
              </a:buClr>
              <a:buSzPts val="1100"/>
              <a:buFont typeface="Arial"/>
              <a:buNone/>
              <a:defRPr/>
            </a:pPr>
            <a:endParaRPr sz="600" b="1">
              <a:solidFill>
                <a:srgbClr val="283676"/>
              </a:solidFill>
              <a:latin typeface="Calibri"/>
              <a:cs typeface="Calibri"/>
            </a:endParaRPr>
          </a:p>
        </p:txBody>
      </p:sp>
      <p:sp>
        <p:nvSpPr>
          <p:cNvPr id="189466120" name="Google Shape;75;p14"/>
          <p:cNvSpPr txBox="1"/>
          <p:nvPr/>
        </p:nvSpPr>
        <p:spPr bwMode="auto">
          <a:xfrm>
            <a:off x="308532" y="3636915"/>
            <a:ext cx="11154799" cy="4555199"/>
          </a:xfrm>
          <a:prstGeom prst="rect">
            <a:avLst/>
          </a:prstGeom>
          <a:noFill/>
          <a:ln>
            <a:noFill/>
          </a:ln>
        </p:spPr>
        <p:txBody>
          <a:bodyPr spcFirstLastPara="1" wrap="square" lIns="91423" tIns="91423" rIns="91423" bIns="91423" anchor="t" anchorCtr="0">
            <a:normAutofit/>
          </a:bodyPr>
          <a:lstStyle/>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a:p>
            <a:pPr marL="12700" marR="0" indent="0" algn="l">
              <a:lnSpc>
                <a:spcPct val="100000"/>
              </a:lnSpc>
              <a:spcBef>
                <a:spcPts val="100"/>
              </a:spcBef>
              <a:spcAft>
                <a:spcPts val="0"/>
              </a:spcAft>
              <a:defRPr/>
            </a:pPr>
            <a:endParaRPr lang="en-GB" sz="2000" b="1" i="0" u="none" strike="noStrike" cap="none" spc="0">
              <a:solidFill>
                <a:schemeClr val="bg1"/>
              </a:solidFill>
              <a:latin typeface="Calibri"/>
              <a:cs typeface="Calibri"/>
            </a:endParaRPr>
          </a:p>
        </p:txBody>
      </p:sp>
      <p:sp>
        <p:nvSpPr>
          <p:cNvPr id="240424109" name="Title 1"/>
          <p:cNvSpPr>
            <a:spLocks noGrp="1"/>
          </p:cNvSpPr>
          <p:nvPr>
            <p:ph type="title"/>
          </p:nvPr>
        </p:nvSpPr>
        <p:spPr bwMode="auto">
          <a:xfrm>
            <a:off x="609599" y="560387"/>
            <a:ext cx="10972800" cy="1143000"/>
          </a:xfrm>
        </p:spPr>
        <p:txBody>
          <a:bodyPr>
            <a:normAutofit/>
          </a:bodyPr>
          <a:lstStyle/>
          <a:p>
            <a:pPr marL="0" marR="0" indent="0" algn="ctr">
              <a:lnSpc>
                <a:spcPct val="100000"/>
              </a:lnSpc>
              <a:spcBef>
                <a:spcPts val="0"/>
              </a:spcBef>
              <a:spcAft>
                <a:spcPts val="0"/>
              </a:spcAft>
              <a:buNone/>
              <a:defRPr/>
            </a:pPr>
            <a:r>
              <a:rPr lang="en-US" sz="2200" b="1" i="0" u="none" strike="noStrike" cap="none" spc="0" dirty="0">
                <a:solidFill>
                  <a:schemeClr val="bg1"/>
                </a:solidFill>
                <a:latin typeface="Calibri"/>
                <a:ea typeface="Calibri"/>
                <a:cs typeface="Calibri"/>
              </a:rPr>
              <a:t>E</a:t>
            </a:r>
            <a:r>
              <a:rPr lang="en-GB" sz="2200" b="1" i="0" u="none" strike="noStrike" cap="none" spc="0" dirty="0">
                <a:solidFill>
                  <a:schemeClr val="bg1"/>
                </a:solidFill>
                <a:latin typeface="Calibri"/>
                <a:ea typeface="Calibri"/>
                <a:cs typeface="Calibri"/>
              </a:rPr>
              <a:t>.</a:t>
            </a:r>
            <a:r>
              <a:rPr lang="en-US" sz="2200" b="1" i="0" u="none" strike="noStrike" cap="none" spc="0" dirty="0">
                <a:solidFill>
                  <a:schemeClr val="bg1"/>
                </a:solidFill>
                <a:latin typeface="Calibri"/>
                <a:ea typeface="Calibri"/>
                <a:cs typeface="Calibri"/>
              </a:rPr>
              <a:t>COLLECTION &amp; ESCALATION </a:t>
            </a:r>
          </a:p>
        </p:txBody>
      </p:sp>
      <p:graphicFrame>
        <p:nvGraphicFramePr>
          <p:cNvPr id="1976513695" name="Content Placeholder 2021333837"/>
          <p:cNvGraphicFramePr>
            <a:graphicFrameLocks noGrp="1"/>
          </p:cNvGraphicFramePr>
          <p:nvPr>
            <p:ph idx="1"/>
            <p:extLst>
              <p:ext uri="{D42A27DB-BD31-4B8C-83A1-F6EECF244321}">
                <p14:modId xmlns:p14="http://schemas.microsoft.com/office/powerpoint/2010/main" val="1764725866"/>
              </p:ext>
            </p:extLst>
          </p:nvPr>
        </p:nvGraphicFramePr>
        <p:xfrm>
          <a:off x="609599" y="1600200"/>
          <a:ext cx="10972800" cy="3657600"/>
        </p:xfrm>
        <a:graphic>
          <a:graphicData uri="http://schemas.openxmlformats.org/drawingml/2006/table">
            <a:tbl>
              <a:tblPr firstRow="1" bandRow="1">
                <a:effectLst>
                  <a:innerShdw blurRad="63500" dist="50800" dir="2700000">
                    <a:prstClr val="black">
                      <a:alpha val="50000"/>
                    </a:prstClr>
                  </a:innerShdw>
                </a:effectLst>
                <a:tableStyleId>{5C22544A-7EE6-4342-B048-85BDC9FD1C3A}</a:tableStyleId>
              </a:tblPr>
              <a:tblGrid>
                <a:gridCol w="2070000">
                  <a:extLst>
                    <a:ext uri="{9D8B030D-6E8A-4147-A177-3AD203B41FA5}">
                      <a16:colId xmlns:a16="http://schemas.microsoft.com/office/drawing/2014/main" val="20000"/>
                    </a:ext>
                  </a:extLst>
                </a:gridCol>
                <a:gridCol w="3690000">
                  <a:extLst>
                    <a:ext uri="{9D8B030D-6E8A-4147-A177-3AD203B41FA5}">
                      <a16:colId xmlns:a16="http://schemas.microsoft.com/office/drawing/2014/main" val="20001"/>
                    </a:ext>
                  </a:extLst>
                </a:gridCol>
                <a:gridCol w="5212800">
                  <a:extLst>
                    <a:ext uri="{9D8B030D-6E8A-4147-A177-3AD203B41FA5}">
                      <a16:colId xmlns:a16="http://schemas.microsoft.com/office/drawing/2014/main" val="20002"/>
                    </a:ext>
                  </a:extLst>
                </a:gridCol>
              </a:tblGrid>
              <a:tr h="365760">
                <a:tc>
                  <a:txBody>
                    <a:bodyPr/>
                    <a:lstStyle/>
                    <a:p>
                      <a:pPr marL="142240"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STEP </a:t>
                      </a:r>
                      <a:r>
                        <a:rPr lang="en-US"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NO</a:t>
                      </a:r>
                      <a:r>
                        <a:rPr lang="en-GB"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lang="en-US"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85725" algn="l">
                        <a:lnSpc>
                          <a:spcPts val="1215"/>
                        </a:lnSpc>
                        <a:defRPr/>
                      </a:pPr>
                      <a:r>
                        <a:rPr lang="en-GB"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ROLE       </a:t>
                      </a:r>
                      <a:r>
                        <a:rPr lang="en-US" sz="1100" b="1" i="0" u="none" strike="noStrike" cap="none" spc="0">
                          <a:solidFill>
                            <a:schemeClr val="bg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031875" algn="l">
                        <a:lnSpc>
                          <a:spcPts val="1215"/>
                        </a:lnSpc>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PROCESS</a:t>
                      </a:r>
                      <a:r>
                        <a:rPr sz="1100" b="1" spc="-7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DESCRIPTION</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0"/>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40</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74295" marR="24130">
                        <a:lnSpc>
                          <a:spcPct val="110000"/>
                        </a:lnSpc>
                        <a:spcBef>
                          <a:spcPts val="40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Send</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daily</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SMS</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reminders</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(6</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days</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before</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due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date)</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1"/>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41</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74295">
                        <a:lnSpc>
                          <a:spcPct val="100000"/>
                        </a:lnSpc>
                        <a:spcBef>
                          <a:spcPts val="530"/>
                        </a:spcBef>
                        <a:defRPr/>
                      </a:pP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Trigger</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phone</a:t>
                      </a:r>
                      <a:r>
                        <a:rPr sz="1100" b="1" spc="-3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calls</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(2</a:t>
                      </a:r>
                      <a:r>
                        <a:rPr sz="1100" b="1" spc="-3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days</a:t>
                      </a:r>
                      <a:r>
                        <a:rPr sz="1100" b="1" spc="-3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before</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due</a:t>
                      </a:r>
                      <a:r>
                        <a:rPr sz="1100" b="1" spc="-3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1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date)</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2"/>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42</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System</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7429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Flag</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loan</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as</a:t>
                      </a:r>
                      <a:r>
                        <a:rPr sz="1100" b="1" spc="-3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overdue</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on</a:t>
                      </a:r>
                      <a:r>
                        <a:rPr sz="1100" b="1" spc="-3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due</a:t>
                      </a:r>
                      <a:r>
                        <a:rPr sz="1100" b="1" spc="-3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1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date</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3"/>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43</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Shop</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Attendant</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7429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Print</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overdue</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loan</a:t>
                      </a:r>
                      <a:r>
                        <a:rPr sz="1100" b="1" spc="-4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1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list</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4"/>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44</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Kuza</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Shop</a:t>
                      </a:r>
                      <a:r>
                        <a:rPr sz="1100" b="1" spc="-45">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Attendant</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74295">
                        <a:lnSpc>
                          <a:spcPct val="100000"/>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Visit</a:t>
                      </a:r>
                      <a:r>
                        <a:rPr sz="1100" b="1" spc="-1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ward/district leaders</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5"/>
                  </a:ext>
                </a:extLst>
              </a:tr>
              <a:tr h="365760">
                <a:tc>
                  <a:txBody>
                    <a:bodyPr/>
                    <a:lstStyle/>
                    <a:p>
                      <a:pPr marL="31750">
                        <a:lnSpc>
                          <a:spcPct val="100000"/>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45</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ct val="100000"/>
                        </a:lnSpc>
                        <a:spcBef>
                          <a:spcPts val="530"/>
                        </a:spcBef>
                        <a:defRPr/>
                      </a:pP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District/Ward</a:t>
                      </a:r>
                      <a:r>
                        <a:rPr sz="1100" b="1" spc="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Leaders</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74295">
                        <a:lnSpc>
                          <a:spcPct val="100000"/>
                        </a:lnSpc>
                        <a:spcBef>
                          <a:spcPts val="530"/>
                        </a:spcBef>
                        <a:defRPr/>
                      </a:pPr>
                      <a:r>
                        <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Engage</a:t>
                      </a:r>
                      <a:r>
                        <a:rPr sz="1100" b="1" spc="-38"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rider</a:t>
                      </a:r>
                      <a:r>
                        <a:rPr sz="1100" b="1" spc="-38"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for</a:t>
                      </a:r>
                      <a:r>
                        <a:rPr sz="1100" b="1" spc="-38"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repayment</a:t>
                      </a:r>
                      <a:endParaRPr sz="11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6"/>
                  </a:ext>
                </a:extLst>
              </a:tr>
              <a:tr h="365760">
                <a:tc>
                  <a:txBody>
                    <a:bodyPr/>
                    <a:lstStyle/>
                    <a:p>
                      <a:pPr marL="31750">
                        <a:lnSpc>
                          <a:spcPts val="1235"/>
                        </a:lnSpc>
                        <a:spcBef>
                          <a:spcPts val="530"/>
                        </a:spcBef>
                        <a:defRPr/>
                      </a:pPr>
                      <a:r>
                        <a:rPr sz="1100" b="1" spc="-23">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46</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21920">
                        <a:lnSpc>
                          <a:spcPts val="1235"/>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Security</a:t>
                      </a:r>
                      <a:r>
                        <a:rPr sz="1100" b="1" spc="-64">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Committee</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74295">
                        <a:lnSpc>
                          <a:spcPts val="1235"/>
                        </a:lnSpc>
                        <a:spcBef>
                          <a:spcPts val="530"/>
                        </a:spcBef>
                        <a:defRPr/>
                      </a:pP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Support</a:t>
                      </a:r>
                      <a:r>
                        <a:rPr sz="1100" b="1" spc="-2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recovery</a:t>
                      </a:r>
                      <a:r>
                        <a:rPr sz="1100" b="1" spc="-2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for</a:t>
                      </a:r>
                      <a:r>
                        <a:rPr sz="1100" b="1" spc="-2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defaulted</a:t>
                      </a:r>
                      <a:r>
                        <a:rPr sz="1100" b="1" spc="-28">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 </a:t>
                      </a:r>
                      <a:r>
                        <a:rPr sz="1100" b="1" spc="-9">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loans</a:t>
                      </a:r>
                      <a:endParaRPr sz="1100"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7"/>
                  </a:ext>
                </a:extLst>
              </a:tr>
              <a:tr h="365760">
                <a:tc>
                  <a:txBody>
                    <a:bodyPr/>
                    <a:lstStyle/>
                    <a:p>
                      <a:pPr>
                        <a:defRPr/>
                      </a:pPr>
                      <a:endParaRPr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defRPr/>
                      </a:pPr>
                      <a:endParaRPr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defRPr/>
                      </a:pPr>
                      <a:endParaRPr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8"/>
                  </a:ext>
                </a:extLst>
              </a:tr>
              <a:tr h="365760">
                <a:tc>
                  <a:txBody>
                    <a:bodyPr/>
                    <a:lstStyle/>
                    <a:p>
                      <a:pPr>
                        <a:defRPr/>
                      </a:pPr>
                      <a:endParaRPr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defRPr/>
                      </a:pPr>
                      <a:endParaRPr b="1">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defRPr/>
                      </a:pPr>
                      <a:endParaRPr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009"/>
                  </a:ext>
                </a:extLst>
              </a:tr>
            </a:tbl>
          </a:graphicData>
        </a:graphic>
      </p:graphicFrame>
      <p:pic>
        <p:nvPicPr>
          <p:cNvPr id="1971689550" name="Google Shape;62;p13" title="Kuza_logo-removebg-preview.png"/>
          <p:cNvPicPr/>
          <p:nvPr/>
        </p:nvPicPr>
        <p:blipFill rotWithShape="1">
          <a:blip r:embed="rId3"/>
          <a:stretch/>
        </p:blipFill>
        <p:spPr bwMode="auto">
          <a:xfrm>
            <a:off x="387306" y="6206611"/>
            <a:ext cx="966199" cy="41479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58023231"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lgn="ctr">
              <a:lnSpc>
                <a:spcPct val="100000"/>
              </a:lnSpc>
              <a:spcBef>
                <a:spcPts val="0"/>
              </a:spcBef>
              <a:spcAft>
                <a:spcPts val="0"/>
              </a:spcAft>
              <a:defRPr/>
            </a:pP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OVERVIEW OF KUZA SOKONI SYSTEM</a:t>
            </a:r>
            <a:endParaRPr sz="2200" b="1" dirty="0">
              <a:latin typeface="Calibri"/>
              <a:cs typeface="Calibri"/>
            </a:endParaRPr>
          </a:p>
          <a:p>
            <a:pPr>
              <a:defRPr/>
            </a:pPr>
            <a:endParaRPr sz="2200" dirty="0"/>
          </a:p>
        </p:txBody>
      </p:sp>
      <p:sp>
        <p:nvSpPr>
          <p:cNvPr id="1727250928" name="Content Placeholder 2"/>
          <p:cNvSpPr>
            <a:spLocks noGrp="1"/>
          </p:cNvSpPr>
          <p:nvPr>
            <p:ph idx="1"/>
          </p:nvPr>
        </p:nvSpPr>
        <p:spPr bwMode="auto">
          <a:xfrm>
            <a:off x="1248698" y="1417638"/>
            <a:ext cx="10038734" cy="3739819"/>
          </a:xfrm>
        </p:spPr>
        <p:txBody>
          <a:bodyPr vertOverflow="overflow" horzOverflow="overflow" vert="horz" wrap="square" lIns="91440" tIns="45720" rIns="91440" bIns="45720" numCol="1" spcCol="0" rtlCol="0" fromWordArt="0" anchor="t" anchorCtr="0" forceAA="0" compatLnSpc="0">
            <a:normAutofit fontScale="70000" lnSpcReduction="20000"/>
          </a:bodyPr>
          <a:lstStyle/>
          <a:p>
            <a:pPr marL="0" marR="0" indent="0" algn="l">
              <a:lnSpc>
                <a:spcPct val="100000"/>
              </a:lnSpc>
              <a:spcBef>
                <a:spcPts val="0"/>
              </a:spcBef>
              <a:spcAft>
                <a:spcPts val="0"/>
              </a:spcAft>
              <a:buFont typeface="Arial"/>
              <a:buNone/>
              <a:defRPr/>
            </a:pPr>
            <a:endParaRPr sz="3200" b="0" i="0" u="none" strike="noStrike" cap="none" spc="0" dirty="0">
              <a:solidFill>
                <a:schemeClr val="bg1"/>
              </a:solidFill>
              <a:latin typeface="Calibri"/>
              <a:cs typeface="Calibri"/>
            </a:endParaRPr>
          </a:p>
          <a:p>
            <a:pPr marL="0" indent="0">
              <a:buFont typeface="Arial"/>
              <a:buNone/>
              <a:defRPr/>
            </a:pPr>
            <a:r>
              <a:rPr lang="en-US" sz="3200" b="1" i="0" u="none" strike="noStrike" cap="none" spc="0" dirty="0">
                <a:solidFill>
                  <a:schemeClr val="bg1"/>
                </a:solidFill>
                <a:latin typeface="Calibri"/>
                <a:ea typeface="Calibri"/>
                <a:cs typeface="Calibri"/>
              </a:rPr>
              <a:t>Product Description: Kuzasokoni provides</a:t>
            </a:r>
            <a:endParaRPr lang="en-US" sz="3200" b="0" i="0" u="none" strike="noStrike" cap="none" spc="0" dirty="0">
              <a:solidFill>
                <a:schemeClr val="bg1"/>
              </a:solidFill>
              <a:latin typeface="Calibri"/>
              <a:ea typeface="Calibri"/>
              <a:cs typeface="Calibri"/>
            </a:endParaRPr>
          </a:p>
          <a:p>
            <a:pPr marL="0" indent="0">
              <a:buFont typeface="Arial"/>
              <a:buNone/>
              <a:defRPr/>
            </a:pPr>
            <a:r>
              <a:rPr lang="en-US" sz="3200" b="0" i="0" u="none" strike="noStrike" cap="none" spc="0" dirty="0">
                <a:solidFill>
                  <a:schemeClr val="bg1"/>
                </a:solidFill>
                <a:latin typeface="Calibri"/>
                <a:ea typeface="Calibri"/>
                <a:cs typeface="Calibri"/>
              </a:rPr>
              <a:t>●​ Dynamic creation and ongoing management of financial products within the system</a:t>
            </a:r>
            <a:endParaRPr lang="en-US" sz="3200" b="0" i="0" u="none" strike="noStrike" cap="none" spc="0" dirty="0">
              <a:solidFill>
                <a:schemeClr val="bg1"/>
              </a:solidFill>
              <a:latin typeface="Calibri"/>
              <a:cs typeface="Calibri"/>
            </a:endParaRPr>
          </a:p>
          <a:p>
            <a:pPr marL="0" indent="0">
              <a:buFont typeface="Arial"/>
              <a:buNone/>
              <a:defRPr/>
            </a:pPr>
            <a:r>
              <a:rPr lang="en-US" sz="3200" b="0" i="0" u="none" strike="noStrike" cap="none" spc="0" dirty="0">
                <a:solidFill>
                  <a:schemeClr val="bg1"/>
                </a:solidFill>
                <a:latin typeface="Calibri"/>
                <a:ea typeface="Calibri"/>
                <a:cs typeface="Calibri"/>
              </a:rPr>
              <a:t>●​ Configuration of product-specific charges, fees, interest rates, penalties, and pricing rules</a:t>
            </a:r>
            <a:endParaRPr lang="en-US" sz="3200" b="0" i="0" u="none" strike="noStrike" cap="none" spc="0" dirty="0">
              <a:solidFill>
                <a:schemeClr val="bg1"/>
              </a:solidFill>
              <a:latin typeface="Calibri"/>
              <a:cs typeface="Calibri"/>
            </a:endParaRPr>
          </a:p>
          <a:p>
            <a:pPr marL="0" indent="0">
              <a:buFont typeface="Arial"/>
              <a:buNone/>
              <a:defRPr/>
            </a:pPr>
            <a:r>
              <a:rPr lang="en-US" sz="3200" b="0" i="0" u="none" strike="noStrike" cap="none" spc="0" dirty="0">
                <a:solidFill>
                  <a:schemeClr val="bg1"/>
                </a:solidFill>
                <a:latin typeface="Calibri"/>
                <a:ea typeface="Calibri"/>
                <a:cs typeface="Calibri"/>
              </a:rPr>
              <a:t>●​ Configuration of product-specific KYC and customer verification requirements</a:t>
            </a:r>
            <a:endParaRPr lang="en-US" sz="3200" b="0" i="0" u="none" strike="noStrike" cap="none" spc="0" dirty="0">
              <a:solidFill>
                <a:schemeClr val="bg1"/>
              </a:solidFill>
              <a:latin typeface="Calibri"/>
              <a:cs typeface="Calibri"/>
            </a:endParaRPr>
          </a:p>
          <a:p>
            <a:pPr marL="0" indent="0">
              <a:buFont typeface="Arial"/>
              <a:buNone/>
              <a:defRPr/>
            </a:pPr>
            <a:r>
              <a:rPr lang="en-US" sz="3200" b="0" i="0" u="none" strike="noStrike" cap="none" spc="0" dirty="0">
                <a:solidFill>
                  <a:schemeClr val="bg1"/>
                </a:solidFill>
                <a:latin typeface="Calibri"/>
                <a:ea typeface="Calibri"/>
                <a:cs typeface="Calibri"/>
              </a:rPr>
              <a:t>●​ Management of system users, roles, permissions, and access assignments</a:t>
            </a:r>
            <a:endParaRPr lang="en-US" sz="3200" b="0" i="0" u="none" strike="noStrike" cap="none" spc="0" dirty="0">
              <a:solidFill>
                <a:schemeClr val="bg1"/>
              </a:solidFill>
              <a:latin typeface="Calibri"/>
              <a:cs typeface="Calibri"/>
            </a:endParaRPr>
          </a:p>
          <a:p>
            <a:pPr marL="0" indent="0">
              <a:buFont typeface="Arial"/>
              <a:buNone/>
              <a:defRPr/>
            </a:pPr>
            <a:r>
              <a:rPr lang="en-US" sz="3200" b="0" i="0" u="none" strike="noStrike" cap="none" spc="0" dirty="0">
                <a:solidFill>
                  <a:schemeClr val="bg1"/>
                </a:solidFill>
                <a:latin typeface="Calibri"/>
                <a:ea typeface="Calibri"/>
                <a:cs typeface="Calibri"/>
              </a:rPr>
              <a:t>●​ Enforcement of product-specific access control based on user roles</a:t>
            </a:r>
            <a:endParaRPr lang="en-US" sz="3200" b="0" i="0" u="none" strike="noStrike" cap="none" spc="0" dirty="0">
              <a:solidFill>
                <a:schemeClr val="bg1"/>
              </a:solidFill>
              <a:latin typeface="Calibri"/>
              <a:cs typeface="Calibri"/>
            </a:endParaRPr>
          </a:p>
          <a:p>
            <a:pPr marL="0" indent="0">
              <a:buFont typeface="Arial"/>
              <a:buNone/>
              <a:defRPr/>
            </a:pPr>
            <a:r>
              <a:rPr lang="en-US" sz="3200" b="0" i="0" u="none" strike="noStrike" cap="none" spc="0" dirty="0">
                <a:solidFill>
                  <a:schemeClr val="bg1"/>
                </a:solidFill>
                <a:latin typeface="Calibri"/>
                <a:ea typeface="Calibri"/>
                <a:cs typeface="Calibri"/>
              </a:rPr>
              <a:t>●​ Generation of comprehensive financial and operational reports</a:t>
            </a:r>
            <a:endParaRPr lang="en-US" sz="3200" b="0" i="0" u="none" strike="noStrike" cap="none" spc="0" dirty="0">
              <a:solidFill>
                <a:schemeClr val="bg1"/>
              </a:solidFill>
              <a:latin typeface="Calibri"/>
              <a:cs typeface="Calibri"/>
            </a:endParaRPr>
          </a:p>
          <a:p>
            <a:pPr marL="0" indent="0">
              <a:buFont typeface="Arial"/>
              <a:buNone/>
              <a:defRPr/>
            </a:pPr>
            <a:r>
              <a:rPr lang="en-US" sz="3200" b="0" i="0" u="none" strike="noStrike" cap="none" spc="0" dirty="0">
                <a:solidFill>
                  <a:schemeClr val="bg1"/>
                </a:solidFill>
                <a:latin typeface="Calibri"/>
                <a:ea typeface="Calibri"/>
                <a:cs typeface="Calibri"/>
              </a:rPr>
              <a:t>●​ Management of customer profiles, accounts, and related master data</a:t>
            </a:r>
            <a:endParaRPr lang="en-US" sz="3200" b="0" i="0" u="none" strike="noStrike" cap="none" spc="0" dirty="0">
              <a:solidFill>
                <a:schemeClr val="bg1"/>
              </a:solidFill>
              <a:latin typeface="Calibri"/>
              <a:cs typeface="Calibri"/>
            </a:endParaRPr>
          </a:p>
          <a:p>
            <a:pPr marL="0" indent="0">
              <a:buFont typeface="Arial"/>
              <a:buNone/>
              <a:defRPr/>
            </a:pPr>
            <a:r>
              <a:rPr lang="en-US" sz="3200" b="0" i="0" u="none" strike="noStrike" cap="none" spc="0" dirty="0">
                <a:solidFill>
                  <a:schemeClr val="bg1"/>
                </a:solidFill>
                <a:latin typeface="Calibri"/>
                <a:ea typeface="Calibri"/>
                <a:cs typeface="Calibri"/>
              </a:rPr>
              <a:t>●​ Tracking and processing of loans and investments (applications, approvals,</a:t>
            </a:r>
            <a:endParaRPr lang="en-US" sz="3200" b="0" i="0" u="none" strike="noStrike" cap="none" spc="0" dirty="0">
              <a:solidFill>
                <a:schemeClr val="bg1"/>
              </a:solidFill>
              <a:latin typeface="Calibri"/>
              <a:cs typeface="Calibri"/>
            </a:endParaRPr>
          </a:p>
          <a:p>
            <a:pPr marL="0" marR="0" indent="0" algn="l">
              <a:lnSpc>
                <a:spcPct val="100000"/>
              </a:lnSpc>
              <a:spcBef>
                <a:spcPts val="0"/>
              </a:spcBef>
              <a:spcAft>
                <a:spcPts val="0"/>
              </a:spcAft>
              <a:buFont typeface="Arial"/>
              <a:buNone/>
              <a:defRPr/>
            </a:pPr>
            <a:r>
              <a:rPr lang="en-US" sz="3200" b="0" i="0" u="none" strike="noStrike" cap="none" spc="0" dirty="0">
                <a:solidFill>
                  <a:schemeClr val="bg1"/>
                </a:solidFill>
                <a:latin typeface="Calibri"/>
                <a:ea typeface="Calibri"/>
                <a:cs typeface="Calibri"/>
              </a:rPr>
              <a:t>disbursements, repayments, maturity, closures)</a:t>
            </a:r>
            <a:endParaRPr sz="3200" b="0"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31249028" name="Title 1"/>
          <p:cNvSpPr>
            <a:spLocks noGrp="1"/>
          </p:cNvSpPr>
          <p:nvPr>
            <p:ph type="title"/>
          </p:nvPr>
        </p:nvSpPr>
        <p:spPr bwMode="auto">
          <a:xfrm>
            <a:off x="786492" y="84138"/>
            <a:ext cx="10972800" cy="1143000"/>
          </a:xfrm>
        </p:spPr>
        <p:txBody>
          <a:bodyPr vertOverflow="overflow" horzOverflow="overflow" vert="horz" wrap="square" lIns="91440" tIns="45720" rIns="91440" bIns="45720" numCol="1" spcCol="0" rtlCol="0" fromWordArt="0" anchor="ctr" anchorCtr="0" forceAA="0" compatLnSpc="0">
            <a:normAutofit/>
          </a:bodyPr>
          <a:lstStyle/>
          <a:p>
            <a:pPr>
              <a:defRPr/>
            </a:pPr>
            <a:br>
              <a:rPr lang="en-US" sz="2200" b="1" i="0" u="none" strike="noStrike" cap="none" spc="0" dirty="0">
                <a:solidFill>
                  <a:schemeClr val="bg1"/>
                </a:solidFill>
                <a:latin typeface="Calibri"/>
                <a:ea typeface="Calibri"/>
                <a:cs typeface="Calibri"/>
              </a:rPr>
            </a:br>
            <a:endParaRPr lang="en-US" sz="2200" b="1" i="0" u="none" strike="noStrike" cap="none" spc="0" dirty="0">
              <a:solidFill>
                <a:schemeClr val="bg1"/>
              </a:solidFill>
              <a:latin typeface="Calibri"/>
              <a:cs typeface="Calibri"/>
            </a:endParaRPr>
          </a:p>
          <a:p>
            <a:pPr algn="ctr">
              <a:lnSpc>
                <a:spcPct val="100000"/>
              </a:lnSpc>
              <a:spcBef>
                <a:spcPts val="0"/>
              </a:spcBef>
              <a:spcAft>
                <a:spcPts val="0"/>
              </a:spcAft>
              <a:defRPr/>
            </a:pPr>
            <a:r>
              <a:rPr lang="en-US" sz="2200" b="1" i="0" u="none" strike="noStrike" cap="none" spc="0" dirty="0">
                <a:solidFill>
                  <a:schemeClr val="bg1"/>
                </a:solidFill>
                <a:latin typeface="Calibri"/>
                <a:ea typeface="Calibri"/>
                <a:cs typeface="Calibri"/>
              </a:rPr>
              <a:t>OVERVIEW OF KUZA SOKONI SYSTEM</a:t>
            </a:r>
            <a:endParaRPr lang="en-US" sz="2200" b="1" dirty="0">
              <a:latin typeface="Calibri"/>
              <a:cs typeface="Calibri"/>
            </a:endParaRPr>
          </a:p>
          <a:p>
            <a:pPr>
              <a:defRPr/>
            </a:pPr>
            <a:endParaRPr lang="en-US" sz="2200" dirty="0"/>
          </a:p>
          <a:p>
            <a:pPr>
              <a:defRPr/>
            </a:pPr>
            <a:endParaRPr lang="en-US" sz="2200" dirty="0"/>
          </a:p>
        </p:txBody>
      </p:sp>
      <p:sp>
        <p:nvSpPr>
          <p:cNvPr id="1710432489" name="Content Placeholder 2"/>
          <p:cNvSpPr>
            <a:spLocks noGrp="1"/>
          </p:cNvSpPr>
          <p:nvPr>
            <p:ph idx="1"/>
          </p:nvPr>
        </p:nvSpPr>
        <p:spPr bwMode="auto">
          <a:xfrm>
            <a:off x="609599" y="1077459"/>
            <a:ext cx="10972800" cy="4525962"/>
          </a:xfrm>
        </p:spPr>
        <p:txBody>
          <a:bodyPr>
            <a:normAutofit/>
          </a:bodyPr>
          <a:lstStyle/>
          <a:p>
            <a:pPr marL="342900" marR="0" indent="-342900" algn="l">
              <a:lnSpc>
                <a:spcPct val="100000"/>
              </a:lnSpc>
              <a:spcBef>
                <a:spcPts val="0"/>
              </a:spcBef>
              <a:spcAft>
                <a:spcPts val="0"/>
              </a:spcAft>
              <a:buFont typeface="Arial"/>
              <a:buChar char="•"/>
              <a:defRPr/>
            </a:pPr>
            <a:r>
              <a:rPr lang="en-US" sz="2200" b="0" i="0" u="none" strike="noStrike" cap="none" spc="0" dirty="0">
                <a:solidFill>
                  <a:schemeClr val="bg1"/>
                </a:solidFill>
                <a:latin typeface="Calibri"/>
                <a:ea typeface="Calibri"/>
                <a:cs typeface="Calibri"/>
              </a:rPr>
              <a:t>Stakeholders: </a:t>
            </a:r>
            <a:r>
              <a:rPr lang="en-US" sz="2200" b="1" i="0" u="none" strike="noStrike" cap="none" spc="0" dirty="0">
                <a:solidFill>
                  <a:schemeClr val="bg1"/>
                </a:solidFill>
                <a:latin typeface="Calibri"/>
                <a:ea typeface="Calibri"/>
                <a:cs typeface="Calibri"/>
              </a:rPr>
              <a:t>Sales Agent, Entity Leader</a:t>
            </a:r>
            <a:r>
              <a:rPr lang="en-US" sz="2200" b="0" i="0" u="none" strike="noStrike" cap="none" spc="0" dirty="0">
                <a:solidFill>
                  <a:schemeClr val="bg1"/>
                </a:solidFill>
                <a:latin typeface="Calibri"/>
                <a:ea typeface="Calibri"/>
                <a:cs typeface="Calibri"/>
              </a:rPr>
              <a:t>, </a:t>
            </a:r>
            <a:r>
              <a:rPr lang="en-US" sz="2200" b="1" i="0" u="none" strike="noStrike" cap="none" spc="0" dirty="0">
                <a:solidFill>
                  <a:schemeClr val="bg1"/>
                </a:solidFill>
                <a:latin typeface="Calibri"/>
                <a:ea typeface="Calibri"/>
                <a:cs typeface="Calibri"/>
              </a:rPr>
              <a:t>Finance Officer (Maker), Finance Manager (checker), Collection Officer</a:t>
            </a:r>
            <a:r>
              <a:rPr lang="en-US" sz="2200" b="0" i="0" u="none" strike="noStrike" cap="none" spc="0" dirty="0">
                <a:solidFill>
                  <a:schemeClr val="bg1"/>
                </a:solidFill>
                <a:latin typeface="Calibri"/>
                <a:ea typeface="Calibri"/>
                <a:cs typeface="Calibri"/>
              </a:rPr>
              <a:t>, </a:t>
            </a:r>
            <a:r>
              <a:rPr lang="en-US" sz="2200" b="1" i="0" u="none" strike="noStrike" cap="none" spc="0" dirty="0">
                <a:solidFill>
                  <a:schemeClr val="bg1"/>
                </a:solidFill>
                <a:latin typeface="Calibri"/>
                <a:ea typeface="Calibri"/>
                <a:cs typeface="Calibri"/>
              </a:rPr>
              <a:t>Super Admin.</a:t>
            </a:r>
          </a:p>
          <a:p>
            <a:pPr>
              <a:defRPr/>
            </a:pPr>
            <a:endParaRPr lang="en-US" sz="2200" dirty="0"/>
          </a:p>
        </p:txBody>
      </p:sp>
      <p:sp>
        <p:nvSpPr>
          <p:cNvPr id="2" name="Title 1">
            <a:extLst>
              <a:ext uri="{FF2B5EF4-FFF2-40B4-BE49-F238E27FC236}">
                <a16:creationId xmlns:a16="http://schemas.microsoft.com/office/drawing/2014/main" id="{3BC2EB7B-80F0-C758-F762-D2D3C4625A8F}"/>
              </a:ext>
            </a:extLst>
          </p:cNvPr>
          <p:cNvSpPr txBox="1">
            <a:spLocks/>
          </p:cNvSpPr>
          <p:nvPr/>
        </p:nvSpPr>
        <p:spPr bwMode="auto">
          <a:xfrm>
            <a:off x="786492" y="2552698"/>
            <a:ext cx="5309508" cy="1311379"/>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342900" lvl="0" indent="-342900">
              <a:buFont typeface="Wingdings" panose="05000000000000000000" pitchFamily="2" charset="2"/>
              <a:buChar char="v"/>
            </a:pPr>
            <a:r>
              <a:rPr lang="en-US" sz="2000" b="0" dirty="0">
                <a:solidFill>
                  <a:schemeClr val="bg1"/>
                </a:solidFill>
                <a:latin typeface="Calibri"/>
                <a:ea typeface="Calibri"/>
                <a:cs typeface="Calibri"/>
              </a:rPr>
              <a:t>Semi-manual processes with USSD, physical verifications, forms; prone to delays, errors.</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8833FA88-630E-BDB7-6B7B-BB235108DA4B}"/>
              </a:ext>
            </a:extLst>
          </p:cNvPr>
          <p:cNvSpPr txBox="1">
            <a:spLocks/>
          </p:cNvSpPr>
          <p:nvPr/>
        </p:nvSpPr>
        <p:spPr bwMode="auto">
          <a:xfrm>
            <a:off x="6253315" y="2552699"/>
            <a:ext cx="5132439" cy="1311379"/>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algn="just"/>
            <a:r>
              <a:rPr lang="en-US" sz="1800" b="0" dirty="0">
                <a:solidFill>
                  <a:schemeClr val="bg1"/>
                </a:solidFill>
                <a:latin typeface="Calibri"/>
                <a:ea typeface="Calibri"/>
                <a:cs typeface="Calibri"/>
              </a:rPr>
              <a:t> </a:t>
            </a:r>
          </a:p>
          <a:p>
            <a:pPr marL="285750" indent="-285750" algn="just">
              <a:buFont typeface="Wingdings" panose="05000000000000000000" pitchFamily="2" charset="2"/>
              <a:buChar char="ü"/>
            </a:pPr>
            <a:r>
              <a:rPr lang="en-US" sz="1800" b="0" dirty="0">
                <a:solidFill>
                  <a:schemeClr val="bg1"/>
                </a:solidFill>
                <a:latin typeface="Calibri"/>
                <a:ea typeface="Calibri"/>
                <a:cs typeface="Calibri"/>
              </a:rPr>
              <a:t>Automated system with USSD/App/Web access, integrations (MNOs, ERP), role-based controls; improves efficiency, compliance.</a:t>
            </a:r>
            <a:endParaRPr lang="en-US" sz="1800" b="0" dirty="0">
              <a:solidFill>
                <a:schemeClr val="bg1"/>
              </a:solidFill>
              <a:latin typeface="Calibri"/>
              <a:cs typeface="Calibri"/>
            </a:endParaRPr>
          </a:p>
          <a:p>
            <a:pPr marL="285750" lvl="0" indent="-285750" algn="just">
              <a:buFont typeface="Wingdings" panose="05000000000000000000" pitchFamily="2" charset="2"/>
              <a:buChar char="ü"/>
            </a:pP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11FE5FDF-86C8-92B0-CBCC-CDD1D041BAF2}"/>
              </a:ext>
            </a:extLst>
          </p:cNvPr>
          <p:cNvSpPr txBox="1">
            <a:spLocks/>
          </p:cNvSpPr>
          <p:nvPr/>
        </p:nvSpPr>
        <p:spPr bwMode="auto">
          <a:xfrm>
            <a:off x="2713662" y="1978249"/>
            <a:ext cx="1474838" cy="52209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AS IS </a:t>
            </a:r>
          </a:p>
        </p:txBody>
      </p:sp>
      <p:sp>
        <p:nvSpPr>
          <p:cNvPr id="7" name="Title 1">
            <a:extLst>
              <a:ext uri="{FF2B5EF4-FFF2-40B4-BE49-F238E27FC236}">
                <a16:creationId xmlns:a16="http://schemas.microsoft.com/office/drawing/2014/main" id="{A40725E8-8661-DA6D-10CF-EF8B2B85A18E}"/>
              </a:ext>
            </a:extLst>
          </p:cNvPr>
          <p:cNvSpPr txBox="1">
            <a:spLocks/>
          </p:cNvSpPr>
          <p:nvPr/>
        </p:nvSpPr>
        <p:spPr bwMode="auto">
          <a:xfrm>
            <a:off x="7797002" y="1978249"/>
            <a:ext cx="1474838" cy="52209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TO BE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62050-7995-2C22-22AB-BF0F57D378F8}"/>
              </a:ext>
            </a:extLst>
          </p:cNvPr>
          <p:cNvSpPr>
            <a:spLocks noGrp="1"/>
          </p:cNvSpPr>
          <p:nvPr>
            <p:ph type="title"/>
          </p:nvPr>
        </p:nvSpPr>
        <p:spPr>
          <a:xfrm>
            <a:off x="609600" y="76544"/>
            <a:ext cx="10815485" cy="522096"/>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KUZA SOKONI – LOAN PROCESS FLOW (TO BE)</a:t>
            </a:r>
          </a:p>
        </p:txBody>
      </p:sp>
      <p:graphicFrame>
        <p:nvGraphicFramePr>
          <p:cNvPr id="4" name="Content Placeholder 3">
            <a:extLst>
              <a:ext uri="{FF2B5EF4-FFF2-40B4-BE49-F238E27FC236}">
                <a16:creationId xmlns:a16="http://schemas.microsoft.com/office/drawing/2014/main" id="{79E10718-8580-2F8F-3CF2-57B873B01C7B}"/>
              </a:ext>
            </a:extLst>
          </p:cNvPr>
          <p:cNvGraphicFramePr>
            <a:graphicFrameLocks noGrp="1"/>
          </p:cNvGraphicFramePr>
          <p:nvPr>
            <p:ph idx="1"/>
            <p:extLst>
              <p:ext uri="{D42A27DB-BD31-4B8C-83A1-F6EECF244321}">
                <p14:modId xmlns:p14="http://schemas.microsoft.com/office/powerpoint/2010/main" val="1858471850"/>
              </p:ext>
            </p:extLst>
          </p:nvPr>
        </p:nvGraphicFramePr>
        <p:xfrm>
          <a:off x="757084" y="1718187"/>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E417D659-1E51-8FC5-BB14-8C385AD63684}"/>
              </a:ext>
            </a:extLst>
          </p:cNvPr>
          <p:cNvSpPr txBox="1">
            <a:spLocks/>
          </p:cNvSpPr>
          <p:nvPr/>
        </p:nvSpPr>
        <p:spPr bwMode="auto">
          <a:xfrm>
            <a:off x="2310580" y="1028699"/>
            <a:ext cx="3057834" cy="689487"/>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1. Login to system,</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2. Register Vendor (Capture KYC + Upload Documents</a:t>
            </a:r>
            <a:r>
              <a:rPr lang="en-US" sz="900" dirty="0">
                <a:solidFill>
                  <a:schemeClr val="bg1"/>
                </a:solidFill>
              </a:rPr>
              <a:t>)</a:t>
            </a:r>
            <a:endPar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E832747E-3999-D41E-CD10-571D92A20F72}"/>
              </a:ext>
            </a:extLst>
          </p:cNvPr>
          <p:cNvSpPr txBox="1">
            <a:spLocks/>
          </p:cNvSpPr>
          <p:nvPr/>
        </p:nvSpPr>
        <p:spPr bwMode="auto">
          <a:xfrm>
            <a:off x="875070" y="1043103"/>
            <a:ext cx="1435509" cy="503904"/>
          </a:xfrm>
          <a:prstGeom prst="rect">
            <a:avLst/>
          </a:prstGeom>
          <a:solidFill>
            <a:schemeClr val="tx2">
              <a:lumMod val="40000"/>
              <a:lumOff val="60000"/>
            </a:schemeClr>
          </a:solidFill>
          <a:ln>
            <a:solidFill>
              <a:schemeClr val="tx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lvl="0"/>
            <a:r>
              <a:rPr lang="en-US" sz="1600" dirty="0">
                <a:solidFill>
                  <a:schemeClr val="bg1"/>
                </a:solidFill>
                <a:latin typeface="Calibri" panose="020F0502020204030204" pitchFamily="34" charset="0"/>
                <a:ea typeface="Calibri" panose="020F0502020204030204" pitchFamily="34" charset="0"/>
                <a:cs typeface="Calibri" panose="020F0502020204030204" pitchFamily="34" charset="0"/>
              </a:rPr>
              <a:t>SALE AGENT</a:t>
            </a:r>
          </a:p>
        </p:txBody>
      </p:sp>
      <p:sp>
        <p:nvSpPr>
          <p:cNvPr id="8" name="Title 1">
            <a:extLst>
              <a:ext uri="{FF2B5EF4-FFF2-40B4-BE49-F238E27FC236}">
                <a16:creationId xmlns:a16="http://schemas.microsoft.com/office/drawing/2014/main" id="{D11B7772-5B2D-6065-9401-4648F9023811}"/>
              </a:ext>
            </a:extLst>
          </p:cNvPr>
          <p:cNvSpPr txBox="1">
            <a:spLocks/>
          </p:cNvSpPr>
          <p:nvPr/>
        </p:nvSpPr>
        <p:spPr bwMode="auto">
          <a:xfrm>
            <a:off x="875064" y="1727427"/>
            <a:ext cx="1435509" cy="503904"/>
          </a:xfrm>
          <a:prstGeom prst="rect">
            <a:avLst/>
          </a:prstGeom>
          <a:solidFill>
            <a:srgbClr val="92D050"/>
          </a:solidFill>
          <a:ln>
            <a:solidFill>
              <a:schemeClr val="tx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Autofit/>
          </a:bodyPr>
          <a:lstStyle>
            <a:lvl1pPr algn="ctr" defTabSz="914400" rtl="0">
              <a:spcBef>
                <a:spcPts val="0"/>
              </a:spcBef>
              <a:buNone/>
              <a:defRPr sz="4400" b="1">
                <a:solidFill>
                  <a:schemeClr val="tx1"/>
                </a:solidFill>
                <a:latin typeface="+mj-lt"/>
                <a:ea typeface="+mj-ea"/>
                <a:cs typeface="+mj-cs"/>
              </a:defRPr>
            </a:lvl1pPr>
          </a:lstStyle>
          <a:p>
            <a:pPr>
              <a:defRPr/>
            </a:pPr>
            <a:endParaRPr lang="en-US" sz="15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defRPr/>
            </a:pPr>
            <a:r>
              <a:rPr lang="en-US" sz="1500" dirty="0">
                <a:solidFill>
                  <a:schemeClr val="bg1"/>
                </a:solidFill>
                <a:latin typeface="Calibri" panose="020F0502020204030204" pitchFamily="34" charset="0"/>
                <a:ea typeface="Calibri" panose="020F0502020204030204" pitchFamily="34" charset="0"/>
                <a:cs typeface="Calibri" panose="020F0502020204030204" pitchFamily="34" charset="0"/>
              </a:rPr>
              <a:t>ENTITY LEADER</a:t>
            </a:r>
          </a:p>
          <a:p>
            <a:pPr>
              <a:defRPr/>
            </a:pPr>
            <a:endParaRPr lang="en-US" sz="15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itle 1">
            <a:extLst>
              <a:ext uri="{FF2B5EF4-FFF2-40B4-BE49-F238E27FC236}">
                <a16:creationId xmlns:a16="http://schemas.microsoft.com/office/drawing/2014/main" id="{6B38E97F-6156-2C08-F859-4BC691ED3D78}"/>
              </a:ext>
            </a:extLst>
          </p:cNvPr>
          <p:cNvSpPr txBox="1">
            <a:spLocks/>
          </p:cNvSpPr>
          <p:nvPr/>
        </p:nvSpPr>
        <p:spPr bwMode="auto">
          <a:xfrm>
            <a:off x="875069" y="2402511"/>
            <a:ext cx="1435509" cy="503904"/>
          </a:xfrm>
          <a:prstGeom prst="rect">
            <a:avLst/>
          </a:prstGeom>
          <a:solidFill>
            <a:schemeClr val="accent6"/>
          </a:solidFill>
          <a:ln>
            <a:solidFill>
              <a:schemeClr val="tx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Autofit/>
          </a:bodyPr>
          <a:lstStyle>
            <a:lvl1pPr algn="ctr" defTabSz="914400" rtl="0">
              <a:spcBef>
                <a:spcPts val="0"/>
              </a:spcBef>
              <a:buNone/>
              <a:defRPr sz="4400" b="1">
                <a:solidFill>
                  <a:schemeClr val="tx1"/>
                </a:solidFill>
                <a:latin typeface="+mj-lt"/>
                <a:ea typeface="+mj-ea"/>
                <a:cs typeface="+mj-cs"/>
              </a:defRPr>
            </a:lvl1pPr>
          </a:lstStyle>
          <a:p>
            <a:pPr>
              <a:defRPr/>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FINANCE OFFICER (MAKER)</a:t>
            </a:r>
          </a:p>
        </p:txBody>
      </p:sp>
      <p:sp>
        <p:nvSpPr>
          <p:cNvPr id="11" name="Title 1">
            <a:extLst>
              <a:ext uri="{FF2B5EF4-FFF2-40B4-BE49-F238E27FC236}">
                <a16:creationId xmlns:a16="http://schemas.microsoft.com/office/drawing/2014/main" id="{76A55978-4684-78CA-A7D8-5DADB7D666CC}"/>
              </a:ext>
            </a:extLst>
          </p:cNvPr>
          <p:cNvSpPr txBox="1">
            <a:spLocks/>
          </p:cNvSpPr>
          <p:nvPr/>
        </p:nvSpPr>
        <p:spPr bwMode="auto">
          <a:xfrm>
            <a:off x="2310578" y="1680615"/>
            <a:ext cx="3057834" cy="825130"/>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1. Receive notification</a:t>
            </a:r>
          </a:p>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2. Review KYC and Loan Details</a:t>
            </a:r>
          </a:p>
        </p:txBody>
      </p:sp>
      <p:sp>
        <p:nvSpPr>
          <p:cNvPr id="12" name="Title 1">
            <a:extLst>
              <a:ext uri="{FF2B5EF4-FFF2-40B4-BE49-F238E27FC236}">
                <a16:creationId xmlns:a16="http://schemas.microsoft.com/office/drawing/2014/main" id="{0BB4B60B-5101-7ABD-7A6B-FA4EB4D3EE7E}"/>
              </a:ext>
            </a:extLst>
          </p:cNvPr>
          <p:cNvSpPr txBox="1">
            <a:spLocks/>
          </p:cNvSpPr>
          <p:nvPr/>
        </p:nvSpPr>
        <p:spPr bwMode="auto">
          <a:xfrm>
            <a:off x="2310578" y="2383938"/>
            <a:ext cx="3057834" cy="711895"/>
          </a:xfrm>
          <a:prstGeom prst="rect">
            <a:avLst/>
          </a:prstGeom>
          <a:solidFill>
            <a:schemeClr val="accent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1. View Recommended Loans</a:t>
            </a:r>
          </a:p>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2. Enter Disbursement Details</a:t>
            </a:r>
          </a:p>
        </p:txBody>
      </p:sp>
      <p:sp>
        <p:nvSpPr>
          <p:cNvPr id="13" name="Title 1">
            <a:extLst>
              <a:ext uri="{FF2B5EF4-FFF2-40B4-BE49-F238E27FC236}">
                <a16:creationId xmlns:a16="http://schemas.microsoft.com/office/drawing/2014/main" id="{E44237C7-61FD-2542-B8E7-5662C68C19B4}"/>
              </a:ext>
            </a:extLst>
          </p:cNvPr>
          <p:cNvSpPr txBox="1">
            <a:spLocks/>
          </p:cNvSpPr>
          <p:nvPr/>
        </p:nvSpPr>
        <p:spPr bwMode="auto">
          <a:xfrm>
            <a:off x="875069" y="3094784"/>
            <a:ext cx="1435509" cy="503904"/>
          </a:xfrm>
          <a:prstGeom prst="rect">
            <a:avLst/>
          </a:prstGeom>
          <a:solidFill>
            <a:schemeClr val="accent4"/>
          </a:solidFill>
          <a:ln>
            <a:solidFill>
              <a:schemeClr val="tx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Autofit/>
          </a:bodyPr>
          <a:lstStyle>
            <a:lvl1pPr algn="ctr" defTabSz="914400" rtl="0">
              <a:spcBef>
                <a:spcPts val="0"/>
              </a:spcBef>
              <a:buNone/>
              <a:defRPr sz="4400" b="1">
                <a:solidFill>
                  <a:schemeClr val="tx1"/>
                </a:solidFill>
                <a:latin typeface="+mj-lt"/>
                <a:ea typeface="+mj-ea"/>
                <a:cs typeface="+mj-cs"/>
              </a:defRPr>
            </a:lvl1pPr>
          </a:lstStyle>
          <a:p>
            <a:pPr>
              <a:defRP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FINANCE MANAGER (CHECKER)</a:t>
            </a:r>
          </a:p>
        </p:txBody>
      </p:sp>
      <p:sp>
        <p:nvSpPr>
          <p:cNvPr id="14" name="Title 1">
            <a:extLst>
              <a:ext uri="{FF2B5EF4-FFF2-40B4-BE49-F238E27FC236}">
                <a16:creationId xmlns:a16="http://schemas.microsoft.com/office/drawing/2014/main" id="{BA4B573F-83AA-6534-86BD-12D7C5E8B0C3}"/>
              </a:ext>
            </a:extLst>
          </p:cNvPr>
          <p:cNvSpPr txBox="1">
            <a:spLocks/>
          </p:cNvSpPr>
          <p:nvPr/>
        </p:nvSpPr>
        <p:spPr bwMode="auto">
          <a:xfrm>
            <a:off x="2310578" y="3085560"/>
            <a:ext cx="3057834" cy="647195"/>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1. Review Disbursement Request</a:t>
            </a:r>
          </a:p>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2. Verify compliance &amp; documentation</a:t>
            </a:r>
          </a:p>
        </p:txBody>
      </p:sp>
      <p:sp>
        <p:nvSpPr>
          <p:cNvPr id="15" name="Title 1">
            <a:extLst>
              <a:ext uri="{FF2B5EF4-FFF2-40B4-BE49-F238E27FC236}">
                <a16:creationId xmlns:a16="http://schemas.microsoft.com/office/drawing/2014/main" id="{EEE29205-6EE2-BF00-033E-8DFF96143474}"/>
              </a:ext>
            </a:extLst>
          </p:cNvPr>
          <p:cNvSpPr txBox="1">
            <a:spLocks/>
          </p:cNvSpPr>
          <p:nvPr/>
        </p:nvSpPr>
        <p:spPr bwMode="auto">
          <a:xfrm>
            <a:off x="875064" y="3726211"/>
            <a:ext cx="1435509" cy="503904"/>
          </a:xfrm>
          <a:prstGeom prst="rect">
            <a:avLst/>
          </a:prstGeom>
          <a:solidFill>
            <a:schemeClr val="accent5">
              <a:lumMod val="75000"/>
            </a:schemeClr>
          </a:solidFill>
          <a:ln>
            <a:solidFill>
              <a:schemeClr val="tx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Autofit/>
          </a:bodyPr>
          <a:lstStyle>
            <a:lvl1pPr algn="ctr" defTabSz="914400" rtl="0">
              <a:spcBef>
                <a:spcPts val="0"/>
              </a:spcBef>
              <a:buNone/>
              <a:defRPr sz="4400" b="1">
                <a:solidFill>
                  <a:schemeClr val="tx1"/>
                </a:solidFill>
                <a:latin typeface="+mj-lt"/>
                <a:ea typeface="+mj-ea"/>
                <a:cs typeface="+mj-cs"/>
              </a:defRPr>
            </a:lvl1pPr>
          </a:lstStyle>
          <a:p>
            <a:pPr>
              <a:defRP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COLLECTION OFFICER </a:t>
            </a:r>
          </a:p>
        </p:txBody>
      </p:sp>
      <p:sp>
        <p:nvSpPr>
          <p:cNvPr id="16" name="Title 1">
            <a:extLst>
              <a:ext uri="{FF2B5EF4-FFF2-40B4-BE49-F238E27FC236}">
                <a16:creationId xmlns:a16="http://schemas.microsoft.com/office/drawing/2014/main" id="{49902CD9-060C-D22D-D85E-9551A0971C58}"/>
              </a:ext>
            </a:extLst>
          </p:cNvPr>
          <p:cNvSpPr txBox="1">
            <a:spLocks/>
          </p:cNvSpPr>
          <p:nvPr/>
        </p:nvSpPr>
        <p:spPr bwMode="auto">
          <a:xfrm>
            <a:off x="2310568" y="3741983"/>
            <a:ext cx="3057834" cy="682395"/>
          </a:xfrm>
          <a:prstGeom prst="rect">
            <a:avLst/>
          </a:prstGeom>
          <a:solidFill>
            <a:schemeClr val="accent5">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1. View Assigned Loans</a:t>
            </a:r>
          </a:p>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2. Monitor Due  Overdue Accounts</a:t>
            </a:r>
          </a:p>
        </p:txBody>
      </p:sp>
      <p:sp>
        <p:nvSpPr>
          <p:cNvPr id="17" name="Title 1">
            <a:extLst>
              <a:ext uri="{FF2B5EF4-FFF2-40B4-BE49-F238E27FC236}">
                <a16:creationId xmlns:a16="http://schemas.microsoft.com/office/drawing/2014/main" id="{D702F6B7-BBF8-B904-B0BB-28C3320E1073}"/>
              </a:ext>
            </a:extLst>
          </p:cNvPr>
          <p:cNvSpPr txBox="1">
            <a:spLocks/>
          </p:cNvSpPr>
          <p:nvPr/>
        </p:nvSpPr>
        <p:spPr bwMode="auto">
          <a:xfrm>
            <a:off x="875064" y="4425395"/>
            <a:ext cx="1435509" cy="503904"/>
          </a:xfrm>
          <a:prstGeom prst="rect">
            <a:avLst/>
          </a:prstGeom>
          <a:solidFill>
            <a:schemeClr val="accent6">
              <a:lumMod val="50000"/>
            </a:schemeClr>
          </a:solidFill>
          <a:ln>
            <a:solidFill>
              <a:schemeClr val="tx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Autofit/>
          </a:bodyPr>
          <a:lstStyle>
            <a:lvl1pPr algn="ctr" defTabSz="914400" rtl="0">
              <a:spcBef>
                <a:spcPts val="0"/>
              </a:spcBef>
              <a:buNone/>
              <a:defRPr sz="4400" b="1">
                <a:solidFill>
                  <a:schemeClr val="tx1"/>
                </a:solidFill>
                <a:latin typeface="+mj-lt"/>
                <a:ea typeface="+mj-ea"/>
                <a:cs typeface="+mj-cs"/>
              </a:defRPr>
            </a:lvl1pPr>
          </a:lstStyle>
          <a:p>
            <a:pPr>
              <a:defRPr/>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SUPER ADMIN</a:t>
            </a:r>
          </a:p>
        </p:txBody>
      </p:sp>
      <p:sp>
        <p:nvSpPr>
          <p:cNvPr id="18" name="Title 1">
            <a:extLst>
              <a:ext uri="{FF2B5EF4-FFF2-40B4-BE49-F238E27FC236}">
                <a16:creationId xmlns:a16="http://schemas.microsoft.com/office/drawing/2014/main" id="{A3DE72A7-464A-1788-78AC-766815117CC8}"/>
              </a:ext>
            </a:extLst>
          </p:cNvPr>
          <p:cNvSpPr txBox="1">
            <a:spLocks/>
          </p:cNvSpPr>
          <p:nvPr/>
        </p:nvSpPr>
        <p:spPr bwMode="auto">
          <a:xfrm>
            <a:off x="2290904" y="4432083"/>
            <a:ext cx="3057834" cy="667379"/>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1. Create/ Edit/Suspend Users</a:t>
            </a:r>
          </a:p>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2. Configure Roles &amp; Permissions</a:t>
            </a:r>
          </a:p>
        </p:txBody>
      </p:sp>
      <p:sp>
        <p:nvSpPr>
          <p:cNvPr id="21" name="Title 1">
            <a:extLst>
              <a:ext uri="{FF2B5EF4-FFF2-40B4-BE49-F238E27FC236}">
                <a16:creationId xmlns:a16="http://schemas.microsoft.com/office/drawing/2014/main" id="{14D41D5C-50DA-0CB7-9442-2A283B50C554}"/>
              </a:ext>
            </a:extLst>
          </p:cNvPr>
          <p:cNvSpPr txBox="1">
            <a:spLocks/>
          </p:cNvSpPr>
          <p:nvPr/>
        </p:nvSpPr>
        <p:spPr bwMode="auto">
          <a:xfrm>
            <a:off x="5368412" y="1028698"/>
            <a:ext cx="3057834" cy="689487"/>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3. Submit Loan Application</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4. System validates data</a:t>
            </a:r>
          </a:p>
        </p:txBody>
      </p:sp>
      <p:sp>
        <p:nvSpPr>
          <p:cNvPr id="22" name="Title 1">
            <a:extLst>
              <a:ext uri="{FF2B5EF4-FFF2-40B4-BE49-F238E27FC236}">
                <a16:creationId xmlns:a16="http://schemas.microsoft.com/office/drawing/2014/main" id="{35140EEE-6934-F139-C67B-174AA6D6CC07}"/>
              </a:ext>
            </a:extLst>
          </p:cNvPr>
          <p:cNvSpPr txBox="1">
            <a:spLocks/>
          </p:cNvSpPr>
          <p:nvPr/>
        </p:nvSpPr>
        <p:spPr bwMode="auto">
          <a:xfrm>
            <a:off x="8426244" y="1043103"/>
            <a:ext cx="3057834" cy="689487"/>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5. Status set to 'Pending Review'</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6. Entity Leader notified</a:t>
            </a:r>
          </a:p>
        </p:txBody>
      </p:sp>
      <p:sp>
        <p:nvSpPr>
          <p:cNvPr id="23" name="Title 1">
            <a:extLst>
              <a:ext uri="{FF2B5EF4-FFF2-40B4-BE49-F238E27FC236}">
                <a16:creationId xmlns:a16="http://schemas.microsoft.com/office/drawing/2014/main" id="{7334CF62-1C84-2DCB-DB8E-B3992889852F}"/>
              </a:ext>
            </a:extLst>
          </p:cNvPr>
          <p:cNvSpPr txBox="1">
            <a:spLocks/>
          </p:cNvSpPr>
          <p:nvPr/>
        </p:nvSpPr>
        <p:spPr bwMode="auto">
          <a:xfrm>
            <a:off x="5368410" y="1673520"/>
            <a:ext cx="3057834" cy="689487"/>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lvl="0" algn="just"/>
            <a:endPar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3. Submit Loan Application</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4. System validates data</a:t>
            </a:r>
          </a:p>
        </p:txBody>
      </p:sp>
      <p:sp>
        <p:nvSpPr>
          <p:cNvPr id="24" name="Title 1">
            <a:extLst>
              <a:ext uri="{FF2B5EF4-FFF2-40B4-BE49-F238E27FC236}">
                <a16:creationId xmlns:a16="http://schemas.microsoft.com/office/drawing/2014/main" id="{7F955FAC-2DB0-EE12-E94A-67AF65B4B658}"/>
              </a:ext>
            </a:extLst>
          </p:cNvPr>
          <p:cNvSpPr txBox="1">
            <a:spLocks/>
          </p:cNvSpPr>
          <p:nvPr/>
        </p:nvSpPr>
        <p:spPr bwMode="auto">
          <a:xfrm>
            <a:off x="8426242" y="1687925"/>
            <a:ext cx="3057834" cy="689487"/>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5. Status set to 'Pending Review'</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6. Entity Leader notified</a:t>
            </a:r>
          </a:p>
        </p:txBody>
      </p:sp>
      <p:sp>
        <p:nvSpPr>
          <p:cNvPr id="25" name="Title 1">
            <a:extLst>
              <a:ext uri="{FF2B5EF4-FFF2-40B4-BE49-F238E27FC236}">
                <a16:creationId xmlns:a16="http://schemas.microsoft.com/office/drawing/2014/main" id="{FAA8EE22-44B6-06F3-4D5E-5C82C0D403FB}"/>
              </a:ext>
            </a:extLst>
          </p:cNvPr>
          <p:cNvSpPr txBox="1">
            <a:spLocks/>
          </p:cNvSpPr>
          <p:nvPr/>
        </p:nvSpPr>
        <p:spPr bwMode="auto">
          <a:xfrm>
            <a:off x="5368406" y="2370101"/>
            <a:ext cx="3057834" cy="689487"/>
          </a:xfrm>
          <a:prstGeom prst="rect">
            <a:avLst/>
          </a:prstGeom>
          <a:solidFill>
            <a:schemeClr val="accent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lvl="0" algn="just"/>
            <a:endPar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3. Upload Proof /Voucher</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4. Submit Request</a:t>
            </a:r>
          </a:p>
        </p:txBody>
      </p:sp>
      <p:sp>
        <p:nvSpPr>
          <p:cNvPr id="26" name="Title 1">
            <a:extLst>
              <a:ext uri="{FF2B5EF4-FFF2-40B4-BE49-F238E27FC236}">
                <a16:creationId xmlns:a16="http://schemas.microsoft.com/office/drawing/2014/main" id="{31A12801-AD47-51C6-0915-7CAD4EC8A9E2}"/>
              </a:ext>
            </a:extLst>
          </p:cNvPr>
          <p:cNvSpPr txBox="1">
            <a:spLocks/>
          </p:cNvSpPr>
          <p:nvPr/>
        </p:nvSpPr>
        <p:spPr bwMode="auto">
          <a:xfrm>
            <a:off x="8426234" y="3052496"/>
            <a:ext cx="3057834" cy="689487"/>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5. Status = ‘Disbursed'</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6. Repayment Schedule Activated</a:t>
            </a:r>
          </a:p>
        </p:txBody>
      </p:sp>
      <p:sp>
        <p:nvSpPr>
          <p:cNvPr id="27" name="Title 1">
            <a:extLst>
              <a:ext uri="{FF2B5EF4-FFF2-40B4-BE49-F238E27FC236}">
                <a16:creationId xmlns:a16="http://schemas.microsoft.com/office/drawing/2014/main" id="{3D00FFC4-F869-B37A-D59A-FF037353A7E4}"/>
              </a:ext>
            </a:extLst>
          </p:cNvPr>
          <p:cNvSpPr txBox="1">
            <a:spLocks/>
          </p:cNvSpPr>
          <p:nvPr/>
        </p:nvSpPr>
        <p:spPr bwMode="auto">
          <a:xfrm>
            <a:off x="5368406" y="3052496"/>
            <a:ext cx="3057834" cy="689487"/>
          </a:xfrm>
          <a:prstGeom prst="rect">
            <a:avLst/>
          </a:prstGeom>
          <a:solidFill>
            <a:schemeClr val="accent4"/>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3. Decision: Approve or Reject</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4. If Approve</a:t>
            </a:r>
            <a:r>
              <a:rPr lang="en-US" sz="900" dirty="0">
                <a:solidFill>
                  <a:schemeClr val="bg1"/>
                </a:solidFill>
              </a:rPr>
              <a:t> → </a:t>
            </a: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Trigger Fund Release (MNO/Bank)</a:t>
            </a:r>
          </a:p>
        </p:txBody>
      </p:sp>
      <p:sp>
        <p:nvSpPr>
          <p:cNvPr id="28" name="Title 1">
            <a:extLst>
              <a:ext uri="{FF2B5EF4-FFF2-40B4-BE49-F238E27FC236}">
                <a16:creationId xmlns:a16="http://schemas.microsoft.com/office/drawing/2014/main" id="{FEC61854-B794-5356-0FE8-32E8C3EDC733}"/>
              </a:ext>
            </a:extLst>
          </p:cNvPr>
          <p:cNvSpPr txBox="1">
            <a:spLocks/>
          </p:cNvSpPr>
          <p:nvPr/>
        </p:nvSpPr>
        <p:spPr bwMode="auto">
          <a:xfrm>
            <a:off x="8426234" y="2368543"/>
            <a:ext cx="3057834" cy="689487"/>
          </a:xfrm>
          <a:prstGeom prst="rect">
            <a:avLst/>
          </a:prstGeom>
          <a:solidFill>
            <a:schemeClr val="accent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5. Status set to ‘Disbursement Pending  Approval'</a:t>
            </a:r>
          </a:p>
          <a:p>
            <a:pPr marL="171450" lvl="0" indent="-171450" algn="just">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6. Entity Leader notified</a:t>
            </a:r>
          </a:p>
        </p:txBody>
      </p:sp>
      <p:sp>
        <p:nvSpPr>
          <p:cNvPr id="29" name="Title 1">
            <a:extLst>
              <a:ext uri="{FF2B5EF4-FFF2-40B4-BE49-F238E27FC236}">
                <a16:creationId xmlns:a16="http://schemas.microsoft.com/office/drawing/2014/main" id="{24413722-E52A-064C-3E97-DE5041FF92A6}"/>
              </a:ext>
            </a:extLst>
          </p:cNvPr>
          <p:cNvSpPr txBox="1">
            <a:spLocks/>
          </p:cNvSpPr>
          <p:nvPr/>
        </p:nvSpPr>
        <p:spPr bwMode="auto">
          <a:xfrm>
            <a:off x="5368406" y="3747160"/>
            <a:ext cx="3057834" cy="689487"/>
          </a:xfrm>
          <a:prstGeom prst="rect">
            <a:avLst/>
          </a:prstGeom>
          <a:solidFill>
            <a:schemeClr val="accent5">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3. Record Payment (Amount , Date, Method)</a:t>
            </a:r>
          </a:p>
          <a:p>
            <a:pPr marL="171450" lvl="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4. System updates balances &amp; next due date</a:t>
            </a:r>
          </a:p>
        </p:txBody>
      </p:sp>
      <p:sp>
        <p:nvSpPr>
          <p:cNvPr id="30" name="Title 1">
            <a:extLst>
              <a:ext uri="{FF2B5EF4-FFF2-40B4-BE49-F238E27FC236}">
                <a16:creationId xmlns:a16="http://schemas.microsoft.com/office/drawing/2014/main" id="{A6680958-C466-FDC9-59A9-52F71B5FF778}"/>
              </a:ext>
            </a:extLst>
          </p:cNvPr>
          <p:cNvSpPr txBox="1">
            <a:spLocks/>
          </p:cNvSpPr>
          <p:nvPr/>
        </p:nvSpPr>
        <p:spPr bwMode="auto">
          <a:xfrm>
            <a:off x="8426238" y="3761565"/>
            <a:ext cx="3057834" cy="689487"/>
          </a:xfrm>
          <a:prstGeom prst="rect">
            <a:avLst/>
          </a:prstGeom>
          <a:solidFill>
            <a:schemeClr val="accent5">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5. If Fully Paid</a:t>
            </a:r>
            <a:r>
              <a:rPr lang="en-US" sz="900" dirty="0">
                <a:solidFill>
                  <a:schemeClr val="bg1"/>
                </a:solidFill>
              </a:rPr>
              <a:t> → </a:t>
            </a: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Loan Closed</a:t>
            </a:r>
          </a:p>
          <a:p>
            <a:pPr marL="171450" lvl="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6. Receipt sent to customer</a:t>
            </a:r>
          </a:p>
        </p:txBody>
      </p:sp>
      <p:sp>
        <p:nvSpPr>
          <p:cNvPr id="33" name="Title 1">
            <a:extLst>
              <a:ext uri="{FF2B5EF4-FFF2-40B4-BE49-F238E27FC236}">
                <a16:creationId xmlns:a16="http://schemas.microsoft.com/office/drawing/2014/main" id="{9BD3A1F7-8C7A-212D-4033-1507AA2EFADF}"/>
              </a:ext>
            </a:extLst>
          </p:cNvPr>
          <p:cNvSpPr txBox="1">
            <a:spLocks/>
          </p:cNvSpPr>
          <p:nvPr/>
        </p:nvSpPr>
        <p:spPr bwMode="auto">
          <a:xfrm>
            <a:off x="5368404" y="4451052"/>
            <a:ext cx="3057834" cy="647195"/>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3. Setup Loan Products &amp; Charges</a:t>
            </a:r>
          </a:p>
          <a:p>
            <a:pPr marL="171450" lvl="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4. Configure Global Settings (Penalties , charges, Grace periods) etc.</a:t>
            </a:r>
          </a:p>
        </p:txBody>
      </p:sp>
      <p:sp>
        <p:nvSpPr>
          <p:cNvPr id="34" name="Title 1">
            <a:extLst>
              <a:ext uri="{FF2B5EF4-FFF2-40B4-BE49-F238E27FC236}">
                <a16:creationId xmlns:a16="http://schemas.microsoft.com/office/drawing/2014/main" id="{28A9BF2E-59AB-8B06-50BE-DDD5F9E74E21}"/>
              </a:ext>
            </a:extLst>
          </p:cNvPr>
          <p:cNvSpPr txBox="1">
            <a:spLocks/>
          </p:cNvSpPr>
          <p:nvPr/>
        </p:nvSpPr>
        <p:spPr bwMode="auto">
          <a:xfrm>
            <a:off x="8426236" y="4465458"/>
            <a:ext cx="3057834" cy="646274"/>
          </a:xfrm>
          <a:prstGeom prst="rect">
            <a:avLst/>
          </a:prstGeom>
          <a:solidFill>
            <a:schemeClr val="accent6">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5. View Logs  &amp; Reports</a:t>
            </a:r>
          </a:p>
          <a:p>
            <a:pPr marL="171450" lvl="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6. Override Decisions ( with Audit Trail)</a:t>
            </a:r>
          </a:p>
        </p:txBody>
      </p:sp>
      <p:sp>
        <p:nvSpPr>
          <p:cNvPr id="37" name="Title 1">
            <a:extLst>
              <a:ext uri="{FF2B5EF4-FFF2-40B4-BE49-F238E27FC236}">
                <a16:creationId xmlns:a16="http://schemas.microsoft.com/office/drawing/2014/main" id="{0FFC068B-DC74-1B69-372B-D99F2BFF1B38}"/>
              </a:ext>
            </a:extLst>
          </p:cNvPr>
          <p:cNvSpPr txBox="1">
            <a:spLocks/>
          </p:cNvSpPr>
          <p:nvPr/>
        </p:nvSpPr>
        <p:spPr bwMode="auto">
          <a:xfrm>
            <a:off x="875064" y="5093568"/>
            <a:ext cx="1435509" cy="503904"/>
          </a:xfrm>
          <a:prstGeom prst="rect">
            <a:avLst/>
          </a:prstGeom>
          <a:solidFill>
            <a:schemeClr val="tx2">
              <a:lumMod val="50000"/>
            </a:schemeClr>
          </a:solidFill>
          <a:ln>
            <a:solidFill>
              <a:schemeClr val="tx2"/>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Autofit/>
          </a:bodyPr>
          <a:lstStyle>
            <a:lvl1pPr algn="ctr" defTabSz="914400" rtl="0">
              <a:spcBef>
                <a:spcPts val="0"/>
              </a:spcBef>
              <a:buNone/>
              <a:defRPr sz="4400" b="1">
                <a:solidFill>
                  <a:schemeClr val="tx1"/>
                </a:solidFill>
                <a:latin typeface="+mj-lt"/>
                <a:ea typeface="+mj-ea"/>
                <a:cs typeface="+mj-cs"/>
              </a:defRPr>
            </a:lvl1pPr>
          </a:lstStyle>
          <a:p>
            <a:pPr>
              <a:defRPr/>
            </a:pPr>
            <a:r>
              <a:rPr lang="en-US" sz="1200" dirty="0">
                <a:solidFill>
                  <a:schemeClr val="bg1"/>
                </a:solidFill>
                <a:latin typeface="Calibri" panose="020F0502020204030204" pitchFamily="34" charset="0"/>
                <a:ea typeface="Calibri" panose="020F0502020204030204" pitchFamily="34" charset="0"/>
                <a:cs typeface="Calibri" panose="020F0502020204030204" pitchFamily="34" charset="0"/>
              </a:rPr>
              <a:t>REPORTING &amp; ANALYTICS</a:t>
            </a:r>
          </a:p>
        </p:txBody>
      </p:sp>
      <p:sp>
        <p:nvSpPr>
          <p:cNvPr id="38" name="Title 1">
            <a:extLst>
              <a:ext uri="{FF2B5EF4-FFF2-40B4-BE49-F238E27FC236}">
                <a16:creationId xmlns:a16="http://schemas.microsoft.com/office/drawing/2014/main" id="{F85EE2FB-9907-4678-0295-1197BEFEE34D}"/>
              </a:ext>
            </a:extLst>
          </p:cNvPr>
          <p:cNvSpPr txBox="1">
            <a:spLocks/>
          </p:cNvSpPr>
          <p:nvPr/>
        </p:nvSpPr>
        <p:spPr bwMode="auto">
          <a:xfrm>
            <a:off x="2290904" y="5100256"/>
            <a:ext cx="3057834" cy="667379"/>
          </a:xfrm>
          <a:prstGeom prst="rect">
            <a:avLst/>
          </a:prstGeom>
          <a:solidFill>
            <a:schemeClr val="tx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1. Loan Portfolio Reports</a:t>
            </a:r>
          </a:p>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2. Financial Performance Reports</a:t>
            </a:r>
          </a:p>
        </p:txBody>
      </p:sp>
      <p:sp>
        <p:nvSpPr>
          <p:cNvPr id="39" name="Title 1">
            <a:extLst>
              <a:ext uri="{FF2B5EF4-FFF2-40B4-BE49-F238E27FC236}">
                <a16:creationId xmlns:a16="http://schemas.microsoft.com/office/drawing/2014/main" id="{5583BF44-AFA2-69A9-75B3-94A30FF51D79}"/>
              </a:ext>
            </a:extLst>
          </p:cNvPr>
          <p:cNvSpPr txBox="1">
            <a:spLocks/>
          </p:cNvSpPr>
          <p:nvPr/>
        </p:nvSpPr>
        <p:spPr bwMode="auto">
          <a:xfrm>
            <a:off x="5368404" y="5119225"/>
            <a:ext cx="3057834" cy="647195"/>
          </a:xfrm>
          <a:prstGeom prst="rect">
            <a:avLst/>
          </a:prstGeom>
          <a:solidFill>
            <a:schemeClr val="tx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3. Customer Analytics</a:t>
            </a:r>
          </a:p>
          <a:p>
            <a:pPr marL="171450" lvl="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4. Transaction Summaries</a:t>
            </a:r>
          </a:p>
        </p:txBody>
      </p:sp>
      <p:sp>
        <p:nvSpPr>
          <p:cNvPr id="40" name="Title 1">
            <a:extLst>
              <a:ext uri="{FF2B5EF4-FFF2-40B4-BE49-F238E27FC236}">
                <a16:creationId xmlns:a16="http://schemas.microsoft.com/office/drawing/2014/main" id="{BB733365-343E-5F7B-E16F-62C008D468FD}"/>
              </a:ext>
            </a:extLst>
          </p:cNvPr>
          <p:cNvSpPr txBox="1">
            <a:spLocks/>
          </p:cNvSpPr>
          <p:nvPr/>
        </p:nvSpPr>
        <p:spPr bwMode="auto">
          <a:xfrm>
            <a:off x="8426236" y="5133631"/>
            <a:ext cx="3057834" cy="646274"/>
          </a:xfrm>
          <a:prstGeom prst="rect">
            <a:avLst/>
          </a:prstGeom>
          <a:solidFill>
            <a:schemeClr val="tx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171450" indent="-171450" algn="l">
              <a:buFont typeface="Wingdings" panose="05000000000000000000" pitchFamily="2" charset="2"/>
              <a:buChar char="ü"/>
            </a:pPr>
            <a:r>
              <a:rPr 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5. Compliance &amp; Audit Reports</a:t>
            </a:r>
          </a:p>
        </p:txBody>
      </p:sp>
    </p:spTree>
    <p:extLst>
      <p:ext uri="{BB962C8B-B14F-4D97-AF65-F5344CB8AC3E}">
        <p14:creationId xmlns:p14="http://schemas.microsoft.com/office/powerpoint/2010/main" val="2456980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68231977" name="Title 1"/>
          <p:cNvSpPr>
            <a:spLocks noGrp="1"/>
          </p:cNvSpPr>
          <p:nvPr>
            <p:ph type="title"/>
          </p:nvPr>
        </p:nvSpPr>
        <p:spPr bwMode="auto"/>
        <p:txBody>
          <a:bodyPr>
            <a:normAutofit/>
          </a:bodyPr>
          <a:lstStyle/>
          <a:p>
            <a:pPr>
              <a:defRPr/>
            </a:pPr>
            <a:r>
              <a:rPr lang="en-US" sz="2200" b="1" i="0" u="none" strike="noStrike" cap="none" spc="0" dirty="0">
                <a:solidFill>
                  <a:schemeClr val="bg1"/>
                </a:solidFill>
                <a:latin typeface="+mj-lt"/>
                <a:ea typeface="+mj-ea"/>
                <a:cs typeface="+mj-cs"/>
              </a:rPr>
              <a:t>1.Sales Agent Loan Submission(To Be)</a:t>
            </a:r>
          </a:p>
        </p:txBody>
      </p:sp>
      <p:sp>
        <p:nvSpPr>
          <p:cNvPr id="1255232148" name="Content Placeholder 2"/>
          <p:cNvSpPr>
            <a:spLocks noGrp="1"/>
          </p:cNvSpPr>
          <p:nvPr>
            <p:ph idx="1"/>
          </p:nvPr>
        </p:nvSpPr>
        <p:spPr bwMode="auto"/>
        <p:txBody>
          <a:bodyPr>
            <a:normAutofit/>
          </a:bodyPr>
          <a:lstStyle/>
          <a:p>
            <a:pPr marL="0" indent="0">
              <a:buFont typeface="Arial"/>
              <a:buNone/>
              <a:defRPr/>
            </a:pPr>
            <a:r>
              <a:rPr lang="en-US" sz="2200" b="0" i="0" u="none" strike="noStrike" cap="none" spc="0" dirty="0">
                <a:solidFill>
                  <a:schemeClr val="bg1"/>
                </a:solidFill>
                <a:latin typeface="+mn-lt"/>
                <a:ea typeface="+mn-ea"/>
                <a:cs typeface="+mn-cs"/>
              </a:rPr>
              <a:t>Actor: Sales Agent</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1. Login to system</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2. Register Vendor (Capture KYC + Upload Documents)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3. Submit Loan Application</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4. System validates data</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5. Status set to 'Pending Review'</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6. Entity Leader notified</a:t>
            </a:r>
            <a:endParaRPr sz="2200" dirty="0"/>
          </a:p>
          <a:p>
            <a:pPr>
              <a:defRPr/>
            </a:pPr>
            <a:endParaRPr sz="2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05219194" name="Title 1"/>
          <p:cNvSpPr>
            <a:spLocks noGrp="1"/>
          </p:cNvSpPr>
          <p:nvPr>
            <p:ph type="title"/>
          </p:nvPr>
        </p:nvSpPr>
        <p:spPr bwMode="auto"/>
        <p:txBody>
          <a:bodyPr>
            <a:normAutofit/>
          </a:bodyPr>
          <a:lstStyle/>
          <a:p>
            <a:pPr>
              <a:defRPr/>
            </a:pPr>
            <a:r>
              <a:rPr sz="2200" b="1" dirty="0">
                <a:solidFill>
                  <a:schemeClr val="bg1"/>
                </a:solidFill>
              </a:rPr>
              <a:t>2.</a:t>
            </a:r>
            <a:r>
              <a:rPr lang="en-US" sz="2200" b="1" i="0" u="none" strike="noStrike" cap="none" spc="0" dirty="0">
                <a:solidFill>
                  <a:schemeClr val="bg1"/>
                </a:solidFill>
                <a:latin typeface="+mj-lt"/>
                <a:ea typeface="+mj-ea"/>
                <a:cs typeface="+mj-cs"/>
              </a:rPr>
              <a:t>Entity Leader Review Process</a:t>
            </a:r>
            <a:r>
              <a:rPr lang="en-US" sz="2200" dirty="0">
                <a:solidFill>
                  <a:schemeClr val="bg1"/>
                </a:solidFill>
              </a:rPr>
              <a:t>(To Be)</a:t>
            </a:r>
            <a:endParaRPr sz="2200" b="1" dirty="0">
              <a:solidFill>
                <a:schemeClr val="bg1"/>
              </a:solidFill>
            </a:endParaRPr>
          </a:p>
        </p:txBody>
      </p:sp>
      <p:sp>
        <p:nvSpPr>
          <p:cNvPr id="1625014495" name="Content Placeholder 2"/>
          <p:cNvSpPr>
            <a:spLocks noGrp="1"/>
          </p:cNvSpPr>
          <p:nvPr>
            <p:ph idx="1"/>
          </p:nvPr>
        </p:nvSpPr>
        <p:spPr bwMode="auto"/>
        <p:txBody>
          <a:bodyPr>
            <a:normAutofit/>
          </a:bodyPr>
          <a:lstStyle/>
          <a:p>
            <a:pPr marL="0" indent="0">
              <a:buFont typeface="Wingdings"/>
              <a:buNone/>
              <a:defRPr/>
            </a:pPr>
            <a:r>
              <a:rPr lang="en-US" sz="2200" b="0" i="0" u="none" strike="noStrike" cap="none" spc="0" dirty="0">
                <a:solidFill>
                  <a:schemeClr val="bg1"/>
                </a:solidFill>
                <a:latin typeface="+mn-lt"/>
                <a:ea typeface="+mn-ea"/>
                <a:cs typeface="+mn-cs"/>
              </a:rPr>
              <a:t>Actor: Entity Leader</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1. Receive notification</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2. Review KYC and Loan Details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3. Decision: Recommend or Reject</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4. If Recommend → Status = 'Recommended'</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5. If Reject → Status = 'Rejected'</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6. Notify Finance Officer or Sales Agent</a:t>
            </a:r>
            <a:endParaRPr sz="2200" dirty="0">
              <a:solidFill>
                <a:schemeClr val="bg1"/>
              </a:solidFill>
            </a:endParaRPr>
          </a:p>
          <a:p>
            <a:pPr>
              <a:buFont typeface="Wingdings"/>
              <a:buChar char="Ø"/>
              <a:defRPr/>
            </a:pPr>
            <a:endParaRPr sz="22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98675185"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mj-lt"/>
                <a:ea typeface="+mj-ea"/>
                <a:cs typeface="+mj-cs"/>
              </a:rPr>
              <a:t>3.Finance Officer Disbursement Initiation</a:t>
            </a:r>
            <a:r>
              <a:rPr lang="en-US" sz="2200" dirty="0">
                <a:solidFill>
                  <a:schemeClr val="bg1"/>
                </a:solidFill>
              </a:rPr>
              <a:t>(To Be)</a:t>
            </a:r>
            <a:endParaRPr sz="2200" dirty="0">
              <a:solidFill>
                <a:schemeClr val="bg1"/>
              </a:solidFill>
            </a:endParaRPr>
          </a:p>
        </p:txBody>
      </p:sp>
      <p:sp>
        <p:nvSpPr>
          <p:cNvPr id="1757925279" name="Content Placeholder 2"/>
          <p:cNvSpPr>
            <a:spLocks noGrp="1"/>
          </p:cNvSpPr>
          <p:nvPr>
            <p:ph idx="1"/>
          </p:nvPr>
        </p:nvSpPr>
        <p:spPr bwMode="auto">
          <a:xfrm>
            <a:off x="609599" y="1417638"/>
            <a:ext cx="10972800" cy="4525962"/>
          </a:xfrm>
        </p:spPr>
        <p:txBody>
          <a:bodyPr>
            <a:normAutofit/>
          </a:bodyPr>
          <a:lstStyle/>
          <a:p>
            <a:pPr marL="0" indent="0">
              <a:buFont typeface="Wingdings"/>
              <a:buNone/>
              <a:defRPr/>
            </a:pPr>
            <a:r>
              <a:rPr lang="en-US" sz="2200" b="1" i="0" u="none" strike="noStrike" cap="none" spc="0" dirty="0">
                <a:solidFill>
                  <a:schemeClr val="bg1"/>
                </a:solidFill>
                <a:latin typeface="+mn-lt"/>
                <a:ea typeface="+mn-ea"/>
                <a:cs typeface="+mn-cs"/>
              </a:rPr>
              <a:t> Actor: Finance Officer (Maker)</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1. View Recommended Loans</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2. Enter Disbursement Details</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3. Upload Proof / Voucher</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4. Submit Request</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5. Status = 'Disbursement Pending Approval'</a:t>
            </a:r>
            <a:endParaRPr lang="en-US" sz="2200" b="1" i="0" u="none" strike="noStrike" cap="none" spc="0" dirty="0">
              <a:solidFill>
                <a:schemeClr val="bg1"/>
              </a:solidFill>
              <a:latin typeface="Times New Roman"/>
              <a:cs typeface="Times New Roman"/>
            </a:endParaRPr>
          </a:p>
          <a:p>
            <a:pPr lvl="1">
              <a:buFont typeface="Wingdings"/>
              <a:buChar char="Ø"/>
              <a:defRPr/>
            </a:pPr>
            <a:r>
              <a:rPr lang="en-US" sz="2200" b="1" i="0" u="none" strike="noStrike" cap="none" spc="0" dirty="0">
                <a:solidFill>
                  <a:schemeClr val="bg1"/>
                </a:solidFill>
                <a:latin typeface="Arial"/>
                <a:ea typeface="Arial"/>
                <a:cs typeface="Arial"/>
              </a:rPr>
              <a:t>6. Notify Finance Manager</a:t>
            </a:r>
            <a:endParaRPr sz="2200" b="1"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00616385"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mj-lt"/>
                <a:ea typeface="+mj-ea"/>
                <a:cs typeface="+mj-cs"/>
              </a:rPr>
              <a:t>4: Finance Manager Approval (Checker)</a:t>
            </a:r>
            <a:br>
              <a:rPr sz="2200" dirty="0">
                <a:solidFill>
                  <a:schemeClr val="bg1"/>
                </a:solidFill>
              </a:rPr>
            </a:br>
            <a:r>
              <a:rPr sz="2200" dirty="0">
                <a:solidFill>
                  <a:schemeClr val="bg1"/>
                </a:solidFill>
              </a:rPr>
              <a:t>(To be)</a:t>
            </a:r>
          </a:p>
        </p:txBody>
      </p:sp>
      <p:sp>
        <p:nvSpPr>
          <p:cNvPr id="852354526" name="Content Placeholder 2"/>
          <p:cNvSpPr>
            <a:spLocks noGrp="1"/>
          </p:cNvSpPr>
          <p:nvPr>
            <p:ph idx="1"/>
          </p:nvPr>
        </p:nvSpPr>
        <p:spPr bwMode="auto"/>
        <p:txBody>
          <a:bodyPr>
            <a:normAutofit/>
          </a:bodyPr>
          <a:lstStyle/>
          <a:p>
            <a:pPr marL="0" indent="0">
              <a:buFont typeface="Arial"/>
              <a:buNone/>
              <a:defRPr/>
            </a:pPr>
            <a:r>
              <a:rPr lang="en-US" sz="2200" b="1" i="0" u="none" strike="noStrike" cap="none" spc="0" dirty="0">
                <a:solidFill>
                  <a:schemeClr val="bg1"/>
                </a:solidFill>
                <a:latin typeface="+mn-lt"/>
                <a:ea typeface="+mn-ea"/>
                <a:cs typeface="+mn-cs"/>
              </a:rPr>
              <a:t>Actor: Finance Manager</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1. Review Disbursement Request</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2. Verify compliance &amp; documentation</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3. Decision: Approve or Reject</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4. If Approve → Trigger Fund Release (MNO/Bank)</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5. Status = 'Disbursed'</a:t>
            </a:r>
            <a:endParaRPr sz="2200" b="1" dirty="0">
              <a:solidFill>
                <a:schemeClr val="bg1"/>
              </a:solidFill>
            </a:endParaRPr>
          </a:p>
          <a:p>
            <a:pPr lvl="1">
              <a:buFont typeface="Wingdings"/>
              <a:buChar char="Ø"/>
              <a:defRPr/>
            </a:pPr>
            <a:r>
              <a:rPr lang="en-US" sz="2200" b="1" i="0" u="none" strike="noStrike" cap="none" spc="0" dirty="0">
                <a:solidFill>
                  <a:schemeClr val="bg1"/>
                </a:solidFill>
                <a:latin typeface="+mn-lt"/>
                <a:ea typeface="+mn-ea"/>
                <a:cs typeface="+mn-cs"/>
              </a:rPr>
              <a:t>6. Repayment Schedule Activated</a:t>
            </a:r>
            <a:endParaRPr sz="2200" b="1" dirty="0">
              <a:solidFill>
                <a:schemeClr val="bg1"/>
              </a:solidFill>
            </a:endParaRPr>
          </a:p>
          <a:p>
            <a:pPr>
              <a:defRPr/>
            </a:pPr>
            <a:endParaRPr sz="22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0849807" name="Title 1"/>
          <p:cNvSpPr>
            <a:spLocks noGrp="1"/>
          </p:cNvSpPr>
          <p:nvPr>
            <p:ph type="title"/>
          </p:nvPr>
        </p:nvSpPr>
        <p:spPr bwMode="auto"/>
        <p:txBody>
          <a:bodyPr>
            <a:normAutofit/>
          </a:bodyPr>
          <a:lstStyle/>
          <a:p>
            <a:pPr>
              <a:defRPr/>
            </a:pPr>
            <a:r>
              <a:rPr lang="en-US" sz="2200" b="1" i="0" u="none" strike="noStrike" cap="none" spc="0" dirty="0">
                <a:solidFill>
                  <a:schemeClr val="bg1"/>
                </a:solidFill>
                <a:latin typeface="+mj-lt"/>
                <a:ea typeface="+mj-ea"/>
                <a:cs typeface="+mj-cs"/>
              </a:rPr>
              <a:t>5: Collection Officer Repayment</a:t>
            </a:r>
            <a:r>
              <a:rPr lang="en-US" sz="2200" dirty="0">
                <a:solidFill>
                  <a:schemeClr val="bg1"/>
                </a:solidFill>
              </a:rPr>
              <a:t>(To Be)</a:t>
            </a:r>
            <a:endParaRPr sz="2200" dirty="0">
              <a:solidFill>
                <a:schemeClr val="bg1"/>
              </a:solidFill>
            </a:endParaRPr>
          </a:p>
        </p:txBody>
      </p:sp>
      <p:sp>
        <p:nvSpPr>
          <p:cNvPr id="598017288" name="Content Placeholder 2"/>
          <p:cNvSpPr>
            <a:spLocks noGrp="1"/>
          </p:cNvSpPr>
          <p:nvPr>
            <p:ph idx="1"/>
          </p:nvPr>
        </p:nvSpPr>
        <p:spPr bwMode="auto"/>
        <p:txBody>
          <a:bodyPr>
            <a:normAutofit/>
          </a:bodyPr>
          <a:lstStyle/>
          <a:p>
            <a:pPr marL="0" indent="0">
              <a:buFont typeface="Arial"/>
              <a:buNone/>
              <a:defRPr/>
            </a:pPr>
            <a:r>
              <a:rPr lang="en-US" sz="2200" b="0" i="0" u="none" strike="noStrike" cap="none" spc="0" dirty="0">
                <a:solidFill>
                  <a:schemeClr val="bg1"/>
                </a:solidFill>
                <a:latin typeface="+mn-lt"/>
                <a:ea typeface="+mn-ea"/>
                <a:cs typeface="+mn-cs"/>
              </a:rPr>
              <a:t>Actor: Collection Officer</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1. View Assigned Loans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2. Monitor Due &amp; Overdue Accounts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3. Record Payment (Amount, Date, Method)</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4. System updates balance &amp; next due date</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5. If Fully Paid → Loan Closed</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6. Receipt sent to customer</a:t>
            </a:r>
            <a:endParaRPr sz="2200" dirty="0"/>
          </a:p>
          <a:p>
            <a:pPr>
              <a:defRPr/>
            </a:pPr>
            <a:endParaRPr sz="2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24803128" name="Title 1"/>
          <p:cNvSpPr>
            <a:spLocks noGrp="1"/>
          </p:cNvSpPr>
          <p:nvPr>
            <p:ph type="title"/>
          </p:nvPr>
        </p:nvSpPr>
        <p:spPr bwMode="auto"/>
        <p:txBody>
          <a:bodyPr>
            <a:normAutofit/>
          </a:bodyPr>
          <a:lstStyle/>
          <a:p>
            <a:pPr>
              <a:defRPr/>
            </a:pPr>
            <a:r>
              <a:rPr lang="en-US" sz="2200" b="1" i="0" u="none" strike="noStrike" cap="none" spc="0" dirty="0">
                <a:solidFill>
                  <a:schemeClr val="bg1"/>
                </a:solidFill>
                <a:latin typeface="+mj-lt"/>
                <a:ea typeface="+mj-ea"/>
                <a:cs typeface="+mj-cs"/>
              </a:rPr>
              <a:t>6: Super Admin Management(To be)</a:t>
            </a:r>
            <a:endParaRPr sz="2200" dirty="0">
              <a:solidFill>
                <a:schemeClr val="bg1"/>
              </a:solidFill>
            </a:endParaRPr>
          </a:p>
        </p:txBody>
      </p:sp>
      <p:sp>
        <p:nvSpPr>
          <p:cNvPr id="229561203" name="Content Placeholder 2"/>
          <p:cNvSpPr>
            <a:spLocks noGrp="1"/>
          </p:cNvSpPr>
          <p:nvPr>
            <p:ph idx="1"/>
          </p:nvPr>
        </p:nvSpPr>
        <p:spPr bwMode="auto"/>
        <p:txBody>
          <a:bodyPr>
            <a:normAutofit/>
          </a:bodyPr>
          <a:lstStyle/>
          <a:p>
            <a:pPr marL="0" indent="0">
              <a:buFont typeface="Arial"/>
              <a:buNone/>
              <a:defRPr/>
            </a:pPr>
            <a:r>
              <a:rPr lang="en-US" sz="2200" b="0" i="0" u="none" strike="noStrike" cap="none" spc="0" dirty="0">
                <a:solidFill>
                  <a:schemeClr val="bg1"/>
                </a:solidFill>
                <a:latin typeface="+mn-lt"/>
                <a:ea typeface="+mn-ea"/>
                <a:cs typeface="+mn-cs"/>
              </a:rPr>
              <a:t>Actor: Super Admin</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1. Create/Edit/Suspend Users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2. Configure Roles &amp; Permissions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3. Setup Loan Products &amp; Charges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4. Configure Global Settings (Penalties, Grace Periods)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5. View Logs &amp; Reports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6. Override Decisions (with Audit Trail)</a:t>
            </a:r>
            <a:endParaRPr sz="2200" dirty="0">
              <a:solidFill>
                <a:schemeClr val="bg1"/>
              </a:solidFill>
            </a:endParaRPr>
          </a:p>
          <a:p>
            <a:pPr>
              <a:defRPr/>
            </a:pPr>
            <a:endParaRPr sz="22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12659122"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br>
              <a:rPr lang="en-US" sz="2200" b="1" i="0" u="none" strike="noStrike" cap="none" spc="0" dirty="0">
                <a:solidFill>
                  <a:schemeClr val="bg1"/>
                </a:solidFill>
                <a:latin typeface="+mj-lt"/>
                <a:ea typeface="+mj-ea"/>
                <a:cs typeface="+mj-cs"/>
              </a:rPr>
            </a:br>
            <a:r>
              <a:rPr lang="en-US" sz="2200" b="1" i="0" u="none" strike="noStrike" cap="none" spc="0" dirty="0">
                <a:solidFill>
                  <a:schemeClr val="bg1"/>
                </a:solidFill>
                <a:latin typeface="+mj-lt"/>
                <a:ea typeface="+mj-ea"/>
                <a:cs typeface="+mj-cs"/>
              </a:rPr>
              <a:t>Reporting &amp; Analytics( To be)</a:t>
            </a:r>
            <a:endParaRPr sz="2200" dirty="0">
              <a:solidFill>
                <a:schemeClr val="bg1"/>
              </a:solidFill>
            </a:endParaRPr>
          </a:p>
          <a:p>
            <a:pPr>
              <a:defRPr/>
            </a:pPr>
            <a:endParaRPr sz="2200" dirty="0">
              <a:solidFill>
                <a:schemeClr val="bg1"/>
              </a:solidFill>
            </a:endParaRPr>
          </a:p>
        </p:txBody>
      </p:sp>
      <p:sp>
        <p:nvSpPr>
          <p:cNvPr id="699647801" name="Content Placeholder 2"/>
          <p:cNvSpPr>
            <a:spLocks noGrp="1"/>
          </p:cNvSpPr>
          <p:nvPr>
            <p:ph idx="1"/>
          </p:nvPr>
        </p:nvSpPr>
        <p:spPr bwMode="auto"/>
        <p:txBody>
          <a:bodyPr>
            <a:normAutofit/>
          </a:bodyPr>
          <a:lstStyle/>
          <a:p>
            <a:pPr marL="0" indent="0">
              <a:buFont typeface="Arial"/>
              <a:buNone/>
              <a:defRPr/>
            </a:pPr>
            <a:r>
              <a:rPr lang="en-US" sz="2200" b="0" i="0" u="none" strike="noStrike" cap="none" spc="0" dirty="0">
                <a:solidFill>
                  <a:schemeClr val="bg1"/>
                </a:solidFill>
                <a:latin typeface="+mn-lt"/>
                <a:ea typeface="+mn-ea"/>
                <a:cs typeface="+mn-cs"/>
              </a:rPr>
              <a:t>Loan Portfolio Reports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Financial Performance Reports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Customer Analytics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Transaction Summaries</a:t>
            </a:r>
            <a:endParaRPr sz="2200" dirty="0">
              <a:solidFill>
                <a:schemeClr val="bg1"/>
              </a:solidFill>
            </a:endParaRPr>
          </a:p>
          <a:p>
            <a:pPr lvl="1">
              <a:buFont typeface="Wingdings"/>
              <a:buChar char="Ø"/>
              <a:defRPr/>
            </a:pPr>
            <a:r>
              <a:rPr lang="en-US" sz="2200" b="0" i="0" u="none" strike="noStrike" cap="none" spc="0" dirty="0">
                <a:solidFill>
                  <a:schemeClr val="bg1"/>
                </a:solidFill>
                <a:latin typeface="+mn-lt"/>
                <a:ea typeface="+mn-ea"/>
                <a:cs typeface="+mn-cs"/>
              </a:rPr>
              <a:t>Compliance &amp; Audit Reports</a:t>
            </a:r>
            <a:endParaRPr sz="2200" dirty="0">
              <a:solidFill>
                <a:schemeClr val="bg1"/>
              </a:solidFill>
            </a:endParaRPr>
          </a:p>
          <a:p>
            <a:pPr>
              <a:buFont typeface="Wingdings"/>
              <a:buChar char="Ø"/>
              <a:defRPr/>
            </a:pPr>
            <a:endParaRPr sz="2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7512225" name="Title 1"/>
          <p:cNvSpPr>
            <a:spLocks noGrp="1"/>
          </p:cNvSpPr>
          <p:nvPr>
            <p:ph type="title"/>
          </p:nvPr>
        </p:nvSpPr>
        <p:spPr bwMode="auto"/>
        <p:txBody>
          <a:bodyPr>
            <a:normAutofit/>
          </a:bodyPr>
          <a:lstStyle/>
          <a:p>
            <a:pPr>
              <a:defRPr/>
            </a:pPr>
            <a:r>
              <a:rPr lang="en-US" sz="2200" b="1" i="0" u="none" strike="noStrike" cap="none" spc="0" dirty="0">
                <a:solidFill>
                  <a:schemeClr val="bg1"/>
                </a:solidFill>
                <a:latin typeface="Calibri"/>
                <a:ea typeface="Calibri"/>
                <a:cs typeface="Calibri"/>
              </a:rPr>
              <a:t>KUZA SIMU  </a:t>
            </a:r>
          </a:p>
        </p:txBody>
      </p:sp>
      <p:sp>
        <p:nvSpPr>
          <p:cNvPr id="1610420844" name="Content Placeholder 2"/>
          <p:cNvSpPr>
            <a:spLocks noGrp="1"/>
          </p:cNvSpPr>
          <p:nvPr>
            <p:ph idx="1"/>
          </p:nvPr>
        </p:nvSpPr>
        <p:spPr bwMode="auto"/>
        <p:txBody>
          <a:bodyPr>
            <a:normAutofit/>
          </a:bodyPr>
          <a:lstStyle/>
          <a:p>
            <a:pPr algn="just">
              <a:buFont typeface="Wingdings" panose="05000000000000000000" pitchFamily="2" charset="2"/>
              <a:buChar char="ü"/>
              <a:defRPr/>
            </a:pPr>
            <a:r>
              <a:rPr lang="en-US" sz="2200" b="0" i="0" u="none" strike="noStrike" cap="none" spc="0" dirty="0">
                <a:solidFill>
                  <a:schemeClr val="bg1"/>
                </a:solidFill>
                <a:latin typeface="Calibri"/>
                <a:ea typeface="Calibri"/>
                <a:cs typeface="Calibri"/>
              </a:rPr>
              <a:t>Is developing a lending model targeting low income salaried</a:t>
            </a:r>
            <a:endParaRPr lang="en-US" sz="2200" b="0" i="0" u="none" strike="noStrike" cap="none" spc="0" dirty="0">
              <a:solidFill>
                <a:schemeClr val="bg1"/>
              </a:solidFill>
              <a:latin typeface="Calibri"/>
              <a:cs typeface="Calibri"/>
            </a:endParaRPr>
          </a:p>
          <a:p>
            <a:pPr marL="0" indent="0" algn="just">
              <a:buFont typeface="Arial"/>
              <a:buNone/>
              <a:defRPr/>
            </a:pPr>
            <a:r>
              <a:rPr lang="en-US" sz="2200" b="0" i="0" u="none" strike="noStrike" cap="none" spc="0" dirty="0">
                <a:solidFill>
                  <a:schemeClr val="bg1"/>
                </a:solidFill>
                <a:latin typeface="Calibri"/>
                <a:ea typeface="Calibri"/>
                <a:cs typeface="Calibri"/>
              </a:rPr>
              <a:t>employees in Tanzania. Although the long term goal is to provide phone loans, the business will begin by offering cash loans with:</a:t>
            </a:r>
            <a:endParaRPr lang="en-US" sz="2200" b="0" i="0" u="none" strike="noStrike" cap="none" spc="0" dirty="0">
              <a:solidFill>
                <a:schemeClr val="bg1"/>
              </a:solidFill>
              <a:latin typeface="Calibri"/>
              <a:cs typeface="Calibri"/>
            </a:endParaRPr>
          </a:p>
          <a:p>
            <a:pPr algn="just">
              <a:buFont typeface="Wingdings" panose="05000000000000000000" pitchFamily="2" charset="2"/>
              <a:buChar char="ü"/>
              <a:defRPr/>
            </a:pPr>
            <a:r>
              <a:rPr lang="en-US" sz="2200" b="0" i="0" u="none" strike="noStrike" cap="none" spc="0" dirty="0">
                <a:solidFill>
                  <a:schemeClr val="bg1"/>
                </a:solidFill>
                <a:latin typeface="Calibri"/>
                <a:ea typeface="Calibri"/>
                <a:cs typeface="Calibri"/>
              </a:rPr>
              <a:t>       20% monthly interest, and</a:t>
            </a:r>
            <a:endParaRPr lang="en-US" sz="2200" b="0" i="0" u="none" strike="noStrike" cap="none" spc="0" dirty="0">
              <a:solidFill>
                <a:schemeClr val="bg1"/>
              </a:solidFill>
              <a:latin typeface="Calibri"/>
              <a:cs typeface="Calibri"/>
            </a:endParaRPr>
          </a:p>
          <a:p>
            <a:pPr algn="just">
              <a:buFont typeface="Wingdings" panose="05000000000000000000" pitchFamily="2" charset="2"/>
              <a:buChar char="ü"/>
              <a:defRPr/>
            </a:pPr>
            <a:r>
              <a:rPr lang="en-US" sz="2200" b="0" i="0" u="none" strike="noStrike" cap="none" spc="0" dirty="0">
                <a:solidFill>
                  <a:schemeClr val="bg1"/>
                </a:solidFill>
                <a:latin typeface="Calibri"/>
                <a:ea typeface="Calibri"/>
                <a:cs typeface="Calibri"/>
              </a:rPr>
              <a:t>       0.28% daily interest. </a:t>
            </a:r>
          </a:p>
          <a:p>
            <a:pPr marL="0" indent="0" algn="just">
              <a:buFont typeface="Arial"/>
              <a:buNone/>
              <a:defRPr/>
            </a:pPr>
            <a:r>
              <a:rPr lang="en-US" sz="2200" dirty="0">
                <a:solidFill>
                  <a:schemeClr val="bg1"/>
                </a:solidFill>
                <a:latin typeface="Calibri"/>
                <a:ea typeface="Calibri"/>
                <a:cs typeface="Calibri"/>
              </a:rPr>
              <a:t>Kuza Simu’s ideal borrowers must meet the following conditions:</a:t>
            </a:r>
            <a:endParaRPr lang="en-US" sz="2200" dirty="0">
              <a:solidFill>
                <a:schemeClr val="bg1"/>
              </a:solidFill>
              <a:latin typeface="Calibri"/>
              <a:cs typeface="Calibri"/>
            </a:endParaRPr>
          </a:p>
          <a:p>
            <a:pPr marL="0" indent="0" algn="just">
              <a:buNone/>
              <a:defRPr/>
            </a:pPr>
            <a:r>
              <a:rPr lang="en-US" sz="2200" dirty="0">
                <a:solidFill>
                  <a:schemeClr val="bg1"/>
                </a:solidFill>
                <a:latin typeface="Calibri"/>
                <a:ea typeface="Calibri"/>
                <a:cs typeface="Calibri"/>
              </a:rPr>
              <a:t>Employment Criteria</a:t>
            </a:r>
            <a:endParaRPr lang="en-US" sz="2200" dirty="0">
              <a:solidFill>
                <a:schemeClr val="bg1"/>
              </a:solidFill>
              <a:latin typeface="Calibri"/>
              <a:cs typeface="Calibri"/>
            </a:endParaRPr>
          </a:p>
          <a:p>
            <a:pPr marL="0" indent="0" algn="just">
              <a:buNone/>
              <a:defRPr/>
            </a:pPr>
            <a:r>
              <a:rPr lang="en-US" sz="2200" dirty="0">
                <a:solidFill>
                  <a:schemeClr val="bg1"/>
                </a:solidFill>
                <a:latin typeface="Calibri"/>
                <a:ea typeface="Calibri"/>
                <a:cs typeface="Calibri"/>
              </a:rPr>
              <a:t>1.​ Must be formally employed (not informal businesses).</a:t>
            </a:r>
            <a:endParaRPr lang="en-US" sz="2200" dirty="0">
              <a:solidFill>
                <a:schemeClr val="bg1"/>
              </a:solidFill>
              <a:latin typeface="Calibri"/>
              <a:cs typeface="Calibri"/>
            </a:endParaRPr>
          </a:p>
          <a:p>
            <a:pPr marL="0" indent="0" algn="just">
              <a:buNone/>
              <a:defRPr/>
            </a:pPr>
            <a:r>
              <a:rPr lang="en-US" sz="2200" dirty="0">
                <a:solidFill>
                  <a:schemeClr val="bg1"/>
                </a:solidFill>
                <a:latin typeface="Calibri"/>
                <a:ea typeface="Calibri"/>
                <a:cs typeface="Calibri"/>
              </a:rPr>
              <a:t>2.​ Must have been employed ≥6 months (to show stability).</a:t>
            </a:r>
          </a:p>
          <a:p>
            <a:pPr marL="0" indent="0" algn="just">
              <a:buNone/>
              <a:defRPr/>
            </a:pPr>
            <a:r>
              <a:rPr lang="en-US" sz="2200" dirty="0">
                <a:solidFill>
                  <a:schemeClr val="bg1"/>
                </a:solidFill>
                <a:latin typeface="Calibri"/>
                <a:ea typeface="Calibri"/>
                <a:cs typeface="Calibri"/>
              </a:rPr>
              <a:t>3.​ Must have verifiable payroll (salary slip, HR contact, etc.).</a:t>
            </a:r>
            <a:endParaRPr lang="en-US" sz="2200" dirty="0">
              <a:solidFill>
                <a:schemeClr val="bg1"/>
              </a:solidFill>
              <a:latin typeface="Times New Roman"/>
              <a:cs typeface="Times New Roman"/>
            </a:endParaRPr>
          </a:p>
          <a:p>
            <a:pPr marL="0" indent="0">
              <a:buFont typeface="Arial"/>
              <a:buNone/>
              <a:defRPr/>
            </a:pPr>
            <a:endParaRPr lang="en-US" sz="2200" b="0" i="0" u="none" strike="noStrike" cap="none" spc="0" dirty="0">
              <a:solidFill>
                <a:schemeClr val="bg1"/>
              </a:solidFill>
              <a:latin typeface="Times New Roman"/>
              <a:cs typeface="Times New Roman"/>
            </a:endParaRPr>
          </a:p>
          <a:p>
            <a:pPr>
              <a:defRPr/>
            </a:pPr>
            <a:endParaRPr sz="2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58159028" name="Title 1"/>
          <p:cNvSpPr>
            <a:spLocks noGrp="1"/>
          </p:cNvSpPr>
          <p:nvPr>
            <p:ph type="title"/>
          </p:nvPr>
        </p:nvSpPr>
        <p:spPr bwMode="auto">
          <a:xfrm>
            <a:off x="527956" y="457201"/>
            <a:ext cx="10972800" cy="767441"/>
          </a:xfrm>
        </p:spPr>
        <p:txBody>
          <a:bodyPr vertOverflow="overflow" horzOverflow="overflow" vert="horz" wrap="square" lIns="91440" tIns="45720" rIns="91440" bIns="45720" numCol="1" spcCol="0" rtlCol="0" fromWordArt="0" anchor="ctr" anchorCtr="0" forceAA="0" compatLnSpc="0">
            <a:noAutofit/>
          </a:bodyPr>
          <a:lstStyle/>
          <a:p>
            <a:pPr algn="ctr">
              <a:lnSpc>
                <a:spcPct val="100000"/>
              </a:lnSpc>
              <a:spcBef>
                <a:spcPts val="0"/>
              </a:spcBef>
              <a:spcAft>
                <a:spcPts val="0"/>
              </a:spcAft>
              <a:defRPr/>
            </a:pP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OVERVIEW OF KUZA SIMU SYSTEM</a:t>
            </a:r>
            <a:endParaRPr sz="2200" b="1" dirty="0">
              <a:latin typeface="Calibri"/>
              <a:cs typeface="Calibri"/>
            </a:endParaRPr>
          </a:p>
          <a:p>
            <a:pPr>
              <a:defRPr/>
            </a:pPr>
            <a:endParaRPr sz="2200" dirty="0"/>
          </a:p>
          <a:p>
            <a:pPr>
              <a:defRPr/>
            </a:pPr>
            <a:endParaRPr sz="2200" dirty="0"/>
          </a:p>
        </p:txBody>
      </p:sp>
      <p:sp>
        <p:nvSpPr>
          <p:cNvPr id="1468908004" name="Content Placeholder 2"/>
          <p:cNvSpPr>
            <a:spLocks noGrp="1"/>
          </p:cNvSpPr>
          <p:nvPr>
            <p:ph idx="1"/>
          </p:nvPr>
        </p:nvSpPr>
        <p:spPr bwMode="auto">
          <a:xfrm>
            <a:off x="609599" y="919843"/>
            <a:ext cx="10972800" cy="4525962"/>
          </a:xfrm>
        </p:spPr>
        <p:txBody>
          <a:bodyPr>
            <a:normAutofit/>
          </a:bodyPr>
          <a:lstStyle/>
          <a:p>
            <a:pPr marL="342900" marR="0" indent="-342900" algn="l">
              <a:lnSpc>
                <a:spcPct val="100000"/>
              </a:lnSpc>
              <a:spcBef>
                <a:spcPts val="0"/>
              </a:spcBef>
              <a:spcAft>
                <a:spcPts val="0"/>
              </a:spcAft>
              <a:buFont typeface="Arial"/>
              <a:buChar char="•"/>
              <a:defRPr/>
            </a:pPr>
            <a:r>
              <a:rPr lang="en-US" sz="2200" b="0" i="0" u="none" strike="noStrike" cap="none" spc="0" dirty="0">
                <a:solidFill>
                  <a:schemeClr val="bg1"/>
                </a:solidFill>
                <a:latin typeface="Calibri"/>
                <a:ea typeface="Calibri"/>
                <a:cs typeface="Calibri"/>
              </a:rPr>
              <a:t>Stakeholders: </a:t>
            </a:r>
            <a:r>
              <a:rPr lang="en-US" sz="2200" b="1" i="0" u="none" strike="noStrike" cap="none" spc="0" dirty="0">
                <a:solidFill>
                  <a:schemeClr val="bg1"/>
                </a:solidFill>
                <a:latin typeface="Calibri"/>
                <a:ea typeface="Calibri"/>
                <a:cs typeface="Calibri"/>
              </a:rPr>
              <a:t>Sales Agent, Entity Leader</a:t>
            </a:r>
            <a:r>
              <a:rPr lang="en-US" sz="2200" b="0" i="0" u="none" strike="noStrike" cap="none" spc="0" dirty="0">
                <a:solidFill>
                  <a:schemeClr val="bg1"/>
                </a:solidFill>
                <a:latin typeface="Calibri"/>
                <a:ea typeface="Calibri"/>
                <a:cs typeface="Calibri"/>
              </a:rPr>
              <a:t>, </a:t>
            </a:r>
            <a:r>
              <a:rPr lang="en-US" sz="2200" b="1" i="0" u="none" strike="noStrike" cap="none" spc="0" dirty="0">
                <a:solidFill>
                  <a:schemeClr val="bg1"/>
                </a:solidFill>
                <a:latin typeface="Calibri"/>
                <a:ea typeface="Calibri"/>
                <a:cs typeface="Calibri"/>
              </a:rPr>
              <a:t>Finance Officer (Maker), Finance Manager (checker), Collection Officer</a:t>
            </a:r>
            <a:r>
              <a:rPr lang="en-US" sz="2200" b="0" i="0" u="none" strike="noStrike" cap="none" spc="0" dirty="0">
                <a:solidFill>
                  <a:schemeClr val="bg1"/>
                </a:solidFill>
                <a:latin typeface="Calibri"/>
                <a:ea typeface="Calibri"/>
                <a:cs typeface="Calibri"/>
              </a:rPr>
              <a:t>, </a:t>
            </a:r>
            <a:r>
              <a:rPr lang="en-US" sz="2200" b="1" i="0" u="none" strike="noStrike" cap="none" spc="0" dirty="0">
                <a:solidFill>
                  <a:schemeClr val="bg1"/>
                </a:solidFill>
                <a:latin typeface="Calibri"/>
                <a:ea typeface="Calibri"/>
                <a:cs typeface="Calibri"/>
              </a:rPr>
              <a:t>Super Admin.</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AS-IS: </a:t>
            </a:r>
            <a:r>
              <a:rPr lang="en-US" sz="2400" dirty="0">
                <a:solidFill>
                  <a:schemeClr val="bg1"/>
                </a:solidFill>
                <a:latin typeface="Calibri"/>
                <a:ea typeface="Calibri"/>
                <a:cs typeface="Calibri"/>
              </a:rPr>
              <a:t>Semi-manual processes with USSD, physical verifications, forms; prone to delays, errors</a:t>
            </a:r>
            <a:r>
              <a:rPr lang="en-US" sz="2200" b="0" i="0" u="none" strike="noStrike" cap="none" spc="0" dirty="0">
                <a:solidFill>
                  <a:schemeClr val="bg1"/>
                </a:solidFill>
                <a:latin typeface="Calibri"/>
                <a:ea typeface="Calibri"/>
                <a:cs typeface="Calibri"/>
              </a:rPr>
              <a:t>.</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TO-BE: </a:t>
            </a:r>
            <a:r>
              <a:rPr lang="en-US" sz="2400" dirty="0">
                <a:solidFill>
                  <a:schemeClr val="bg1"/>
                </a:solidFill>
                <a:latin typeface="Calibri"/>
                <a:ea typeface="Calibri"/>
                <a:cs typeface="Calibri"/>
              </a:rPr>
              <a:t>Automated system with USSD/App/Web access, integrations (MNOs, ERP), role-based controls; improves efficiency, compliance and join in </a:t>
            </a:r>
            <a:r>
              <a:rPr lang="en-US" sz="2400" dirty="0" err="1">
                <a:solidFill>
                  <a:schemeClr val="bg1"/>
                </a:solidFill>
                <a:latin typeface="Calibri"/>
                <a:ea typeface="Calibri"/>
                <a:cs typeface="Calibri"/>
              </a:rPr>
              <a:t>kuza</a:t>
            </a:r>
            <a:r>
              <a:rPr lang="en-US" sz="2400" dirty="0">
                <a:solidFill>
                  <a:schemeClr val="bg1"/>
                </a:solidFill>
                <a:latin typeface="Calibri"/>
                <a:ea typeface="Calibri"/>
                <a:cs typeface="Calibri"/>
              </a:rPr>
              <a:t>- wafanyakazi/special group as part of subproduct</a:t>
            </a:r>
            <a:r>
              <a:rPr lang="en-US" sz="2200" b="0" i="0" u="none" strike="noStrike" cap="none" spc="0" dirty="0">
                <a:solidFill>
                  <a:schemeClr val="bg1"/>
                </a:solidFill>
                <a:latin typeface="Calibri"/>
                <a:ea typeface="Calibri"/>
                <a:cs typeface="Calibri"/>
              </a:rPr>
              <a:t>.</a:t>
            </a:r>
          </a:p>
        </p:txBody>
      </p:sp>
      <p:sp>
        <p:nvSpPr>
          <p:cNvPr id="4" name="Title 1">
            <a:extLst>
              <a:ext uri="{FF2B5EF4-FFF2-40B4-BE49-F238E27FC236}">
                <a16:creationId xmlns:a16="http://schemas.microsoft.com/office/drawing/2014/main" id="{82DADC19-1671-0454-BC5B-911601C1A30D}"/>
              </a:ext>
            </a:extLst>
          </p:cNvPr>
          <p:cNvSpPr txBox="1">
            <a:spLocks/>
          </p:cNvSpPr>
          <p:nvPr/>
        </p:nvSpPr>
        <p:spPr bwMode="auto">
          <a:xfrm>
            <a:off x="868135" y="4204517"/>
            <a:ext cx="5309508" cy="1311379"/>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342900" lvl="0" indent="-342900">
              <a:buFont typeface="Wingdings" panose="05000000000000000000" pitchFamily="2" charset="2"/>
              <a:buChar char="v"/>
            </a:pPr>
            <a:r>
              <a:rPr lang="en-US" sz="2000" b="0" dirty="0">
                <a:solidFill>
                  <a:schemeClr val="bg1"/>
                </a:solidFill>
                <a:latin typeface="Calibri"/>
                <a:ea typeface="Calibri"/>
                <a:cs typeface="Calibri"/>
              </a:rPr>
              <a:t>Semi-manual processes with USSD, physical verifications, forms; prone to delays, errors.</a:t>
            </a: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21422D49-0A51-2E26-325D-C8416F4A70FB}"/>
              </a:ext>
            </a:extLst>
          </p:cNvPr>
          <p:cNvSpPr txBox="1">
            <a:spLocks/>
          </p:cNvSpPr>
          <p:nvPr/>
        </p:nvSpPr>
        <p:spPr bwMode="auto">
          <a:xfrm>
            <a:off x="6334958" y="4204518"/>
            <a:ext cx="5329084" cy="1311379"/>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fontScale="92500" lnSpcReduction="10000"/>
          </a:bodyPr>
          <a:lstStyle>
            <a:lvl1pPr algn="ctr" defTabSz="914400" rtl="0">
              <a:spcBef>
                <a:spcPts val="0"/>
              </a:spcBef>
              <a:buNone/>
              <a:defRPr sz="4400" b="1">
                <a:solidFill>
                  <a:schemeClr val="tx1"/>
                </a:solidFill>
                <a:latin typeface="+mj-lt"/>
                <a:ea typeface="+mj-ea"/>
                <a:cs typeface="+mj-cs"/>
              </a:defRPr>
            </a:lvl1pPr>
          </a:lstStyle>
          <a:p>
            <a:pPr algn="just"/>
            <a:r>
              <a:rPr lang="en-US" sz="1800" b="0" dirty="0">
                <a:solidFill>
                  <a:schemeClr val="bg1"/>
                </a:solidFill>
                <a:latin typeface="Calibri"/>
                <a:ea typeface="Calibri"/>
                <a:cs typeface="Calibri"/>
              </a:rPr>
              <a:t> </a:t>
            </a:r>
          </a:p>
          <a:p>
            <a:pPr marL="285750" indent="-285750" algn="just">
              <a:buFont typeface="Wingdings" panose="05000000000000000000" pitchFamily="2" charset="2"/>
              <a:buChar char="ü"/>
            </a:pPr>
            <a:r>
              <a:rPr lang="en-US" sz="1800" b="0" dirty="0">
                <a:solidFill>
                  <a:schemeClr val="bg1"/>
                </a:solidFill>
                <a:latin typeface="Calibri"/>
                <a:ea typeface="Calibri"/>
                <a:cs typeface="Calibri"/>
              </a:rPr>
              <a:t>Automated system with USSD/App/Web access, integrations (MNOs, ERP), role-based controls; improves efficiency, compliance and join in </a:t>
            </a:r>
            <a:r>
              <a:rPr lang="en-US" sz="1800" b="0" dirty="0" err="1">
                <a:solidFill>
                  <a:schemeClr val="bg1"/>
                </a:solidFill>
                <a:latin typeface="Calibri"/>
                <a:ea typeface="Calibri"/>
                <a:cs typeface="Calibri"/>
              </a:rPr>
              <a:t>kuza</a:t>
            </a:r>
            <a:r>
              <a:rPr lang="en-US" sz="1800" b="0" dirty="0">
                <a:solidFill>
                  <a:schemeClr val="bg1"/>
                </a:solidFill>
                <a:latin typeface="Calibri"/>
                <a:ea typeface="Calibri"/>
                <a:cs typeface="Calibri"/>
              </a:rPr>
              <a:t>- wafanyakazi/special group as part of subproduct</a:t>
            </a:r>
            <a:endParaRPr lang="en-US" sz="1800" b="0" dirty="0">
              <a:solidFill>
                <a:schemeClr val="bg1"/>
              </a:solidFill>
              <a:latin typeface="Calibri"/>
              <a:cs typeface="Calibri"/>
            </a:endParaRPr>
          </a:p>
          <a:p>
            <a:pPr marL="285750" lvl="0" indent="-285750" algn="just">
              <a:buFont typeface="Wingdings" panose="05000000000000000000" pitchFamily="2" charset="2"/>
              <a:buChar char="ü"/>
            </a:pPr>
            <a:endParaRPr lang="en-US" sz="18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3A9869A2-6251-B185-5DCF-AF070ED62D12}"/>
              </a:ext>
            </a:extLst>
          </p:cNvPr>
          <p:cNvSpPr txBox="1">
            <a:spLocks/>
          </p:cNvSpPr>
          <p:nvPr/>
        </p:nvSpPr>
        <p:spPr bwMode="auto">
          <a:xfrm>
            <a:off x="2795305" y="3630068"/>
            <a:ext cx="1474838" cy="52209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AS IS </a:t>
            </a:r>
          </a:p>
        </p:txBody>
      </p:sp>
      <p:sp>
        <p:nvSpPr>
          <p:cNvPr id="7" name="Title 1">
            <a:extLst>
              <a:ext uri="{FF2B5EF4-FFF2-40B4-BE49-F238E27FC236}">
                <a16:creationId xmlns:a16="http://schemas.microsoft.com/office/drawing/2014/main" id="{285E5913-5A4D-7E9C-8B86-5FE64DE4D8DD}"/>
              </a:ext>
            </a:extLst>
          </p:cNvPr>
          <p:cNvSpPr txBox="1">
            <a:spLocks/>
          </p:cNvSpPr>
          <p:nvPr/>
        </p:nvSpPr>
        <p:spPr bwMode="auto">
          <a:xfrm>
            <a:off x="7878645" y="3630068"/>
            <a:ext cx="1474838" cy="522096"/>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r>
              <a:rPr lang="en-US" sz="2200" dirty="0">
                <a:solidFill>
                  <a:schemeClr val="bg1"/>
                </a:solidFill>
                <a:latin typeface="Calibri" panose="020F0502020204030204" pitchFamily="34" charset="0"/>
                <a:ea typeface="Calibri" panose="020F0502020204030204" pitchFamily="34" charset="0"/>
                <a:cs typeface="Calibri" panose="020F0502020204030204" pitchFamily="34" charset="0"/>
              </a:rPr>
              <a:t>TO BE</a:t>
            </a:r>
          </a:p>
        </p:txBody>
      </p:sp>
    </p:spTree>
    <p:extLst>
      <p:ext uri="{BB962C8B-B14F-4D97-AF65-F5344CB8AC3E}">
        <p14:creationId xmlns:p14="http://schemas.microsoft.com/office/powerpoint/2010/main" val="3594892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7885520" name="Title 1"/>
          <p:cNvSpPr>
            <a:spLocks noGrp="1"/>
          </p:cNvSpPr>
          <p:nvPr>
            <p:ph type="title"/>
          </p:nvPr>
        </p:nvSpPr>
        <p:spPr bwMode="auto"/>
        <p:txBody>
          <a:bodyPr>
            <a:normAutofit/>
          </a:bodyPr>
          <a:lstStyle/>
          <a:p>
            <a:pPr>
              <a:defRPr/>
            </a:pPr>
            <a:r>
              <a:rPr lang="en-US" sz="2200" b="1" i="0" u="none" strike="noStrike" cap="none" spc="0" dirty="0">
                <a:solidFill>
                  <a:schemeClr val="bg1"/>
                </a:solidFill>
                <a:latin typeface="Calibri"/>
                <a:ea typeface="Calibri"/>
                <a:cs typeface="Calibri"/>
              </a:rPr>
              <a:t>KUZA SIMU ( TO BE)</a:t>
            </a:r>
          </a:p>
        </p:txBody>
      </p:sp>
      <p:sp>
        <p:nvSpPr>
          <p:cNvPr id="383136485"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a:bodyPr>
          <a:lstStyle/>
          <a:p>
            <a:pPr marL="0" indent="0">
              <a:buFont typeface="Arial"/>
              <a:buNone/>
              <a:defRPr/>
            </a:pPr>
            <a:r>
              <a:rPr lang="en-US" sz="2200" b="0" i="0" u="none" strike="noStrike" cap="none" spc="0" dirty="0">
                <a:solidFill>
                  <a:schemeClr val="bg1"/>
                </a:solidFill>
                <a:latin typeface="Calibri"/>
                <a:ea typeface="Calibri"/>
                <a:cs typeface="Calibri"/>
              </a:rPr>
              <a:t>Target Job Groups</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1.​ Private Security Guards</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2.​ Cleaners / Janitors</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3.​ Drivers (low‑income, company drivers)</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4.​ Junior Factory / Assembly Workers</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5.​ Retail Cashiers / Shop Assistants</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6.​ Support Staff in Clinics &amp; NGOs (non‑medical staff)</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7.​ Traffic Wardens (municipal)</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8.​ Ward Assistants (local government)</a:t>
            </a:r>
            <a:endParaRPr sz="2200" b="0" i="0" u="none" strike="noStrike" cap="none" spc="0" dirty="0">
              <a:solidFill>
                <a:schemeClr val="bg1"/>
              </a:solidFill>
              <a:latin typeface="Calibri"/>
              <a:cs typeface="Calibri"/>
            </a:endParaRPr>
          </a:p>
          <a:p>
            <a:pPr>
              <a:defRPr/>
            </a:pPr>
            <a:r>
              <a:rPr lang="en-US" sz="2200" b="0" i="0" u="none" strike="noStrike" cap="none" spc="0" dirty="0">
                <a:solidFill>
                  <a:schemeClr val="bg1"/>
                </a:solidFill>
                <a:latin typeface="Calibri"/>
                <a:ea typeface="Calibri"/>
                <a:cs typeface="Calibri"/>
              </a:rPr>
              <a:t>9.​ Petrol Station Workers</a:t>
            </a:r>
            <a:endParaRPr sz="2200" dirty="0"/>
          </a:p>
          <a:p>
            <a:pPr>
              <a:defRPr/>
            </a:pPr>
            <a:endParaRPr sz="2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39400790"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endParaRPr lang="en-US" sz="2200" b="1" i="0" u="none" strike="noStrike" cap="none" spc="0" dirty="0">
              <a:solidFill>
                <a:schemeClr val="bg1"/>
              </a:solidFill>
              <a:latin typeface="Calibri"/>
              <a:ea typeface="Calibri"/>
              <a:cs typeface="Calibri"/>
            </a:endParaRPr>
          </a:p>
        </p:txBody>
      </p:sp>
      <p:sp>
        <p:nvSpPr>
          <p:cNvPr id="1711833003" name="Content Placeholder 2"/>
          <p:cNvSpPr>
            <a:spLocks noGrp="1"/>
          </p:cNvSpPr>
          <p:nvPr>
            <p:ph idx="1"/>
          </p:nvPr>
        </p:nvSpPr>
        <p:spPr bwMode="auto">
          <a:xfrm>
            <a:off x="838904" y="1353256"/>
            <a:ext cx="10972800" cy="4525961"/>
          </a:xfrm>
        </p:spPr>
        <p:txBody>
          <a:bodyPr vertOverflow="overflow" horzOverflow="overflow" vert="horz" wrap="square" lIns="91440" tIns="45720" rIns="91440" bIns="45720" numCol="1" spcCol="0" rtlCol="0" fromWordArt="0" anchor="t" anchorCtr="0" forceAA="0" compatLnSpc="0">
            <a:normAutofit/>
          </a:bodyPr>
          <a:lstStyle/>
          <a:p>
            <a:pPr marL="0" marR="0" indent="0" algn="l">
              <a:lnSpc>
                <a:spcPct val="100000"/>
              </a:lnSpc>
              <a:spcBef>
                <a:spcPts val="0"/>
              </a:spcBef>
              <a:spcAft>
                <a:spcPts val="0"/>
              </a:spcAft>
              <a:buFont typeface="Arial"/>
              <a:buNone/>
              <a:defRPr/>
            </a:pPr>
            <a:r>
              <a:rPr lang="en-US" sz="2200" b="1" i="0" u="none" strike="noStrike" cap="none" spc="0" dirty="0">
                <a:solidFill>
                  <a:schemeClr val="bg1"/>
                </a:solidFill>
                <a:latin typeface="Calibri"/>
                <a:ea typeface="Calibri"/>
                <a:cs typeface="Calibri"/>
              </a:rPr>
              <a:t>Product Overview</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Target: Employees (Wafanyakazi) of partner companies/entities</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Loan limit: Up to 50% of monthly gross salary (as per signed employer contract/policy)</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Initial disbursement rule: Start small → TZS 100,000 – 500,000 maximum (regardless of salary level) to observe repayment behaviour before scaling up</a:t>
            </a:r>
            <a:endParaRPr sz="2200" b="1" i="0" u="none" strike="noStrike" cap="none" spc="0" dirty="0">
              <a:solidFill>
                <a:schemeClr val="bg1"/>
              </a:solidFill>
              <a:latin typeface="Calibri"/>
              <a:cs typeface="Calibri"/>
            </a:endParaRPr>
          </a:p>
          <a:p>
            <a:pPr marL="0" marR="0" indent="0" algn="l">
              <a:lnSpc>
                <a:spcPct val="100000"/>
              </a:lnSpc>
              <a:spcBef>
                <a:spcPts val="0"/>
              </a:spcBef>
              <a:spcAft>
                <a:spcPts val="0"/>
              </a:spcAft>
              <a:buFont typeface="Arial"/>
              <a:buNone/>
              <a:defRPr/>
            </a:pPr>
            <a:r>
              <a:rPr lang="en-US" sz="2200" b="1" i="0" u="none" strike="noStrike" cap="none" spc="0" dirty="0">
                <a:solidFill>
                  <a:schemeClr val="bg1"/>
                </a:solidFill>
                <a:latin typeface="Calibri"/>
                <a:ea typeface="Calibri"/>
                <a:cs typeface="Calibri"/>
              </a:rPr>
              <a:t>Eligibility criteria</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Minimum 3 months continuous employment</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Permanent or valid fixed-term contract</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Attach employment contract + National ID copy</a:t>
            </a:r>
            <a:endParaRPr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08043659"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p>
        </p:txBody>
      </p:sp>
      <p:sp>
        <p:nvSpPr>
          <p:cNvPr id="1812328375" name="Content Placeholder 2"/>
          <p:cNvSpPr>
            <a:spLocks noGrp="1"/>
          </p:cNvSpPr>
          <p:nvPr>
            <p:ph idx="1"/>
          </p:nvPr>
        </p:nvSpPr>
        <p:spPr bwMode="auto">
          <a:xfrm>
            <a:off x="1113319" y="930044"/>
            <a:ext cx="10972800" cy="4525961"/>
          </a:xfrm>
        </p:spPr>
        <p:txBody>
          <a:bodyPr vertOverflow="overflow" horzOverflow="overflow" vert="horz" wrap="square" lIns="91440" tIns="45720" rIns="91440" bIns="45720" numCol="1" spcCol="0" rtlCol="0" fromWordArt="0" anchor="t" anchorCtr="0" forceAA="0" compatLnSpc="0">
            <a:normAutofit/>
          </a:bodyPr>
          <a:lstStyle/>
          <a:p>
            <a:pPr marL="0" marR="0" indent="0" algn="l">
              <a:lnSpc>
                <a:spcPct val="100000"/>
              </a:lnSpc>
              <a:spcBef>
                <a:spcPts val="0"/>
              </a:spcBef>
              <a:spcAft>
                <a:spcPts val="0"/>
              </a:spcAft>
              <a:buFont typeface="Arial"/>
              <a:buNone/>
              <a:defRPr/>
            </a:pPr>
            <a:r>
              <a:rPr lang="en-US" sz="2200" b="1" i="0" u="none" strike="noStrike" cap="none" spc="0" dirty="0">
                <a:solidFill>
                  <a:schemeClr val="bg1"/>
                </a:solidFill>
                <a:latin typeface="Calibri"/>
                <a:ea typeface="Calibri"/>
                <a:cs typeface="Calibri"/>
              </a:rPr>
              <a:t>Product Overview</a:t>
            </a:r>
            <a:endParaRPr lang="en-US"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We start by engaging with the HR department. We explain that we have Product A,B,C, where we can lend to their staff up to 50% of their salary, exactly as stated in the company’s policy or employment contract.</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However, to begin with, we always start with a small amount so we can study the customer’s repayment behaviour. </a:t>
            </a:r>
            <a:endParaRPr sz="2200" b="1" i="0" u="none" strike="noStrike" cap="none" spc="0" dirty="0">
              <a:solidFill>
                <a:schemeClr val="bg1"/>
              </a:solidFill>
              <a:latin typeface="Calibri"/>
              <a:ea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Currently, the starting limit is TShs 100,000 to TShs 500,000 maximum, no matter whether the staff member earns TShs 5 million or TShs 10 million per month — we still begin small.</a:t>
            </a:r>
            <a:endParaRPr sz="2200" b="1" i="0" u="none" strike="noStrike" cap="none" spc="0" dirty="0">
              <a:solidFill>
                <a:schemeClr val="bg1"/>
              </a:solidFill>
              <a:latin typeface="Calibri"/>
              <a:cs typeface="Calibri"/>
            </a:endParaRPr>
          </a:p>
          <a:p>
            <a:pPr>
              <a:defRPr/>
            </a:pPr>
            <a:r>
              <a:rPr lang="en-US" sz="2200" b="1" i="0" u="none" strike="noStrike" cap="none" spc="0" dirty="0">
                <a:solidFill>
                  <a:schemeClr val="bg1"/>
                </a:solidFill>
                <a:latin typeface="Calibri"/>
                <a:ea typeface="Calibri"/>
                <a:cs typeface="Calibri"/>
              </a:rPr>
              <a:t>Once HR agrees and signs our MoU (Memorandum of Understanding) /Agreement, we notify our Directors or COO that we now have a contract with Company A. The company’s HR will then request a session or speak directly to their staff about our product, so that employees who need a loan can apply.</a:t>
            </a:r>
            <a:endParaRPr lang="en-US"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a:extLst>
              <a:ext uri="{FF2B5EF4-FFF2-40B4-BE49-F238E27FC236}">
                <a16:creationId xmlns:a16="http://schemas.microsoft.com/office/drawing/2014/main" id="{97EC4CFC-1F29-BFDE-3E3C-5C77C1D2338A}"/>
              </a:ext>
            </a:extLst>
          </p:cNvPr>
          <p:cNvSpPr txBox="1">
            <a:spLocks/>
          </p:cNvSpPr>
          <p:nvPr/>
        </p:nvSpPr>
        <p:spPr bwMode="auto">
          <a:xfrm>
            <a:off x="838904" y="1179871"/>
            <a:ext cx="10972800" cy="4041057"/>
          </a:xfrm>
          <a:prstGeom prst="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lIns="91440" tIns="45720" rIns="91440" bIns="45720" rtlCol="0" anchor="ctr">
            <a:normAutofit/>
          </a:bodyPr>
          <a:lstStyle>
            <a:lvl1pPr algn="ctr" defTabSz="914400" rtl="0">
              <a:spcBef>
                <a:spcPts val="0"/>
              </a:spcBef>
              <a:buNone/>
              <a:defRPr sz="4400" b="1">
                <a:solidFill>
                  <a:schemeClr val="tx1"/>
                </a:solidFill>
                <a:latin typeface="+mj-lt"/>
                <a:ea typeface="+mj-ea"/>
                <a:cs typeface="+mj-cs"/>
              </a:defRPr>
            </a:lvl1pPr>
          </a:lstStyle>
          <a:p>
            <a:pPr marL="342900" lvl="0" indent="-342900">
              <a:buFont typeface="Wingdings" panose="05000000000000000000" pitchFamily="2" charset="2"/>
              <a:buChar char="v"/>
            </a:pPr>
            <a:endPar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607723412"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(AS IS)</a:t>
            </a:r>
          </a:p>
        </p:txBody>
      </p:sp>
      <p:sp>
        <p:nvSpPr>
          <p:cNvPr id="692653780" name="Content Placeholder 2"/>
          <p:cNvSpPr>
            <a:spLocks noGrp="1"/>
          </p:cNvSpPr>
          <p:nvPr>
            <p:ph idx="1"/>
          </p:nvPr>
        </p:nvSpPr>
        <p:spPr bwMode="auto">
          <a:xfrm>
            <a:off x="838904" y="1353256"/>
            <a:ext cx="10972800" cy="4525961"/>
          </a:xfrm>
        </p:spPr>
        <p:txBody>
          <a:bodyPr vertOverflow="overflow" horzOverflow="overflow" vert="horz" wrap="square" lIns="91440" tIns="45720" rIns="91440" bIns="45720" numCol="1" spcCol="0" rtlCol="0" fromWordArt="0" anchor="t" anchorCtr="0" forceAA="0" compatLnSpc="0">
            <a:normAutofit fontScale="97500" lnSpcReduction="12000"/>
          </a:bodyPr>
          <a:lstStyle/>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Previously, we used to share a Google Form link with HR. HR would then share the link with his/her staff to collect the necessary information. HR performs his/her own verification (whether to approve or not approve the staff).</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Once the applications come back from HR, they return to us. We then do our own verification. After verification, the client details are entered into our system with the following key information:</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Full name</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Date of employment (because one of our main criteria is that the staff must have worked for at least 3 months and still be employed)</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We attach the employee’s contract (because most are on short-term contracts) for our records and satisfaction.</a:t>
            </a:r>
            <a:endParaRPr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r>
              <a:rPr lang="en-US" sz="2200" b="1" i="0" u="none" strike="noStrike" cap="none" spc="0" dirty="0">
                <a:solidFill>
                  <a:schemeClr val="bg1"/>
                </a:solidFill>
                <a:latin typeface="Calibri"/>
                <a:ea typeface="Calibri"/>
                <a:cs typeface="Calibri"/>
              </a:rPr>
              <a:t>We also require a copy of the National ID, and all documents are attached in the system.</a:t>
            </a:r>
            <a:endParaRPr sz="2200" b="1" i="0" u="none" strike="noStrike" cap="none" spc="0" dirty="0">
              <a:solidFill>
                <a:schemeClr val="bg1"/>
              </a:solidFill>
              <a:latin typeface="Calibri"/>
              <a:cs typeface="Calibri"/>
            </a:endParaRPr>
          </a:p>
          <a:p>
            <a:pPr>
              <a:defRPr/>
            </a:pPr>
            <a:endParaRPr sz="2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344217319"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(TO BE )</a:t>
            </a:r>
          </a:p>
        </p:txBody>
      </p:sp>
      <p:sp>
        <p:nvSpPr>
          <p:cNvPr id="371256484" name="Content Placeholder 2"/>
          <p:cNvSpPr>
            <a:spLocks noGrp="1"/>
          </p:cNvSpPr>
          <p:nvPr>
            <p:ph idx="1"/>
          </p:nvPr>
        </p:nvSpPr>
        <p:spPr bwMode="auto">
          <a:xfrm>
            <a:off x="838904" y="1353256"/>
            <a:ext cx="10972800" cy="4525961"/>
          </a:xfrm>
        </p:spPr>
        <p:txBody>
          <a:bodyPr vertOverflow="overflow" horzOverflow="overflow" vert="horz" wrap="square" lIns="91440" tIns="45720" rIns="91440" bIns="45720" numCol="1" spcCol="0" rtlCol="0" fromWordArt="0" anchor="t" anchorCtr="0" forceAA="0" compatLnSpc="0">
            <a:normAutofit/>
          </a:bodyPr>
          <a:lstStyle/>
          <a:p>
            <a:pPr marL="349965" indent="-349965">
              <a:buFont typeface="Arial"/>
              <a:buAutoNum type="arabicPeriod"/>
              <a:defRPr/>
            </a:pPr>
            <a:r>
              <a:rPr lang="en-US" sz="2200" b="1" i="0" u="none" strike="noStrike" cap="none" spc="0" dirty="0">
                <a:solidFill>
                  <a:schemeClr val="bg1"/>
                </a:solidFill>
                <a:latin typeface="Calibri"/>
                <a:ea typeface="Calibri"/>
                <a:cs typeface="Calibri"/>
              </a:rPr>
              <a:t>Sales Agent → Register Employees  → Submit Loan </a:t>
            </a:r>
          </a:p>
          <a:p>
            <a:pPr marL="0" indent="0">
              <a:buFont typeface="Arial"/>
              <a:buNone/>
              <a:defRPr/>
            </a:pPr>
            <a:r>
              <a:rPr lang="en-US" sz="2200" b="1" i="0" u="none" strike="noStrike" cap="none" spc="0" dirty="0">
                <a:solidFill>
                  <a:schemeClr val="bg1"/>
                </a:solidFill>
                <a:latin typeface="Calibri"/>
                <a:ea typeface="Calibri"/>
                <a:cs typeface="Calibri"/>
              </a:rPr>
              <a:t> through KYC and Loan document whether individual/Group by attaching details</a:t>
            </a:r>
          </a:p>
          <a:p>
            <a:pPr>
              <a:defRPr/>
            </a:pPr>
            <a:r>
              <a:rPr lang="en-US" sz="2200" b="1" i="0" u="none" strike="noStrike" cap="none" spc="0" dirty="0">
                <a:solidFill>
                  <a:schemeClr val="bg1"/>
                </a:solidFill>
                <a:latin typeface="Calibri"/>
                <a:ea typeface="Calibri"/>
                <a:cs typeface="Calibri"/>
              </a:rPr>
              <a:t>Customer Basic Information</a:t>
            </a:r>
          </a:p>
          <a:p>
            <a:pPr>
              <a:defRPr/>
            </a:pPr>
            <a:r>
              <a:rPr lang="en-US" sz="2200" b="1" i="0" u="none" strike="noStrike" cap="none" spc="0" dirty="0">
                <a:solidFill>
                  <a:schemeClr val="bg1"/>
                </a:solidFill>
                <a:latin typeface="Calibri"/>
                <a:ea typeface="Calibri"/>
                <a:cs typeface="Calibri"/>
              </a:rPr>
              <a:t>Customer Loan Information</a:t>
            </a:r>
          </a:p>
          <a:p>
            <a:pPr>
              <a:defRPr/>
            </a:pPr>
            <a:r>
              <a:rPr lang="en-US" sz="2200" b="1" i="0" u="none" strike="noStrike" cap="none" spc="0" dirty="0">
                <a:solidFill>
                  <a:schemeClr val="bg1"/>
                </a:solidFill>
                <a:latin typeface="Calibri"/>
                <a:ea typeface="Calibri"/>
                <a:cs typeface="Calibri"/>
              </a:rPr>
              <a:t>Customer Declaration</a:t>
            </a:r>
          </a:p>
          <a:p>
            <a:pPr>
              <a:defRPr/>
            </a:pPr>
            <a:r>
              <a:rPr lang="en-US" sz="2200" b="1" i="0" u="none" strike="noStrike" cap="none" spc="0" dirty="0">
                <a:solidFill>
                  <a:schemeClr val="bg1"/>
                </a:solidFill>
                <a:latin typeface="Calibri"/>
                <a:ea typeface="Calibri"/>
                <a:cs typeface="Calibri"/>
              </a:rPr>
              <a:t>Attach ID’S and fingerprint picture </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Sales  Agent logs in → registers</a:t>
            </a:r>
          </a:p>
          <a:p>
            <a:pPr>
              <a:defRPr/>
            </a:pPr>
            <a:r>
              <a:rPr lang="en-US" sz="2200" b="1" i="0" u="none" strike="noStrike" cap="none" spc="0" dirty="0">
                <a:solidFill>
                  <a:schemeClr val="bg1"/>
                </a:solidFill>
                <a:latin typeface="Calibri"/>
                <a:ea typeface="Calibri"/>
                <a:cs typeface="Calibri"/>
              </a:rPr>
              <a:t>a new employer/borrower (captures KYC + uploads documents) → submits the loan</a:t>
            </a:r>
            <a:endParaRPr lang="en-US" sz="2200" b="1" i="0" u="none" strike="noStrike" cap="none" spc="0" dirty="0">
              <a:solidFill>
                <a:schemeClr val="bg1"/>
              </a:solidFill>
              <a:latin typeface="Calibri"/>
              <a:cs typeface="Calibri"/>
            </a:endParaRPr>
          </a:p>
          <a:p>
            <a:pPr>
              <a:defRPr/>
            </a:pPr>
            <a:r>
              <a:rPr lang="en-US" sz="2200" b="1" i="0" u="none" strike="noStrike" cap="none" spc="0" dirty="0">
                <a:solidFill>
                  <a:schemeClr val="bg1"/>
                </a:solidFill>
                <a:latin typeface="Calibri"/>
                <a:ea typeface="Calibri"/>
                <a:cs typeface="Calibri"/>
              </a:rPr>
              <a:t>application → system validates → application moves to “Pending Review” → Entity Leader is notified.</a:t>
            </a:r>
            <a:endParaRPr lang="en-US"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endParaRPr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31401503"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(TO BE )</a:t>
            </a:r>
          </a:p>
        </p:txBody>
      </p:sp>
      <p:sp>
        <p:nvSpPr>
          <p:cNvPr id="1935805109" name="Content Placeholder 2"/>
          <p:cNvSpPr>
            <a:spLocks noGrp="1"/>
          </p:cNvSpPr>
          <p:nvPr>
            <p:ph idx="1"/>
          </p:nvPr>
        </p:nvSpPr>
        <p:spPr bwMode="auto">
          <a:xfrm>
            <a:off x="838904" y="1353256"/>
            <a:ext cx="10972800" cy="4525961"/>
          </a:xfrm>
        </p:spPr>
        <p:txBody>
          <a:bodyPr vertOverflow="overflow" horzOverflow="overflow" vert="horz" wrap="square" lIns="91440" tIns="45720" rIns="91440" bIns="45720" numCol="1" spcCol="0" rtlCol="0" fromWordArt="0" anchor="t" anchorCtr="0" forceAA="0" compatLnSpc="0">
            <a:normAutofit/>
          </a:bodyPr>
          <a:lstStyle/>
          <a:p>
            <a:pPr marL="0" indent="0">
              <a:buFont typeface="Arial"/>
              <a:buNone/>
              <a:defRPr/>
            </a:pPr>
            <a:r>
              <a:rPr lang="en-US" sz="2200" b="1" i="0" u="none" strike="noStrike" cap="none" spc="0" dirty="0">
                <a:solidFill>
                  <a:schemeClr val="bg1"/>
                </a:solidFill>
                <a:latin typeface="Calibri"/>
                <a:ea typeface="Calibri"/>
                <a:cs typeface="Calibri"/>
              </a:rPr>
              <a:t>2. Sales Manager (Entity Leader) → Review Loan + KYC for whether individual or Group by attaching details → Recommend </a:t>
            </a:r>
          </a:p>
          <a:p>
            <a:pPr marL="0" indent="0">
              <a:buFont typeface="Arial"/>
              <a:buNone/>
              <a:defRPr/>
            </a:pPr>
            <a:r>
              <a:rPr lang="en-US" sz="2200" b="1" i="0" u="none" strike="noStrike" cap="none" spc="0" dirty="0">
                <a:solidFill>
                  <a:schemeClr val="bg1"/>
                </a:solidFill>
                <a:latin typeface="Calibri"/>
                <a:ea typeface="Calibri"/>
                <a:cs typeface="Calibri"/>
              </a:rPr>
              <a:t>Entity Leader receives notification → views pending loan → reviews KYC, documents &amp; details → decides:</a:t>
            </a:r>
            <a:endParaRPr sz="2200" dirty="0"/>
          </a:p>
          <a:p>
            <a:pPr marL="0" indent="0">
              <a:buFont typeface="Arial"/>
              <a:buNone/>
              <a:defRPr/>
            </a:pP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Recommend/Approve → adds comment → status becomes “Recommended” → notifies  Finance Officer</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Reject → adds reason → status becomes “Rejected” → notifies Sales Agent</a:t>
            </a:r>
          </a:p>
          <a:p>
            <a:pPr marL="0" indent="0">
              <a:buFont typeface="Arial"/>
              <a:buNone/>
              <a:defRPr/>
            </a:pPr>
            <a:endParaRPr lang="en-US"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endParaRPr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0754015"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(TO BE )</a:t>
            </a:r>
          </a:p>
        </p:txBody>
      </p:sp>
      <p:sp>
        <p:nvSpPr>
          <p:cNvPr id="1558657961" name="Content Placeholder 2"/>
          <p:cNvSpPr>
            <a:spLocks noGrp="1"/>
          </p:cNvSpPr>
          <p:nvPr>
            <p:ph idx="1"/>
          </p:nvPr>
        </p:nvSpPr>
        <p:spPr bwMode="auto">
          <a:xfrm>
            <a:off x="838904" y="1353256"/>
            <a:ext cx="10972800" cy="4525961"/>
          </a:xfrm>
        </p:spPr>
        <p:txBody>
          <a:bodyPr vertOverflow="overflow" horzOverflow="overflow" vert="horz" wrap="square" lIns="91440" tIns="45720" rIns="91440" bIns="45720" numCol="1" spcCol="0" rtlCol="0" fromWordArt="0" anchor="t" anchorCtr="0" forceAA="0" compatLnSpc="0">
            <a:normAutofit/>
          </a:bodyPr>
          <a:lstStyle/>
          <a:p>
            <a:pPr marL="0" indent="0">
              <a:buFont typeface="Arial"/>
              <a:buNone/>
              <a:defRPr/>
            </a:pPr>
            <a:r>
              <a:rPr lang="en-US" sz="2200" b="1" i="0" u="none" strike="noStrike" cap="none" spc="0" dirty="0">
                <a:solidFill>
                  <a:schemeClr val="bg1"/>
                </a:solidFill>
                <a:latin typeface="Calibri"/>
                <a:ea typeface="Calibri"/>
                <a:cs typeface="Calibri"/>
              </a:rPr>
              <a:t>3. Efficiency Officer(Entity Leader) → Review Loan + KYC for whether individual or Group by attaching details → Verify </a:t>
            </a:r>
          </a:p>
          <a:p>
            <a:pPr marL="0" indent="0">
              <a:buFont typeface="Arial"/>
              <a:buNone/>
              <a:defRPr/>
            </a:pPr>
            <a:r>
              <a:rPr lang="en-US" sz="2200" b="1" i="0" u="none" strike="noStrike" cap="none" spc="0" dirty="0">
                <a:solidFill>
                  <a:schemeClr val="bg1"/>
                </a:solidFill>
                <a:latin typeface="Calibri"/>
                <a:ea typeface="Calibri"/>
                <a:cs typeface="Calibri"/>
              </a:rPr>
              <a:t>Entity Leader receives notification → views pending loan → reviews KYC, documents &amp; details → decides:</a:t>
            </a:r>
            <a:endParaRPr sz="2200" dirty="0"/>
          </a:p>
          <a:p>
            <a:pPr marL="0" indent="0">
              <a:buFont typeface="Arial"/>
              <a:buNone/>
              <a:defRPr/>
            </a:pP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Recommend/Approve → adds comment → status becomes “Recommended” → notifies  Finance Officer</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Reject → adds reason → status becomes “Rejected” → notifies Sales Agent</a:t>
            </a:r>
          </a:p>
          <a:p>
            <a:pPr marL="0" indent="0">
              <a:buFont typeface="Arial"/>
              <a:buNone/>
              <a:defRPr/>
            </a:pPr>
            <a:endParaRPr lang="en-US" sz="2200" b="1" i="0" u="none" strike="noStrike" cap="none" spc="0" dirty="0">
              <a:solidFill>
                <a:schemeClr val="bg1"/>
              </a:solidFill>
              <a:latin typeface="Calibri"/>
              <a:cs typeface="Calibri"/>
            </a:endParaRPr>
          </a:p>
          <a:p>
            <a:pPr marL="342900" marR="0" indent="-342900" algn="l">
              <a:lnSpc>
                <a:spcPct val="100000"/>
              </a:lnSpc>
              <a:spcBef>
                <a:spcPts val="0"/>
              </a:spcBef>
              <a:spcAft>
                <a:spcPts val="0"/>
              </a:spcAft>
              <a:buChar char="•"/>
              <a:defRPr/>
            </a:pPr>
            <a:endParaRPr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22732938"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(TO BE )</a:t>
            </a:r>
          </a:p>
        </p:txBody>
      </p:sp>
      <p:sp>
        <p:nvSpPr>
          <p:cNvPr id="1709295618" name="Content Placeholder 2"/>
          <p:cNvSpPr>
            <a:spLocks noGrp="1"/>
          </p:cNvSpPr>
          <p:nvPr>
            <p:ph idx="1"/>
          </p:nvPr>
        </p:nvSpPr>
        <p:spPr bwMode="auto">
          <a:xfrm>
            <a:off x="838904" y="1353256"/>
            <a:ext cx="10972800" cy="4525961"/>
          </a:xfrm>
        </p:spPr>
        <p:txBody>
          <a:bodyPr vertOverflow="overflow" horzOverflow="overflow" vert="horz" wrap="square" lIns="91440" tIns="45720" rIns="91440" bIns="45720" numCol="1" spcCol="0" rtlCol="0" fromWordArt="0" anchor="t" anchorCtr="0" forceAA="0" compatLnSpc="0">
            <a:normAutofit/>
          </a:bodyPr>
          <a:lstStyle/>
          <a:p>
            <a:pPr marL="0" indent="0">
              <a:buFont typeface="Arial"/>
              <a:buNone/>
              <a:defRPr/>
            </a:pPr>
            <a:r>
              <a:rPr lang="en-US" sz="2200" b="1" i="0" u="none" strike="noStrike" cap="none" spc="0" dirty="0">
                <a:solidFill>
                  <a:schemeClr val="bg1"/>
                </a:solidFill>
                <a:latin typeface="Calibri"/>
                <a:ea typeface="Calibri"/>
                <a:cs typeface="Calibri"/>
              </a:rPr>
              <a:t>4. Finance Officer → Initiate Disbursement (Maker) Finance Officer sees</a:t>
            </a:r>
            <a:endParaRPr lang="en-US" sz="2200" b="1" i="0" u="none" strike="noStrike" cap="none" spc="0" dirty="0">
              <a:solidFill>
                <a:schemeClr val="bg1"/>
              </a:solidFill>
              <a:latin typeface="Calibri"/>
              <a:cs typeface="Calibri"/>
            </a:endParaRPr>
          </a:p>
          <a:p>
            <a:pPr>
              <a:defRPr/>
            </a:pPr>
            <a:r>
              <a:rPr lang="en-US" sz="2200" b="1" i="0" u="none" strike="noStrike" cap="none" spc="0" dirty="0">
                <a:solidFill>
                  <a:schemeClr val="bg1"/>
                </a:solidFill>
                <a:latin typeface="Calibri"/>
                <a:ea typeface="Calibri"/>
                <a:cs typeface="Calibri"/>
              </a:rPr>
              <a:t>approved/recommended loans → selects loan → enters disbursement details (amount, method, date, account) → uploads proof/voucher → submits request → system sets status to</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“Disbursement Pending Approval” → notifies Finance Manager.</a:t>
            </a:r>
          </a:p>
          <a:p>
            <a:pPr marL="0" marR="0" indent="0" algn="l">
              <a:lnSpc>
                <a:spcPct val="100000"/>
              </a:lnSpc>
              <a:spcBef>
                <a:spcPts val="0"/>
              </a:spcBef>
              <a:spcAft>
                <a:spcPts val="0"/>
              </a:spcAft>
              <a:buFont typeface="Arial"/>
              <a:buNone/>
              <a:defRPr/>
            </a:pPr>
            <a:endParaRPr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1785271"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(TO BE )</a:t>
            </a:r>
          </a:p>
        </p:txBody>
      </p:sp>
      <p:sp>
        <p:nvSpPr>
          <p:cNvPr id="335495261" name="Content Placeholder 2"/>
          <p:cNvSpPr>
            <a:spLocks noGrp="1"/>
          </p:cNvSpPr>
          <p:nvPr>
            <p:ph idx="1"/>
          </p:nvPr>
        </p:nvSpPr>
        <p:spPr bwMode="auto">
          <a:xfrm>
            <a:off x="838904" y="1353256"/>
            <a:ext cx="10972800" cy="4525961"/>
          </a:xfrm>
        </p:spPr>
        <p:txBody>
          <a:bodyPr vertOverflow="overflow" horzOverflow="overflow" vert="horz" wrap="square" lIns="91440" tIns="45720" rIns="91440" bIns="45720" numCol="1" spcCol="0" rtlCol="0" fromWordArt="0" anchor="t" anchorCtr="0" forceAA="0" compatLnSpc="0">
            <a:normAutofit/>
          </a:bodyPr>
          <a:lstStyle/>
          <a:p>
            <a:pPr marL="0" indent="0">
              <a:buFont typeface="Arial"/>
              <a:buNone/>
              <a:defRPr/>
            </a:pPr>
            <a:r>
              <a:rPr lang="en-US" sz="2200" b="1" i="0" u="none" strike="noStrike" cap="none" spc="0" dirty="0">
                <a:solidFill>
                  <a:schemeClr val="bg1"/>
                </a:solidFill>
                <a:latin typeface="Calibri"/>
                <a:ea typeface="Calibri"/>
                <a:cs typeface="Calibri"/>
              </a:rPr>
              <a:t>5. ​Finance Manager → Approve Disbursement (Checker) Finance Manager receives notification</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 reviews pending request + proof + compliance → decides:</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Approve → triggers fund release (M-Pesa/bank) → status = “Disbursed” → repayment schedule</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starts → notifies all parties</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Reject → adds reason → status reverts to “Approved/Recommended” → notifies Finance Officer</a:t>
            </a:r>
            <a:endParaRPr lang="en-US" sz="2200" b="1" i="0" u="none" strike="noStrike" cap="none" spc="0" dirty="0">
              <a:solidFill>
                <a:schemeClr val="bg1"/>
              </a:solidFill>
              <a:latin typeface="Calibri"/>
              <a:cs typeface="Calibri"/>
            </a:endParaRPr>
          </a:p>
          <a:p>
            <a:pPr marL="0" indent="0">
              <a:buFont typeface="Arial"/>
              <a:buNone/>
              <a:defRPr/>
            </a:pPr>
            <a:endParaRPr lang="en-US" sz="2200" b="1" i="0" u="none" strike="noStrike" cap="none" spc="0" dirty="0">
              <a:solidFill>
                <a:schemeClr val="bg1"/>
              </a:solidFill>
              <a:latin typeface="Calibri"/>
              <a:ea typeface="Calibri"/>
              <a:cs typeface="Calibri"/>
            </a:endParaRPr>
          </a:p>
          <a:p>
            <a:pPr marL="0" marR="0" indent="0" algn="l">
              <a:lnSpc>
                <a:spcPct val="100000"/>
              </a:lnSpc>
              <a:spcBef>
                <a:spcPts val="0"/>
              </a:spcBef>
              <a:spcAft>
                <a:spcPts val="0"/>
              </a:spcAft>
              <a:buFont typeface="Arial"/>
              <a:buNone/>
              <a:defRPr/>
            </a:pPr>
            <a:endParaRPr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4365507"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(TO BE )</a:t>
            </a:r>
          </a:p>
        </p:txBody>
      </p:sp>
      <p:sp>
        <p:nvSpPr>
          <p:cNvPr id="486657598" name="Content Placeholder 2"/>
          <p:cNvSpPr>
            <a:spLocks noGrp="1"/>
          </p:cNvSpPr>
          <p:nvPr>
            <p:ph idx="1"/>
          </p:nvPr>
        </p:nvSpPr>
        <p:spPr bwMode="auto">
          <a:xfrm>
            <a:off x="838904" y="1353256"/>
            <a:ext cx="10972800" cy="4525961"/>
          </a:xfrm>
        </p:spPr>
        <p:txBody>
          <a:bodyPr vertOverflow="overflow" horzOverflow="overflow" vert="horz" wrap="square" lIns="91440" tIns="45720" rIns="91440" bIns="45720" numCol="1" spcCol="0" rtlCol="0" fromWordArt="0" anchor="t" anchorCtr="0" forceAA="0" compatLnSpc="0">
            <a:normAutofit/>
          </a:bodyPr>
          <a:lstStyle/>
          <a:p>
            <a:pPr marL="0" indent="0">
              <a:buFont typeface="Arial"/>
              <a:buNone/>
              <a:defRPr/>
            </a:pPr>
            <a:r>
              <a:rPr lang="en-US" sz="2200" b="1" i="0" u="none" strike="noStrike" cap="none" spc="0" dirty="0">
                <a:solidFill>
                  <a:schemeClr val="bg1"/>
                </a:solidFill>
                <a:latin typeface="Calibri"/>
                <a:ea typeface="Calibri"/>
                <a:cs typeface="Calibri"/>
              </a:rPr>
              <a:t>6.​ Collection Officer → Collect Repayment </a:t>
            </a:r>
          </a:p>
          <a:p>
            <a:pPr marL="0" indent="0">
              <a:buFont typeface="Arial"/>
              <a:buNone/>
              <a:defRPr/>
            </a:pPr>
            <a:r>
              <a:rPr lang="en-US" sz="2200" b="1" i="0" u="none" strike="noStrike" cap="none" spc="0" dirty="0">
                <a:solidFill>
                  <a:schemeClr val="bg1"/>
                </a:solidFill>
                <a:latin typeface="Calibri"/>
                <a:ea typeface="Calibri"/>
                <a:cs typeface="Calibri"/>
              </a:rPr>
              <a:t>Collection Officer views assigned loans &amp; repayment</a:t>
            </a:r>
            <a:endParaRPr lang="en-US" sz="2200" b="1" i="0" u="none" strike="noStrike" cap="none" spc="0" dirty="0">
              <a:solidFill>
                <a:schemeClr val="bg1"/>
              </a:solidFill>
              <a:latin typeface="Calibri"/>
              <a:cs typeface="Calibri"/>
            </a:endParaRPr>
          </a:p>
          <a:p>
            <a:pPr>
              <a:defRPr/>
            </a:pPr>
            <a:r>
              <a:rPr lang="en-US" sz="2200" b="1" i="0" u="none" strike="noStrike" cap="none" spc="0" dirty="0">
                <a:solidFill>
                  <a:schemeClr val="bg1"/>
                </a:solidFill>
                <a:latin typeface="Calibri"/>
                <a:ea typeface="Calibri"/>
                <a:cs typeface="Calibri"/>
              </a:rPr>
              <a:t>schedule → sees </a:t>
            </a:r>
            <a:r>
              <a:rPr lang="en-US" sz="2200" b="1" i="0" u="none" strike="noStrike" cap="none" spc="0" dirty="0" err="1">
                <a:solidFill>
                  <a:schemeClr val="bg1"/>
                </a:solidFill>
                <a:latin typeface="Calibri"/>
                <a:ea typeface="Calibri"/>
                <a:cs typeface="Calibri"/>
              </a:rPr>
              <a:t>overdues</a:t>
            </a:r>
            <a:r>
              <a:rPr lang="en-US" sz="2200" b="1" i="0" u="none" strike="noStrike" cap="none" spc="0" dirty="0">
                <a:solidFill>
                  <a:schemeClr val="bg1"/>
                </a:solidFill>
                <a:latin typeface="Calibri"/>
                <a:ea typeface="Calibri"/>
                <a:cs typeface="Calibri"/>
              </a:rPr>
              <a:t>/upcoming → customer makes payment → officer records payment</a:t>
            </a:r>
            <a:endParaRPr lang="en-US" sz="2200" b="1" i="0" u="none" strike="noStrike" cap="none" spc="0" dirty="0">
              <a:solidFill>
                <a:schemeClr val="bg1"/>
              </a:solidFill>
              <a:latin typeface="Calibri"/>
              <a:cs typeface="Calibri"/>
            </a:endParaRPr>
          </a:p>
          <a:p>
            <a:pPr>
              <a:defRPr/>
            </a:pPr>
            <a:r>
              <a:rPr lang="en-US" sz="2200" b="1" i="0" u="none" strike="noStrike" cap="none" spc="0" dirty="0">
                <a:solidFill>
                  <a:schemeClr val="bg1"/>
                </a:solidFill>
                <a:latin typeface="Calibri"/>
                <a:ea typeface="Calibri"/>
                <a:cs typeface="Calibri"/>
              </a:rPr>
              <a:t>(amount, date, method) → (optional: uploads proof) → system updates balance &amp; next due date</a:t>
            </a:r>
            <a:endParaRPr lang="en-US" sz="2200" b="1" i="0" u="none" strike="noStrike" cap="none" spc="0" dirty="0">
              <a:solidFill>
                <a:schemeClr val="bg1"/>
              </a:solidFill>
              <a:latin typeface="Calibri"/>
              <a:cs typeface="Calibri"/>
            </a:endParaRPr>
          </a:p>
          <a:p>
            <a:pPr marL="0" indent="0">
              <a:buFont typeface="Arial"/>
              <a:buNone/>
              <a:defRPr/>
            </a:pPr>
            <a:endParaRPr lang="en-US" sz="2200" b="1" i="0" u="none" strike="noStrike" cap="none" spc="0" dirty="0">
              <a:solidFill>
                <a:schemeClr val="bg1"/>
              </a:solidFill>
              <a:latin typeface="Calibri"/>
              <a:cs typeface="Calibri"/>
            </a:endParaRPr>
          </a:p>
          <a:p>
            <a:pPr marL="0" indent="0">
              <a:buFont typeface="Arial"/>
              <a:buNone/>
              <a:defRPr/>
            </a:pPr>
            <a:endParaRPr lang="en-US" sz="2200" b="1" i="0" u="none" strike="noStrike" cap="none" spc="0" dirty="0">
              <a:solidFill>
                <a:schemeClr val="bg1"/>
              </a:solidFill>
              <a:latin typeface="Calibri"/>
              <a:ea typeface="Calibri"/>
              <a:cs typeface="Calibri"/>
            </a:endParaRPr>
          </a:p>
          <a:p>
            <a:pPr marL="0" marR="0" indent="0" algn="l">
              <a:lnSpc>
                <a:spcPct val="100000"/>
              </a:lnSpc>
              <a:spcBef>
                <a:spcPts val="0"/>
              </a:spcBef>
              <a:spcAft>
                <a:spcPts val="0"/>
              </a:spcAft>
              <a:buFont typeface="Arial"/>
              <a:buNone/>
              <a:defRPr/>
            </a:pPr>
            <a:endParaRPr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1945481" name="Title 1"/>
          <p:cNvSpPr>
            <a:spLocks noGrp="1"/>
          </p:cNvSpPr>
          <p:nvPr>
            <p:ph type="title"/>
          </p:nvPr>
        </p:nvSpPr>
        <p:spPr bwMode="auto"/>
        <p:txBody>
          <a:bodyPr vertOverflow="overflow" horzOverflow="overflow" vert="horz" wrap="square" lIns="91440" tIns="45720" rIns="91440" bIns="45720" numCol="1" spcCol="0" rtlCol="0" fromWordArt="0" anchor="ctr" anchorCtr="0" forceAA="0" compatLnSpc="0">
            <a:normAutofit/>
          </a:bodyPr>
          <a:lstStyle/>
          <a:p>
            <a:pPr>
              <a:defRPr/>
            </a:pPr>
            <a:r>
              <a:rPr lang="en-US" sz="2200" b="1" i="0" u="none" strike="noStrike" cap="none" spc="0" dirty="0">
                <a:solidFill>
                  <a:schemeClr val="bg1"/>
                </a:solidFill>
                <a:latin typeface="Calibri"/>
                <a:ea typeface="Calibri"/>
                <a:cs typeface="Calibri"/>
              </a:rPr>
              <a:t>KUZA SPECIAL GROUP/WAFANYAKAZI </a:t>
            </a:r>
            <a:br>
              <a:rPr lang="en-US" sz="2200" b="1" i="0" u="none" strike="noStrike" cap="none" spc="0" dirty="0">
                <a:solidFill>
                  <a:schemeClr val="bg1"/>
                </a:solidFill>
                <a:latin typeface="Calibri"/>
                <a:ea typeface="Calibri"/>
                <a:cs typeface="Calibri"/>
              </a:rPr>
            </a:br>
            <a:r>
              <a:rPr lang="en-US" sz="2200" b="1" i="0" u="none" strike="noStrike" cap="none" spc="0" dirty="0">
                <a:solidFill>
                  <a:schemeClr val="bg1"/>
                </a:solidFill>
                <a:latin typeface="Calibri"/>
                <a:ea typeface="Calibri"/>
                <a:cs typeface="Calibri"/>
              </a:rPr>
              <a:t>(TO BE )</a:t>
            </a:r>
          </a:p>
        </p:txBody>
      </p:sp>
      <p:sp>
        <p:nvSpPr>
          <p:cNvPr id="1196888973" name="Content Placeholder 2"/>
          <p:cNvSpPr>
            <a:spLocks noGrp="1"/>
          </p:cNvSpPr>
          <p:nvPr>
            <p:ph idx="1"/>
          </p:nvPr>
        </p:nvSpPr>
        <p:spPr bwMode="auto">
          <a:xfrm>
            <a:off x="354583" y="1353256"/>
            <a:ext cx="11457120" cy="4525961"/>
          </a:xfrm>
        </p:spPr>
        <p:txBody>
          <a:bodyPr vertOverflow="overflow" horzOverflow="overflow" vert="horz" wrap="square" lIns="91440" tIns="45720" rIns="91440" bIns="45720" numCol="1" spcCol="0" rtlCol="0" fromWordArt="0" anchor="t" anchorCtr="0" forceAA="0" compatLnSpc="0">
            <a:normAutofit/>
          </a:bodyPr>
          <a:lstStyle/>
          <a:p>
            <a:pPr marL="0" indent="0">
              <a:buFont typeface="Arial"/>
              <a:buNone/>
              <a:defRPr/>
            </a:pPr>
            <a:r>
              <a:rPr lang="en-US" sz="2200" b="1" i="0" u="none" strike="noStrike" cap="none" spc="0" dirty="0">
                <a:solidFill>
                  <a:schemeClr val="bg1"/>
                </a:solidFill>
                <a:latin typeface="Calibri"/>
                <a:ea typeface="Calibri"/>
                <a:cs typeface="Calibri"/>
              </a:rPr>
              <a:t>7.​ Super Admin → Manage Users &amp; System</a:t>
            </a:r>
          </a:p>
          <a:p>
            <a:pPr marL="0" indent="0">
              <a:buFont typeface="Arial"/>
              <a:buNone/>
              <a:defRPr/>
            </a:pPr>
            <a:r>
              <a:rPr lang="en-US" sz="2200" b="1" i="0" u="none" strike="noStrike" cap="none" spc="0" dirty="0">
                <a:solidFill>
                  <a:schemeClr val="bg1"/>
                </a:solidFill>
                <a:latin typeface="Calibri"/>
                <a:ea typeface="Calibri"/>
                <a:cs typeface="Calibri"/>
              </a:rPr>
              <a:t> Super Admin logs in → accesses admin dashboard → performs:</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 User management (create/edit/suspend users, reset passwords)</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 Role &amp; permission configuration</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 Loan product setup (rates, limits, terms)</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 Global settings (penalties, fees, with no grace periods)</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 View logs, reports, system health</a:t>
            </a:r>
            <a:endParaRPr lang="en-US" sz="2200" b="1" i="0" u="none" strike="noStrike" cap="none" spc="0" dirty="0">
              <a:solidFill>
                <a:schemeClr val="bg1"/>
              </a:solidFill>
              <a:latin typeface="Calibri"/>
              <a:cs typeface="Calibri"/>
            </a:endParaRPr>
          </a:p>
          <a:p>
            <a:pPr marL="0" indent="0">
              <a:buFont typeface="Arial"/>
              <a:buNone/>
              <a:defRPr/>
            </a:pPr>
            <a:r>
              <a:rPr lang="en-US" sz="2200" b="1" i="0" u="none" strike="noStrike" cap="none" spc="0" dirty="0">
                <a:solidFill>
                  <a:schemeClr val="bg1"/>
                </a:solidFill>
                <a:latin typeface="Calibri"/>
                <a:ea typeface="Calibri"/>
                <a:cs typeface="Calibri"/>
              </a:rPr>
              <a:t>     ●​ (Rare) Override loan/disbursement decisions with justification &amp; audit trail  next due date</a:t>
            </a:r>
          </a:p>
          <a:p>
            <a:pPr marL="0" indent="0">
              <a:buFont typeface="Arial"/>
              <a:buNone/>
              <a:defRPr/>
            </a:pPr>
            <a:endParaRPr lang="en-US" sz="2200" b="1" i="0" u="none" strike="noStrike" cap="none" spc="0" dirty="0">
              <a:solidFill>
                <a:schemeClr val="bg1"/>
              </a:solidFill>
              <a:latin typeface="Calibri"/>
              <a:cs typeface="Calibri"/>
            </a:endParaRPr>
          </a:p>
          <a:p>
            <a:pPr marL="0" indent="0">
              <a:buFont typeface="Arial"/>
              <a:buNone/>
              <a:defRPr/>
            </a:pPr>
            <a:endParaRPr lang="en-US" sz="2200" b="1" i="0" u="none" strike="noStrike" cap="none" spc="0" dirty="0">
              <a:solidFill>
                <a:schemeClr val="bg1"/>
              </a:solidFill>
              <a:latin typeface="Calibri"/>
              <a:ea typeface="Calibri"/>
              <a:cs typeface="Calibri"/>
            </a:endParaRPr>
          </a:p>
          <a:p>
            <a:pPr marL="0" marR="0" indent="0" algn="l">
              <a:lnSpc>
                <a:spcPct val="100000"/>
              </a:lnSpc>
              <a:spcBef>
                <a:spcPts val="0"/>
              </a:spcBef>
              <a:spcAft>
                <a:spcPts val="0"/>
              </a:spcAft>
              <a:buFont typeface="Arial"/>
              <a:buNone/>
              <a:defRPr/>
            </a:pPr>
            <a:endParaRPr sz="2200" b="1" i="0" u="none" strike="noStrike" cap="none" spc="0" dirty="0">
              <a:solidFill>
                <a:schemeClr val="bg1"/>
              </a:solidFill>
              <a:latin typeface="Calibri"/>
              <a:cs typeface="Calibr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4" name="Picture 3">
            <a:extLst>
              <a:ext uri="{FF2B5EF4-FFF2-40B4-BE49-F238E27FC236}">
                <a16:creationId xmlns:a16="http://schemas.microsoft.com/office/drawing/2014/main" id="{1B98A44C-F8CB-6E40-5B8B-FA23E6853F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split orient="vert" dir="in"/>
      </p:transition>
    </mc:Choice>
    <mc:Fallback xmlns:w="http://schemas.openxmlformats.org/wordprocessingml/2006/main" xmlns:m="http://schemas.openxmlformats.org/officeDocument/2006/math" xmlns="">
      <p:transition spd="slow" advClick="1">
        <p:split orient="vert" dir="in"/>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lassic 2">
      <a:majorFont>
        <a:latin typeface="Arial"/>
        <a:ea typeface="Arial"/>
        <a:cs typeface="Arial"/>
      </a:majorFont>
      <a:minorFont>
        <a:latin typeface="Arial"/>
        <a:ea typeface="Arial"/>
        <a:cs typeface="Arial"/>
      </a:minorFont>
    </a:fontScheme>
    <a:fmtScheme name="Standard">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299</TotalTime>
  <Words>2994</Words>
  <Application>Microsoft Office PowerPoint</Application>
  <PresentationFormat>Widescreen</PresentationFormat>
  <Paragraphs>521</Paragraphs>
  <Slides>36</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Montserrat</vt:lpstr>
      <vt:lpstr>Times New Roman</vt:lpstr>
      <vt:lpstr>Wingdings</vt:lpstr>
      <vt:lpstr>Office</vt:lpstr>
      <vt:lpstr>KUZA CAPITAL FINANCE</vt:lpstr>
      <vt:lpstr>KUZA BIASHARA PRODUCTS</vt:lpstr>
      <vt:lpstr>OVERVIEW OF KUZA BODA SYSTEM</vt:lpstr>
      <vt:lpstr>KUZA BODA ( AS IS VS TO BE)</vt:lpstr>
      <vt:lpstr>PowerPoint Presentation</vt:lpstr>
      <vt:lpstr>PowerPoint Presentation</vt:lpstr>
      <vt:lpstr>A.ONBOARDING PROCESS</vt:lpstr>
      <vt:lpstr>B.REGISTRATION &amp; ACTIVATION PROCESS </vt:lpstr>
      <vt:lpstr>C. LOAN REQUEST &amp; DISBURSEMENT</vt:lpstr>
      <vt:lpstr>C. LOAN REQUEST &amp; DISBURSEMENT</vt:lpstr>
      <vt:lpstr>D. REPAYMENT PROCESS</vt:lpstr>
      <vt:lpstr>E.COLLECTION &amp; ESCALATION </vt:lpstr>
      <vt:lpstr> OVERVIEW OF KUZA SOKONI SYSTEM </vt:lpstr>
      <vt:lpstr>  OVERVIEW OF KUZA SOKONI SYSTEM  </vt:lpstr>
      <vt:lpstr>KUZA SOKONI – LOAN PROCESS FLOW (TO BE)</vt:lpstr>
      <vt:lpstr>1.Sales Agent Loan Submission(To Be)</vt:lpstr>
      <vt:lpstr>2.Entity Leader Review Process(To Be)</vt:lpstr>
      <vt:lpstr>3.Finance Officer Disbursement Initiation(To Be)</vt:lpstr>
      <vt:lpstr>4: Finance Manager Approval (Checker) (To be)</vt:lpstr>
      <vt:lpstr>5: Collection Officer Repayment(To Be)</vt:lpstr>
      <vt:lpstr>6: Super Admin Management(To be)</vt:lpstr>
      <vt:lpstr> Reporting &amp; Analytics( To be) </vt:lpstr>
      <vt:lpstr>KUZA SIMU  </vt:lpstr>
      <vt:lpstr> OVERVIEW OF KUZA SIMU SYSTEM  </vt:lpstr>
      <vt:lpstr>KUZA SIMU ( TO BE)</vt:lpstr>
      <vt:lpstr> KUZA SPECIAL GROUP/WAFANYAKAZI  </vt:lpstr>
      <vt:lpstr>KUZA SPECIAL GROUP/WAFANYAKAZI </vt:lpstr>
      <vt:lpstr>KUZA SPECIAL GROUP/WAFANYAKAZI  (AS IS)</vt:lpstr>
      <vt:lpstr>KUZA SPECIAL GROUP/WAFANYAKAZI  (TO BE )</vt:lpstr>
      <vt:lpstr>KUZA SPECIAL GROUP/WAFANYAKAZI  (TO BE )</vt:lpstr>
      <vt:lpstr>KUZA SPECIAL GROUP/WAFANYAKAZI  (TO BE )</vt:lpstr>
      <vt:lpstr>KUZA SPECIAL GROUP/WAFANYAKAZI  (TO BE )</vt:lpstr>
      <vt:lpstr>KUZA SPECIAL GROUP/WAFANYAKAZI  (TO BE )</vt:lpstr>
      <vt:lpstr>KUZA SPECIAL GROUP/WAFANYAKAZI  (TO BE )</vt:lpstr>
      <vt:lpstr>KUZA SPECIAL GROUP/WAFANYAKAZI  (TO BE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william kotta</cp:lastModifiedBy>
  <cp:revision>49</cp:revision>
  <dcterms:created xsi:type="dcterms:W3CDTF">2026-03-03T05:30:29Z</dcterms:created>
  <dcterms:modified xsi:type="dcterms:W3CDTF">2026-03-04T10:07:14Z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C738DC7FCAA29C55F471A669FD5B64C9_43</vt:lpwstr>
  </property>
  <property fmtid="{D5CDD505-2E9C-101B-9397-08002B2CF9AE}" pid="3" name="KSOProductBuildVer">
    <vt:lpwstr>1033-12.1.23155.23155</vt:lpwstr>
  </property>
</Properties>
</file>